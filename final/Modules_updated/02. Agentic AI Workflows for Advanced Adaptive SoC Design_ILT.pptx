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tags/tag8.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tags/tag10.xml" ContentType="application/vnd.openxmlformats-officedocument.presentationml.tags+xml"/>
  <Override PartName="/ppt/notesSlides/notesSlide12.xml" ContentType="application/vnd.openxmlformats-officedocument.presentationml.notesSlide+xml"/>
  <Override PartName="/ppt/tags/tag11.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12"/>
  </p:sldMasterIdLst>
  <p:notesMasterIdLst>
    <p:notesMasterId r:id="rId30"/>
  </p:notesMasterIdLst>
  <p:handoutMasterIdLst>
    <p:handoutMasterId r:id="rId31"/>
  </p:handoutMasterIdLst>
  <p:sldIdLst>
    <p:sldId id="2147483466" r:id="rId13"/>
    <p:sldId id="2147483477" r:id="rId14"/>
    <p:sldId id="2147483518" r:id="rId15"/>
    <p:sldId id="2147483484" r:id="rId16"/>
    <p:sldId id="2147483485" r:id="rId17"/>
    <p:sldId id="2147483486" r:id="rId18"/>
    <p:sldId id="2147483268" r:id="rId19"/>
    <p:sldId id="2147483519" r:id="rId20"/>
    <p:sldId id="2147483520" r:id="rId21"/>
    <p:sldId id="2147483521" r:id="rId22"/>
    <p:sldId id="2147483488" r:id="rId23"/>
    <p:sldId id="2147483272" r:id="rId24"/>
    <p:sldId id="2147483273" r:id="rId25"/>
    <p:sldId id="2147483475" r:id="rId26"/>
    <p:sldId id="2147483517" r:id="rId27"/>
    <p:sldId id="2147482507" r:id="rId28"/>
    <p:sldId id="283" r:id="rId29"/>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955B04-B01F-550B-AFE5-F152E2E8130C}" name="Govindaraju, Senthil Murugan" initials="SG" userId="S::senthilm@amd.com::616b5223-6f1d-4875-88ed-77190a5a5f0d" providerId="AD"/>
  <p188:author id="{653A0A05-031A-F237-F4F1-9157F79BBDD1}" name="Spofford, Michael" initials="MS" userId="S::spofford@amd.com::e3e162e2-97ce-4220-ad74-fe98a357a2fc" providerId="AD"/>
  <p188:author id="{A92A7008-18F5-0EF9-A9F1-D5574D1ABDEE}" name="Yocca, Pam" initials="PY" userId="S::pamy@amd.com::92f811c7-3c19-49f9-af51-bf4de4e5a4d9" providerId="AD"/>
  <p188:author id="{E170CA22-FADE-84B0-8B36-C989B720B976}" name="Arndt, Chris" initials="CA" userId="S::chrisar@amd.com::c11dfa5b-2412-47ab-b36b-6bcac761bbe6" providerId="AD"/>
  <p188:author id="{FBB09032-BE3D-AF92-8B49-290F6D8FD110}" name="Hutchison, Michael" initials="HM" userId="S::mhutchis@amd.com::2c614f07-7398-450e-9e71-75bccc462926" providerId="AD"/>
  <p188:author id="{4EF5E655-574C-6CFD-4F8E-7D08B629BB3C}" name="Yang, Faye" initials="FY" userId="S::faye@amd.com::7764ac8f-0a9a-4a69-b5af-e6667ba90ce6" providerId="AD"/>
  <p188:author id="{2F3EB45F-74E8-A143-6342-F70E6D16D61C}" name="Konopinski, Mike" initials="" userId="S::mkono@amd.com::3f5892c2-3a40-4483-9ebf-11b06f60b906" providerId="AD"/>
  <p188:author id="{53A0EC72-AB3E-A814-28EF-BCCB1E88F5E7}" name="Pasha, Sabia" initials="SP" userId="S::sabpasha@amd.com::c9515be7-7b37-48b0-8f09-41a8d8176a06" providerId="AD"/>
  <p188:author id="{C1EFD589-6FC0-F231-C529-E85775BE28ED}" name="DeMarco, Deanna" initials="DD" userId="S::demarco@amd.com::d996034d-495b-41a4-a946-b19fd7b398bd" providerId="AD"/>
  <p188:author id="{B742C796-78E5-118C-7238-4C9305707D37}" name="Nellikotte, Vishnu Priya" initials="VN" userId="S::vnelliko@amd.com::fea496c0-936e-45ef-943d-e2861ddcc4ed" providerId="AD"/>
  <p188:author id="{24AF02A0-CD24-1546-48FC-B040402F063A}" name="Pocklassery, Goutham" initials="GP" userId="S::gpocklas@amd.com::8e026356-f9c3-4779-94cb-c3718a72c931" providerId="AD"/>
  <p188:author id="{EE4FDEAF-B594-CF70-0D30-61300B84912A}" name="Tam, Allen" initials="AT" userId="S::allent@amd.com::f5086c44-cd85-41cc-8977-4d12bf3a8542" providerId="AD"/>
  <p188:author id="{3C6307D3-C201-950F-C11A-1AE24DBA3984}" name="Saban, Kirk" initials="KS" userId="S::kirks@amd.com::168c0190-25fc-4c65-84f5-e17217639e20" providerId="AD"/>
  <p188:author id="{6F61D2DB-B2C2-478C-F471-DD28520AC912}" name="Bhat, Omkar" initials="OB" userId="S::obhat@amd.com::5dfbe165-909e-4f44-b6ad-f16e72fe1d65" providerId="AD"/>
  <p188:author id="{D4AFE3E4-9D74-6FEE-4FA1-802F68B22C3A}" name="George, Bill" initials="BG" userId="S::bgeorge@amd.com::d1515dd9-a661-4433-a314-daf0600610dc" providerId="AD"/>
  <p188:author id="{63A198F7-376A-4856-C525-2A6CA537878D}" name="Barry, Jennifer" initials="BJ" userId="S::jbarry@amd.com::5cb4c8e2-f4c8-4ba0-825b-13f7556e1cda" providerId="AD"/>
  <p188:author id="{1B46B9FA-36DF-FC1E-F0D2-03CB4372C1E2}" name="Mohsen, Ehab" initials="ME" userId="S::ehabm@amd.com::3af24d38-dd52-49c5-bf6a-434274b8d93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04040"/>
    <a:srgbClr val="D9D9D9"/>
    <a:srgbClr val="A6A6A6"/>
    <a:srgbClr val="262626"/>
    <a:srgbClr val="595959"/>
    <a:srgbClr val="8D8C95"/>
    <a:srgbClr val="000000"/>
    <a:srgbClr val="131313"/>
    <a:srgbClr val="242428"/>
    <a:srgbClr val="1918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C5F13C-FAE5-44FC-8D90-01AAEF23B536}" v="1" dt="2026-06-26T11:02:57.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1509" autoAdjust="0"/>
  </p:normalViewPr>
  <p:slideViewPr>
    <p:cSldViewPr snapToGrid="0">
      <p:cViewPr varScale="1">
        <p:scale>
          <a:sx n="23" d="100"/>
          <a:sy n="23" d="100"/>
        </p:scale>
        <p:origin x="2300" y="24"/>
      </p:cViewPr>
      <p:guideLst/>
    </p:cSldViewPr>
  </p:slideViewPr>
  <p:notesTextViewPr>
    <p:cViewPr>
      <p:scale>
        <a:sx n="100" d="100"/>
        <a:sy n="100" d="100"/>
      </p:scale>
      <p:origin x="0" y="0"/>
    </p:cViewPr>
  </p:notesTextViewPr>
  <p:notesViewPr>
    <p:cSldViewPr snapToGrid="0">
      <p:cViewPr>
        <p:scale>
          <a:sx n="1" d="2"/>
          <a:sy n="1" d="2"/>
        </p:scale>
        <p:origin x="3804" y="95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microsoft.com/office/2018/10/relationships/authors" Target="authors.xml"/><Relationship Id="rId21" Type="http://schemas.openxmlformats.org/officeDocument/2006/relationships/slide" Target="slides/slide9.xml"/><Relationship Id="rId34" Type="http://schemas.openxmlformats.org/officeDocument/2006/relationships/viewProps" Target="viewProps.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12.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tableStyles" Target="tableStyles.xml"/><Relationship Id="rId10" Type="http://schemas.openxmlformats.org/officeDocument/2006/relationships/customXml" Target="../customXml/item10.xml"/><Relationship Id="rId19" Type="http://schemas.openxmlformats.org/officeDocument/2006/relationships/slide" Target="slides/slide7.xml"/><Relationship Id="rId31"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customXml" Target="../customXml/item8.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sha, Sabia" userId="c9515be7-7b37-48b0-8f09-41a8d8176a06" providerId="ADAL" clId="{E9A20A95-56D3-4269-B156-6DC5F7D91E6D}"/>
    <pc:docChg chg="undo custSel modSld">
      <pc:chgData name="Pasha, Sabia" userId="c9515be7-7b37-48b0-8f09-41a8d8176a06" providerId="ADAL" clId="{E9A20A95-56D3-4269-B156-6DC5F7D91E6D}" dt="2026-06-26T11:07:57.140" v="59" actId="20577"/>
      <pc:docMkLst>
        <pc:docMk/>
      </pc:docMkLst>
      <pc:sldChg chg="modSp mod">
        <pc:chgData name="Pasha, Sabia" userId="c9515be7-7b37-48b0-8f09-41a8d8176a06" providerId="ADAL" clId="{E9A20A95-56D3-4269-B156-6DC5F7D91E6D}" dt="2026-06-26T11:06:49.133" v="55" actId="20577"/>
        <pc:sldMkLst>
          <pc:docMk/>
          <pc:sldMk cId="2500811241" sldId="2147482507"/>
        </pc:sldMkLst>
        <pc:spChg chg="mod">
          <ac:chgData name="Pasha, Sabia" userId="c9515be7-7b37-48b0-8f09-41a8d8176a06" providerId="ADAL" clId="{E9A20A95-56D3-4269-B156-6DC5F7D91E6D}" dt="2026-06-26T11:06:49.133" v="55" actId="20577"/>
          <ac:spMkLst>
            <pc:docMk/>
            <pc:sldMk cId="2500811241" sldId="2147482507"/>
            <ac:spMk id="3" creationId="{9D1E77A6-1AD4-DAC6-AD9E-E08DD3D8647E}"/>
          </ac:spMkLst>
        </pc:spChg>
      </pc:sldChg>
      <pc:sldChg chg="modSp mod">
        <pc:chgData name="Pasha, Sabia" userId="c9515be7-7b37-48b0-8f09-41a8d8176a06" providerId="ADAL" clId="{E9A20A95-56D3-4269-B156-6DC5F7D91E6D}" dt="2026-06-26T11:04:09.958" v="27" actId="13926"/>
        <pc:sldMkLst>
          <pc:docMk/>
          <pc:sldMk cId="4276552255" sldId="2147483268"/>
        </pc:sldMkLst>
        <pc:spChg chg="mod">
          <ac:chgData name="Pasha, Sabia" userId="c9515be7-7b37-48b0-8f09-41a8d8176a06" providerId="ADAL" clId="{E9A20A95-56D3-4269-B156-6DC5F7D91E6D}" dt="2026-06-26T11:04:09.958" v="27" actId="13926"/>
          <ac:spMkLst>
            <pc:docMk/>
            <pc:sldMk cId="4276552255" sldId="2147483268"/>
            <ac:spMk id="2" creationId="{5AE1A95D-F56D-230F-7401-6F1D4E9FA6C9}"/>
          </ac:spMkLst>
        </pc:spChg>
        <pc:spChg chg="mod">
          <ac:chgData name="Pasha, Sabia" userId="c9515be7-7b37-48b0-8f09-41a8d8176a06" providerId="ADAL" clId="{E9A20A95-56D3-4269-B156-6DC5F7D91E6D}" dt="2026-06-26T11:04:09.958" v="27" actId="13926"/>
          <ac:spMkLst>
            <pc:docMk/>
            <pc:sldMk cId="4276552255" sldId="2147483268"/>
            <ac:spMk id="21" creationId="{093AAAE4-7664-D716-8F47-253AF5A64917}"/>
          </ac:spMkLst>
        </pc:spChg>
        <pc:spChg chg="mod">
          <ac:chgData name="Pasha, Sabia" userId="c9515be7-7b37-48b0-8f09-41a8d8176a06" providerId="ADAL" clId="{E9A20A95-56D3-4269-B156-6DC5F7D91E6D}" dt="2026-06-26T11:04:09.958" v="27" actId="13926"/>
          <ac:spMkLst>
            <pc:docMk/>
            <pc:sldMk cId="4276552255" sldId="2147483268"/>
            <ac:spMk id="23" creationId="{14A0011C-8806-F74A-C114-2DBC92699FCB}"/>
          </ac:spMkLst>
        </pc:spChg>
        <pc:spChg chg="mod">
          <ac:chgData name="Pasha, Sabia" userId="c9515be7-7b37-48b0-8f09-41a8d8176a06" providerId="ADAL" clId="{E9A20A95-56D3-4269-B156-6DC5F7D91E6D}" dt="2026-06-26T11:04:09.958" v="27" actId="13926"/>
          <ac:spMkLst>
            <pc:docMk/>
            <pc:sldMk cId="4276552255" sldId="2147483268"/>
            <ac:spMk id="24" creationId="{A7FFBE93-B37A-B533-E80A-60B6D9969B85}"/>
          </ac:spMkLst>
        </pc:spChg>
        <pc:spChg chg="mod">
          <ac:chgData name="Pasha, Sabia" userId="c9515be7-7b37-48b0-8f09-41a8d8176a06" providerId="ADAL" clId="{E9A20A95-56D3-4269-B156-6DC5F7D91E6D}" dt="2026-06-26T11:04:09.958" v="27" actId="13926"/>
          <ac:spMkLst>
            <pc:docMk/>
            <pc:sldMk cId="4276552255" sldId="2147483268"/>
            <ac:spMk id="26" creationId="{819D30F0-0552-850D-7E67-AE86EC6F67D6}"/>
          </ac:spMkLst>
        </pc:spChg>
        <pc:spChg chg="mod">
          <ac:chgData name="Pasha, Sabia" userId="c9515be7-7b37-48b0-8f09-41a8d8176a06" providerId="ADAL" clId="{E9A20A95-56D3-4269-B156-6DC5F7D91E6D}" dt="2026-06-26T11:04:09.958" v="27" actId="13926"/>
          <ac:spMkLst>
            <pc:docMk/>
            <pc:sldMk cId="4276552255" sldId="2147483268"/>
            <ac:spMk id="27" creationId="{C4AE0D31-02F5-1B2E-E1C8-EF591FFE1E4E}"/>
          </ac:spMkLst>
        </pc:spChg>
        <pc:spChg chg="mod">
          <ac:chgData name="Pasha, Sabia" userId="c9515be7-7b37-48b0-8f09-41a8d8176a06" providerId="ADAL" clId="{E9A20A95-56D3-4269-B156-6DC5F7D91E6D}" dt="2026-06-26T11:04:09.958" v="27" actId="13926"/>
          <ac:spMkLst>
            <pc:docMk/>
            <pc:sldMk cId="4276552255" sldId="2147483268"/>
            <ac:spMk id="28" creationId="{CE700418-EA5F-293B-1B28-ECF9275D2BE0}"/>
          </ac:spMkLst>
        </pc:spChg>
        <pc:spChg chg="mod">
          <ac:chgData name="Pasha, Sabia" userId="c9515be7-7b37-48b0-8f09-41a8d8176a06" providerId="ADAL" clId="{E9A20A95-56D3-4269-B156-6DC5F7D91E6D}" dt="2026-06-26T11:04:09.958" v="27" actId="13926"/>
          <ac:spMkLst>
            <pc:docMk/>
            <pc:sldMk cId="4276552255" sldId="2147483268"/>
            <ac:spMk id="29" creationId="{7EA6EEB0-6A6E-8E0F-6A7D-420075AAD40D}"/>
          </ac:spMkLst>
        </pc:spChg>
        <pc:spChg chg="mod">
          <ac:chgData name="Pasha, Sabia" userId="c9515be7-7b37-48b0-8f09-41a8d8176a06" providerId="ADAL" clId="{E9A20A95-56D3-4269-B156-6DC5F7D91E6D}" dt="2026-06-26T11:04:09.958" v="27" actId="13926"/>
          <ac:spMkLst>
            <pc:docMk/>
            <pc:sldMk cId="4276552255" sldId="2147483268"/>
            <ac:spMk id="30" creationId="{2C365712-5F1F-18C8-2FE0-A33E2A66BEDD}"/>
          </ac:spMkLst>
        </pc:spChg>
        <pc:spChg chg="mod">
          <ac:chgData name="Pasha, Sabia" userId="c9515be7-7b37-48b0-8f09-41a8d8176a06" providerId="ADAL" clId="{E9A20A95-56D3-4269-B156-6DC5F7D91E6D}" dt="2026-06-26T11:04:09.958" v="27" actId="13926"/>
          <ac:spMkLst>
            <pc:docMk/>
            <pc:sldMk cId="4276552255" sldId="2147483268"/>
            <ac:spMk id="31" creationId="{BCCB3203-0F7F-DF43-7839-A399BDA8AC4D}"/>
          </ac:spMkLst>
        </pc:spChg>
      </pc:sldChg>
      <pc:sldChg chg="modSp mod modNotesTx">
        <pc:chgData name="Pasha, Sabia" userId="c9515be7-7b37-48b0-8f09-41a8d8176a06" providerId="ADAL" clId="{E9A20A95-56D3-4269-B156-6DC5F7D91E6D}" dt="2026-06-26T11:05:20.180" v="46" actId="13926"/>
        <pc:sldMkLst>
          <pc:docMk/>
          <pc:sldMk cId="1562140762" sldId="2147483272"/>
        </pc:sldMkLst>
        <pc:spChg chg="mod">
          <ac:chgData name="Pasha, Sabia" userId="c9515be7-7b37-48b0-8f09-41a8d8176a06" providerId="ADAL" clId="{E9A20A95-56D3-4269-B156-6DC5F7D91E6D}" dt="2026-06-26T11:05:16.614" v="45" actId="13926"/>
          <ac:spMkLst>
            <pc:docMk/>
            <pc:sldMk cId="1562140762" sldId="2147483272"/>
            <ac:spMk id="2" creationId="{D94FCD46-854F-48DC-05B1-0897738E521C}"/>
          </ac:spMkLst>
        </pc:spChg>
      </pc:sldChg>
      <pc:sldChg chg="modSp mod modNotesTx">
        <pc:chgData name="Pasha, Sabia" userId="c9515be7-7b37-48b0-8f09-41a8d8176a06" providerId="ADAL" clId="{E9A20A95-56D3-4269-B156-6DC5F7D91E6D}" dt="2026-06-26T11:05:53.189" v="49" actId="13926"/>
        <pc:sldMkLst>
          <pc:docMk/>
          <pc:sldMk cId="3328951674" sldId="2147483475"/>
        </pc:sldMkLst>
        <pc:spChg chg="mod">
          <ac:chgData name="Pasha, Sabia" userId="c9515be7-7b37-48b0-8f09-41a8d8176a06" providerId="ADAL" clId="{E9A20A95-56D3-4269-B156-6DC5F7D91E6D}" dt="2026-06-26T11:05:46.372" v="48" actId="12"/>
          <ac:spMkLst>
            <pc:docMk/>
            <pc:sldMk cId="3328951674" sldId="2147483475"/>
            <ac:spMk id="3" creationId="{285EB644-1B1D-8E6B-E3CB-C8C179BF6301}"/>
          </ac:spMkLst>
        </pc:spChg>
      </pc:sldChg>
      <pc:sldChg chg="modSp mod modNotesTx">
        <pc:chgData name="Pasha, Sabia" userId="c9515be7-7b37-48b0-8f09-41a8d8176a06" providerId="ADAL" clId="{E9A20A95-56D3-4269-B156-6DC5F7D91E6D}" dt="2026-06-26T11:07:26.717" v="56" actId="14100"/>
        <pc:sldMkLst>
          <pc:docMk/>
          <pc:sldMk cId="610901662" sldId="2147483477"/>
        </pc:sldMkLst>
        <pc:spChg chg="mod">
          <ac:chgData name="Pasha, Sabia" userId="c9515be7-7b37-48b0-8f09-41a8d8176a06" providerId="ADAL" clId="{E9A20A95-56D3-4269-B156-6DC5F7D91E6D}" dt="2026-06-26T11:02:21.152" v="0" actId="13926"/>
          <ac:spMkLst>
            <pc:docMk/>
            <pc:sldMk cId="610901662" sldId="2147483477"/>
            <ac:spMk id="5" creationId="{A7671A41-646E-24F6-B978-602771AECC8F}"/>
          </ac:spMkLst>
        </pc:spChg>
        <pc:spChg chg="mod">
          <ac:chgData name="Pasha, Sabia" userId="c9515be7-7b37-48b0-8f09-41a8d8176a06" providerId="ADAL" clId="{E9A20A95-56D3-4269-B156-6DC5F7D91E6D}" dt="2026-06-26T11:07:26.717" v="56" actId="14100"/>
          <ac:spMkLst>
            <pc:docMk/>
            <pc:sldMk cId="610901662" sldId="2147483477"/>
            <ac:spMk id="13" creationId="{E92FE0CD-5350-E495-421F-AC76E572F3F4}"/>
          </ac:spMkLst>
        </pc:spChg>
      </pc:sldChg>
      <pc:sldChg chg="addSp modSp mod modNotesTx">
        <pc:chgData name="Pasha, Sabia" userId="c9515be7-7b37-48b0-8f09-41a8d8176a06" providerId="ADAL" clId="{E9A20A95-56D3-4269-B156-6DC5F7D91E6D}" dt="2026-06-26T11:07:57.140" v="59" actId="20577"/>
        <pc:sldMkLst>
          <pc:docMk/>
          <pc:sldMk cId="1353038609" sldId="2147483484"/>
        </pc:sldMkLst>
        <pc:spChg chg="mod">
          <ac:chgData name="Pasha, Sabia" userId="c9515be7-7b37-48b0-8f09-41a8d8176a06" providerId="ADAL" clId="{E9A20A95-56D3-4269-B156-6DC5F7D91E6D}" dt="2026-06-26T11:02:40.080" v="3" actId="20577"/>
          <ac:spMkLst>
            <pc:docMk/>
            <pc:sldMk cId="1353038609" sldId="2147483484"/>
            <ac:spMk id="2" creationId="{5658C518-67C8-B61B-F6C7-A162945D4C01}"/>
          </ac:spMkLst>
        </pc:spChg>
        <pc:spChg chg="mod">
          <ac:chgData name="Pasha, Sabia" userId="c9515be7-7b37-48b0-8f09-41a8d8176a06" providerId="ADAL" clId="{E9A20A95-56D3-4269-B156-6DC5F7D91E6D}" dt="2026-06-26T11:02:57.852" v="6" actId="164"/>
          <ac:spMkLst>
            <pc:docMk/>
            <pc:sldMk cId="1353038609" sldId="2147483484"/>
            <ac:spMk id="6" creationId="{562E6BD9-FE47-21AD-5B28-2A05B1F2519B}"/>
          </ac:spMkLst>
        </pc:spChg>
        <pc:spChg chg="mod">
          <ac:chgData name="Pasha, Sabia" userId="c9515be7-7b37-48b0-8f09-41a8d8176a06" providerId="ADAL" clId="{E9A20A95-56D3-4269-B156-6DC5F7D91E6D}" dt="2026-06-26T11:02:57.852" v="6" actId="164"/>
          <ac:spMkLst>
            <pc:docMk/>
            <pc:sldMk cId="1353038609" sldId="2147483484"/>
            <ac:spMk id="9" creationId="{CD11B698-29DE-694A-41A1-19496026EF12}"/>
          </ac:spMkLst>
        </pc:spChg>
        <pc:spChg chg="mod">
          <ac:chgData name="Pasha, Sabia" userId="c9515be7-7b37-48b0-8f09-41a8d8176a06" providerId="ADAL" clId="{E9A20A95-56D3-4269-B156-6DC5F7D91E6D}" dt="2026-06-26T11:02:57.852" v="6" actId="164"/>
          <ac:spMkLst>
            <pc:docMk/>
            <pc:sldMk cId="1353038609" sldId="2147483484"/>
            <ac:spMk id="10" creationId="{08CEE6C7-AE41-5660-3F97-ADE310F03020}"/>
          </ac:spMkLst>
        </pc:spChg>
        <pc:spChg chg="mod">
          <ac:chgData name="Pasha, Sabia" userId="c9515be7-7b37-48b0-8f09-41a8d8176a06" providerId="ADAL" clId="{E9A20A95-56D3-4269-B156-6DC5F7D91E6D}" dt="2026-06-26T11:02:57.852" v="6" actId="164"/>
          <ac:spMkLst>
            <pc:docMk/>
            <pc:sldMk cId="1353038609" sldId="2147483484"/>
            <ac:spMk id="12" creationId="{16F5A882-DEAF-8CB4-51C4-F74F5239B8E8}"/>
          </ac:spMkLst>
        </pc:spChg>
        <pc:spChg chg="mod">
          <ac:chgData name="Pasha, Sabia" userId="c9515be7-7b37-48b0-8f09-41a8d8176a06" providerId="ADAL" clId="{E9A20A95-56D3-4269-B156-6DC5F7D91E6D}" dt="2026-06-26T11:02:57.852" v="6" actId="164"/>
          <ac:spMkLst>
            <pc:docMk/>
            <pc:sldMk cId="1353038609" sldId="2147483484"/>
            <ac:spMk id="18" creationId="{621539FB-2CA1-9A58-BE13-92A38FF093BD}"/>
          </ac:spMkLst>
        </pc:spChg>
        <pc:spChg chg="mod">
          <ac:chgData name="Pasha, Sabia" userId="c9515be7-7b37-48b0-8f09-41a8d8176a06" providerId="ADAL" clId="{E9A20A95-56D3-4269-B156-6DC5F7D91E6D}" dt="2026-06-26T11:02:57.852" v="6" actId="164"/>
          <ac:spMkLst>
            <pc:docMk/>
            <pc:sldMk cId="1353038609" sldId="2147483484"/>
            <ac:spMk id="20" creationId="{AC648E5D-0436-D5E0-B1BF-1E9C117DA430}"/>
          </ac:spMkLst>
        </pc:spChg>
        <pc:spChg chg="mod">
          <ac:chgData name="Pasha, Sabia" userId="c9515be7-7b37-48b0-8f09-41a8d8176a06" providerId="ADAL" clId="{E9A20A95-56D3-4269-B156-6DC5F7D91E6D}" dt="2026-06-26T11:02:57.852" v="6" actId="164"/>
          <ac:spMkLst>
            <pc:docMk/>
            <pc:sldMk cId="1353038609" sldId="2147483484"/>
            <ac:spMk id="22" creationId="{069EA3E4-A29B-AEDE-89CD-E8CAF932CDF0}"/>
          </ac:spMkLst>
        </pc:spChg>
        <pc:spChg chg="mod">
          <ac:chgData name="Pasha, Sabia" userId="c9515be7-7b37-48b0-8f09-41a8d8176a06" providerId="ADAL" clId="{E9A20A95-56D3-4269-B156-6DC5F7D91E6D}" dt="2026-06-26T11:02:57.852" v="6" actId="164"/>
          <ac:spMkLst>
            <pc:docMk/>
            <pc:sldMk cId="1353038609" sldId="2147483484"/>
            <ac:spMk id="24" creationId="{0ABA6B13-85F0-AD4B-5A07-9058C9B2C648}"/>
          </ac:spMkLst>
        </pc:spChg>
        <pc:spChg chg="mod">
          <ac:chgData name="Pasha, Sabia" userId="c9515be7-7b37-48b0-8f09-41a8d8176a06" providerId="ADAL" clId="{E9A20A95-56D3-4269-B156-6DC5F7D91E6D}" dt="2026-06-26T11:02:57.852" v="6" actId="164"/>
          <ac:spMkLst>
            <pc:docMk/>
            <pc:sldMk cId="1353038609" sldId="2147483484"/>
            <ac:spMk id="26" creationId="{CFAEE645-0CD0-F643-F5F8-08336E649BCC}"/>
          </ac:spMkLst>
        </pc:spChg>
        <pc:spChg chg="mod">
          <ac:chgData name="Pasha, Sabia" userId="c9515be7-7b37-48b0-8f09-41a8d8176a06" providerId="ADAL" clId="{E9A20A95-56D3-4269-B156-6DC5F7D91E6D}" dt="2026-06-26T11:02:57.852" v="6" actId="164"/>
          <ac:spMkLst>
            <pc:docMk/>
            <pc:sldMk cId="1353038609" sldId="2147483484"/>
            <ac:spMk id="28" creationId="{9BEDD28F-03E0-9FBA-FAB0-A2E7E7FD5F74}"/>
          </ac:spMkLst>
        </pc:spChg>
        <pc:spChg chg="mod">
          <ac:chgData name="Pasha, Sabia" userId="c9515be7-7b37-48b0-8f09-41a8d8176a06" providerId="ADAL" clId="{E9A20A95-56D3-4269-B156-6DC5F7D91E6D}" dt="2026-06-26T11:07:57.140" v="59" actId="20577"/>
          <ac:spMkLst>
            <pc:docMk/>
            <pc:sldMk cId="1353038609" sldId="2147483484"/>
            <ac:spMk id="34" creationId="{41AE6A60-4B92-CDEC-BC86-67E9910B50C7}"/>
          </ac:spMkLst>
        </pc:spChg>
        <pc:grpChg chg="mod">
          <ac:chgData name="Pasha, Sabia" userId="c9515be7-7b37-48b0-8f09-41a8d8176a06" providerId="ADAL" clId="{E9A20A95-56D3-4269-B156-6DC5F7D91E6D}" dt="2026-06-26T11:03:00.480" v="17" actId="1036"/>
          <ac:grpSpMkLst>
            <pc:docMk/>
            <pc:sldMk cId="1353038609" sldId="2147483484"/>
            <ac:grpSpMk id="3" creationId="{1C769815-299D-B2CC-CEC4-DA1D2E368C21}"/>
          </ac:grpSpMkLst>
        </pc:grpChg>
      </pc:sldChg>
      <pc:sldChg chg="modSp mod modNotesTx">
        <pc:chgData name="Pasha, Sabia" userId="c9515be7-7b37-48b0-8f09-41a8d8176a06" providerId="ADAL" clId="{E9A20A95-56D3-4269-B156-6DC5F7D91E6D}" dt="2026-06-26T11:03:36.935" v="22" actId="13926"/>
        <pc:sldMkLst>
          <pc:docMk/>
          <pc:sldMk cId="3061512710" sldId="2147483485"/>
        </pc:sldMkLst>
        <pc:spChg chg="mod">
          <ac:chgData name="Pasha, Sabia" userId="c9515be7-7b37-48b0-8f09-41a8d8176a06" providerId="ADAL" clId="{E9A20A95-56D3-4269-B156-6DC5F7D91E6D}" dt="2026-06-26T11:03:30.688" v="21" actId="13926"/>
          <ac:spMkLst>
            <pc:docMk/>
            <pc:sldMk cId="3061512710" sldId="2147483485"/>
            <ac:spMk id="2" creationId="{9255699B-1A6D-D671-08B4-3D4FFBACFF3A}"/>
          </ac:spMkLst>
        </pc:spChg>
        <pc:spChg chg="mod">
          <ac:chgData name="Pasha, Sabia" userId="c9515be7-7b37-48b0-8f09-41a8d8176a06" providerId="ADAL" clId="{E9A20A95-56D3-4269-B156-6DC5F7D91E6D}" dt="2026-06-26T11:03:30.688" v="21" actId="13926"/>
          <ac:spMkLst>
            <pc:docMk/>
            <pc:sldMk cId="3061512710" sldId="2147483485"/>
            <ac:spMk id="3" creationId="{618AA1C8-1F5F-727C-2FE8-1C67BB1FCA3B}"/>
          </ac:spMkLst>
        </pc:spChg>
        <pc:spChg chg="mod">
          <ac:chgData name="Pasha, Sabia" userId="c9515be7-7b37-48b0-8f09-41a8d8176a06" providerId="ADAL" clId="{E9A20A95-56D3-4269-B156-6DC5F7D91E6D}" dt="2026-06-26T11:03:30.688" v="21" actId="13926"/>
          <ac:spMkLst>
            <pc:docMk/>
            <pc:sldMk cId="3061512710" sldId="2147483485"/>
            <ac:spMk id="19" creationId="{1B193BC2-84EF-1B65-46CA-0157F9645312}"/>
          </ac:spMkLst>
        </pc:spChg>
        <pc:spChg chg="mod">
          <ac:chgData name="Pasha, Sabia" userId="c9515be7-7b37-48b0-8f09-41a8d8176a06" providerId="ADAL" clId="{E9A20A95-56D3-4269-B156-6DC5F7D91E6D}" dt="2026-06-26T11:03:30.688" v="21" actId="13926"/>
          <ac:spMkLst>
            <pc:docMk/>
            <pc:sldMk cId="3061512710" sldId="2147483485"/>
            <ac:spMk id="20" creationId="{06AB9D63-6854-F550-D9CD-0F218D07FE1F}"/>
          </ac:spMkLst>
        </pc:spChg>
        <pc:spChg chg="mod">
          <ac:chgData name="Pasha, Sabia" userId="c9515be7-7b37-48b0-8f09-41a8d8176a06" providerId="ADAL" clId="{E9A20A95-56D3-4269-B156-6DC5F7D91E6D}" dt="2026-06-26T11:03:30.688" v="21" actId="13926"/>
          <ac:spMkLst>
            <pc:docMk/>
            <pc:sldMk cId="3061512710" sldId="2147483485"/>
            <ac:spMk id="24" creationId="{6338A067-D14F-10EE-A353-D06ADD5892C0}"/>
          </ac:spMkLst>
        </pc:spChg>
        <pc:spChg chg="mod">
          <ac:chgData name="Pasha, Sabia" userId="c9515be7-7b37-48b0-8f09-41a8d8176a06" providerId="ADAL" clId="{E9A20A95-56D3-4269-B156-6DC5F7D91E6D}" dt="2026-06-26T11:03:30.688" v="21" actId="13926"/>
          <ac:spMkLst>
            <pc:docMk/>
            <pc:sldMk cId="3061512710" sldId="2147483485"/>
            <ac:spMk id="25" creationId="{EC1C8882-E9F3-6A91-EB2C-06E778AB38A5}"/>
          </ac:spMkLst>
        </pc:spChg>
        <pc:spChg chg="mod">
          <ac:chgData name="Pasha, Sabia" userId="c9515be7-7b37-48b0-8f09-41a8d8176a06" providerId="ADAL" clId="{E9A20A95-56D3-4269-B156-6DC5F7D91E6D}" dt="2026-06-26T11:03:30.688" v="21" actId="13926"/>
          <ac:spMkLst>
            <pc:docMk/>
            <pc:sldMk cId="3061512710" sldId="2147483485"/>
            <ac:spMk id="26" creationId="{91424107-AAE0-E16B-D251-4C2DB9FBB640}"/>
          </ac:spMkLst>
        </pc:spChg>
        <pc:spChg chg="mod">
          <ac:chgData name="Pasha, Sabia" userId="c9515be7-7b37-48b0-8f09-41a8d8176a06" providerId="ADAL" clId="{E9A20A95-56D3-4269-B156-6DC5F7D91E6D}" dt="2026-06-26T11:03:30.688" v="21" actId="13926"/>
          <ac:spMkLst>
            <pc:docMk/>
            <pc:sldMk cId="3061512710" sldId="2147483485"/>
            <ac:spMk id="28" creationId="{B78CD692-5A89-266F-AAA2-D182E004FF9A}"/>
          </ac:spMkLst>
        </pc:spChg>
      </pc:sldChg>
      <pc:sldChg chg="modSp mod">
        <pc:chgData name="Pasha, Sabia" userId="c9515be7-7b37-48b0-8f09-41a8d8176a06" providerId="ADAL" clId="{E9A20A95-56D3-4269-B156-6DC5F7D91E6D}" dt="2026-06-26T11:03:56.020" v="26" actId="13926"/>
        <pc:sldMkLst>
          <pc:docMk/>
          <pc:sldMk cId="1164470884" sldId="2147483486"/>
        </pc:sldMkLst>
        <pc:spChg chg="mod">
          <ac:chgData name="Pasha, Sabia" userId="c9515be7-7b37-48b0-8f09-41a8d8176a06" providerId="ADAL" clId="{E9A20A95-56D3-4269-B156-6DC5F7D91E6D}" dt="2026-06-26T11:03:50.456" v="25" actId="13926"/>
          <ac:spMkLst>
            <pc:docMk/>
            <pc:sldMk cId="1164470884" sldId="2147483486"/>
            <ac:spMk id="2" creationId="{90050E6B-CFAC-41E4-16F8-D76B132C3F6C}"/>
          </ac:spMkLst>
        </pc:spChg>
        <pc:spChg chg="mod">
          <ac:chgData name="Pasha, Sabia" userId="c9515be7-7b37-48b0-8f09-41a8d8176a06" providerId="ADAL" clId="{E9A20A95-56D3-4269-B156-6DC5F7D91E6D}" dt="2026-06-26T11:03:56.020" v="26" actId="13926"/>
          <ac:spMkLst>
            <pc:docMk/>
            <pc:sldMk cId="1164470884" sldId="2147483486"/>
            <ac:spMk id="17" creationId="{67F2AAEB-A498-1217-9C79-E7876A72960A}"/>
          </ac:spMkLst>
        </pc:spChg>
        <pc:spChg chg="mod">
          <ac:chgData name="Pasha, Sabia" userId="c9515be7-7b37-48b0-8f09-41a8d8176a06" providerId="ADAL" clId="{E9A20A95-56D3-4269-B156-6DC5F7D91E6D}" dt="2026-06-26T11:03:56.020" v="26" actId="13926"/>
          <ac:spMkLst>
            <pc:docMk/>
            <pc:sldMk cId="1164470884" sldId="2147483486"/>
            <ac:spMk id="19" creationId="{DFB281F2-C242-34BA-0533-0C2232A6BC8F}"/>
          </ac:spMkLst>
        </pc:spChg>
        <pc:spChg chg="mod">
          <ac:chgData name="Pasha, Sabia" userId="c9515be7-7b37-48b0-8f09-41a8d8176a06" providerId="ADAL" clId="{E9A20A95-56D3-4269-B156-6DC5F7D91E6D}" dt="2026-06-26T11:03:56.020" v="26" actId="13926"/>
          <ac:spMkLst>
            <pc:docMk/>
            <pc:sldMk cId="1164470884" sldId="2147483486"/>
            <ac:spMk id="20" creationId="{99BC290E-1B68-B82C-106A-3EEE89C4E83F}"/>
          </ac:spMkLst>
        </pc:spChg>
        <pc:spChg chg="mod">
          <ac:chgData name="Pasha, Sabia" userId="c9515be7-7b37-48b0-8f09-41a8d8176a06" providerId="ADAL" clId="{E9A20A95-56D3-4269-B156-6DC5F7D91E6D}" dt="2026-06-26T11:03:56.020" v="26" actId="13926"/>
          <ac:spMkLst>
            <pc:docMk/>
            <pc:sldMk cId="1164470884" sldId="2147483486"/>
            <ac:spMk id="22" creationId="{1F5C90F9-1C99-B143-0882-05C2DC13724C}"/>
          </ac:spMkLst>
        </pc:spChg>
        <pc:spChg chg="mod">
          <ac:chgData name="Pasha, Sabia" userId="c9515be7-7b37-48b0-8f09-41a8d8176a06" providerId="ADAL" clId="{E9A20A95-56D3-4269-B156-6DC5F7D91E6D}" dt="2026-06-26T11:03:56.020" v="26" actId="13926"/>
          <ac:spMkLst>
            <pc:docMk/>
            <pc:sldMk cId="1164470884" sldId="2147483486"/>
            <ac:spMk id="23" creationId="{E7C3F756-EE4A-9C6A-3BDA-1A063E734877}"/>
          </ac:spMkLst>
        </pc:spChg>
        <pc:spChg chg="mod">
          <ac:chgData name="Pasha, Sabia" userId="c9515be7-7b37-48b0-8f09-41a8d8176a06" providerId="ADAL" clId="{E9A20A95-56D3-4269-B156-6DC5F7D91E6D}" dt="2026-06-26T11:03:56.020" v="26" actId="13926"/>
          <ac:spMkLst>
            <pc:docMk/>
            <pc:sldMk cId="1164470884" sldId="2147483486"/>
            <ac:spMk id="24" creationId="{57AD647E-1935-13D9-3E38-9B1097BD2737}"/>
          </ac:spMkLst>
        </pc:spChg>
      </pc:sldChg>
      <pc:sldChg chg="modSp mod modNotesTx">
        <pc:chgData name="Pasha, Sabia" userId="c9515be7-7b37-48b0-8f09-41a8d8176a06" providerId="ADAL" clId="{E9A20A95-56D3-4269-B156-6DC5F7D91E6D}" dt="2026-06-26T11:05:10.158" v="44" actId="13926"/>
        <pc:sldMkLst>
          <pc:docMk/>
          <pc:sldMk cId="544835686" sldId="2147483488"/>
        </pc:sldMkLst>
        <pc:spChg chg="mod">
          <ac:chgData name="Pasha, Sabia" userId="c9515be7-7b37-48b0-8f09-41a8d8176a06" providerId="ADAL" clId="{E9A20A95-56D3-4269-B156-6DC5F7D91E6D}" dt="2026-06-26T11:04:55.416" v="38" actId="13926"/>
          <ac:spMkLst>
            <pc:docMk/>
            <pc:sldMk cId="544835686" sldId="2147483488"/>
            <ac:spMk id="2" creationId="{85BC1507-FDEE-2D13-B1A1-42866DF2A96F}"/>
          </ac:spMkLst>
        </pc:spChg>
        <pc:spChg chg="mod">
          <ac:chgData name="Pasha, Sabia" userId="c9515be7-7b37-48b0-8f09-41a8d8176a06" providerId="ADAL" clId="{E9A20A95-56D3-4269-B156-6DC5F7D91E6D}" dt="2026-06-26T11:05:06.415" v="43" actId="13926"/>
          <ac:spMkLst>
            <pc:docMk/>
            <pc:sldMk cId="544835686" sldId="2147483488"/>
            <ac:spMk id="35" creationId="{1D6E3F6C-E105-9FDA-9761-C46961ACEC21}"/>
          </ac:spMkLst>
        </pc:spChg>
        <pc:spChg chg="mod">
          <ac:chgData name="Pasha, Sabia" userId="c9515be7-7b37-48b0-8f09-41a8d8176a06" providerId="ADAL" clId="{E9A20A95-56D3-4269-B156-6DC5F7D91E6D}" dt="2026-06-26T11:04:55.416" v="38" actId="13926"/>
          <ac:spMkLst>
            <pc:docMk/>
            <pc:sldMk cId="544835686" sldId="2147483488"/>
            <ac:spMk id="38" creationId="{40D2875B-B69D-88DD-868E-AE7344397CF5}"/>
          </ac:spMkLst>
        </pc:spChg>
        <pc:spChg chg="mod">
          <ac:chgData name="Pasha, Sabia" userId="c9515be7-7b37-48b0-8f09-41a8d8176a06" providerId="ADAL" clId="{E9A20A95-56D3-4269-B156-6DC5F7D91E6D}" dt="2026-06-26T11:04:55.416" v="38" actId="13926"/>
          <ac:spMkLst>
            <pc:docMk/>
            <pc:sldMk cId="544835686" sldId="2147483488"/>
            <ac:spMk id="39" creationId="{A604E88D-A309-D593-7201-263E6142191B}"/>
          </ac:spMkLst>
        </pc:spChg>
        <pc:spChg chg="mod">
          <ac:chgData name="Pasha, Sabia" userId="c9515be7-7b37-48b0-8f09-41a8d8176a06" providerId="ADAL" clId="{E9A20A95-56D3-4269-B156-6DC5F7D91E6D}" dt="2026-06-26T11:04:58.472" v="39" actId="13926"/>
          <ac:spMkLst>
            <pc:docMk/>
            <pc:sldMk cId="544835686" sldId="2147483488"/>
            <ac:spMk id="49" creationId="{2F58F707-BFA7-52F5-051F-54BE68D6CAA9}"/>
          </ac:spMkLst>
        </pc:spChg>
        <pc:spChg chg="mod">
          <ac:chgData name="Pasha, Sabia" userId="c9515be7-7b37-48b0-8f09-41a8d8176a06" providerId="ADAL" clId="{E9A20A95-56D3-4269-B156-6DC5F7D91E6D}" dt="2026-06-26T11:04:58.472" v="39" actId="13926"/>
          <ac:spMkLst>
            <pc:docMk/>
            <pc:sldMk cId="544835686" sldId="2147483488"/>
            <ac:spMk id="52" creationId="{8FE85F4B-96DB-0AC5-D4DE-9E529F80E121}"/>
          </ac:spMkLst>
        </pc:spChg>
        <pc:spChg chg="mod">
          <ac:chgData name="Pasha, Sabia" userId="c9515be7-7b37-48b0-8f09-41a8d8176a06" providerId="ADAL" clId="{E9A20A95-56D3-4269-B156-6DC5F7D91E6D}" dt="2026-06-26T11:04:58.472" v="39" actId="13926"/>
          <ac:spMkLst>
            <pc:docMk/>
            <pc:sldMk cId="544835686" sldId="2147483488"/>
            <ac:spMk id="54" creationId="{DD9E9FD2-2FDA-21CA-6853-8CA25204AD9B}"/>
          </ac:spMkLst>
        </pc:spChg>
        <pc:spChg chg="mod">
          <ac:chgData name="Pasha, Sabia" userId="c9515be7-7b37-48b0-8f09-41a8d8176a06" providerId="ADAL" clId="{E9A20A95-56D3-4269-B156-6DC5F7D91E6D}" dt="2026-06-26T11:04:58.472" v="39" actId="13926"/>
          <ac:spMkLst>
            <pc:docMk/>
            <pc:sldMk cId="544835686" sldId="2147483488"/>
            <ac:spMk id="55" creationId="{2CEDB68A-3F4E-CBBA-6B39-67BE7EEE8D6E}"/>
          </ac:spMkLst>
        </pc:spChg>
      </pc:sldChg>
      <pc:sldChg chg="modSp mod">
        <pc:chgData name="Pasha, Sabia" userId="c9515be7-7b37-48b0-8f09-41a8d8176a06" providerId="ADAL" clId="{E9A20A95-56D3-4269-B156-6DC5F7D91E6D}" dt="2026-06-26T11:06:07.973" v="51" actId="948"/>
        <pc:sldMkLst>
          <pc:docMk/>
          <pc:sldMk cId="512559375" sldId="2147483517"/>
        </pc:sldMkLst>
        <pc:spChg chg="mod">
          <ac:chgData name="Pasha, Sabia" userId="c9515be7-7b37-48b0-8f09-41a8d8176a06" providerId="ADAL" clId="{E9A20A95-56D3-4269-B156-6DC5F7D91E6D}" dt="2026-06-26T11:06:07.973" v="51" actId="948"/>
          <ac:spMkLst>
            <pc:docMk/>
            <pc:sldMk cId="512559375" sldId="2147483517"/>
            <ac:spMk id="11" creationId="{4E764DFD-4BCD-0C42-A469-C2CF287DA36C}"/>
          </ac:spMkLst>
        </pc:spChg>
      </pc:sldChg>
      <pc:sldChg chg="modSp mod">
        <pc:chgData name="Pasha, Sabia" userId="c9515be7-7b37-48b0-8f09-41a8d8176a06" providerId="ADAL" clId="{E9A20A95-56D3-4269-B156-6DC5F7D91E6D}" dt="2026-06-26T11:07:31.461" v="57" actId="14100"/>
        <pc:sldMkLst>
          <pc:docMk/>
          <pc:sldMk cId="250922719" sldId="2147483518"/>
        </pc:sldMkLst>
        <pc:spChg chg="mod">
          <ac:chgData name="Pasha, Sabia" userId="c9515be7-7b37-48b0-8f09-41a8d8176a06" providerId="ADAL" clId="{E9A20A95-56D3-4269-B156-6DC5F7D91E6D}" dt="2026-06-26T11:02:36.450" v="2" actId="13926"/>
          <ac:spMkLst>
            <pc:docMk/>
            <pc:sldMk cId="250922719" sldId="2147483518"/>
            <ac:spMk id="7" creationId="{07A8DAA8-96DB-F0F7-487D-BEA2EEACC0A3}"/>
          </ac:spMkLst>
        </pc:spChg>
        <pc:spChg chg="mod">
          <ac:chgData name="Pasha, Sabia" userId="c9515be7-7b37-48b0-8f09-41a8d8176a06" providerId="ADAL" clId="{E9A20A95-56D3-4269-B156-6DC5F7D91E6D}" dt="2026-06-26T11:07:31.461" v="57" actId="14100"/>
          <ac:spMkLst>
            <pc:docMk/>
            <pc:sldMk cId="250922719" sldId="2147483518"/>
            <ac:spMk id="8" creationId="{7848C66A-0A84-4B77-14BB-D4BC12911A5D}"/>
          </ac:spMkLst>
        </pc:spChg>
      </pc:sldChg>
      <pc:sldChg chg="modSp mod">
        <pc:chgData name="Pasha, Sabia" userId="c9515be7-7b37-48b0-8f09-41a8d8176a06" providerId="ADAL" clId="{E9A20A95-56D3-4269-B156-6DC5F7D91E6D}" dt="2026-06-26T11:07:36.692" v="58" actId="14100"/>
        <pc:sldMkLst>
          <pc:docMk/>
          <pc:sldMk cId="1076000178" sldId="2147483519"/>
        </pc:sldMkLst>
        <pc:spChg chg="mod">
          <ac:chgData name="Pasha, Sabia" userId="c9515be7-7b37-48b0-8f09-41a8d8176a06" providerId="ADAL" clId="{E9A20A95-56D3-4269-B156-6DC5F7D91E6D}" dt="2026-06-26T11:04:17.249" v="28" actId="13926"/>
          <ac:spMkLst>
            <pc:docMk/>
            <pc:sldMk cId="1076000178" sldId="2147483519"/>
            <ac:spMk id="2" creationId="{7F6C7086-777F-16C9-1BD0-D201A513E4D5}"/>
          </ac:spMkLst>
        </pc:spChg>
        <pc:spChg chg="mod">
          <ac:chgData name="Pasha, Sabia" userId="c9515be7-7b37-48b0-8f09-41a8d8176a06" providerId="ADAL" clId="{E9A20A95-56D3-4269-B156-6DC5F7D91E6D}" dt="2026-06-26T11:04:17.249" v="28" actId="13926"/>
          <ac:spMkLst>
            <pc:docMk/>
            <pc:sldMk cId="1076000178" sldId="2147483519"/>
            <ac:spMk id="3" creationId="{34BB336C-A29E-65BD-2257-DBC5910E9F04}"/>
          </ac:spMkLst>
        </pc:spChg>
        <pc:spChg chg="mod">
          <ac:chgData name="Pasha, Sabia" userId="c9515be7-7b37-48b0-8f09-41a8d8176a06" providerId="ADAL" clId="{E9A20A95-56D3-4269-B156-6DC5F7D91E6D}" dt="2026-06-26T11:04:17.249" v="28" actId="13926"/>
          <ac:spMkLst>
            <pc:docMk/>
            <pc:sldMk cId="1076000178" sldId="2147483519"/>
            <ac:spMk id="9" creationId="{83A54DF8-37B2-39F3-495B-F944A33EFF2A}"/>
          </ac:spMkLst>
        </pc:spChg>
        <pc:spChg chg="mod">
          <ac:chgData name="Pasha, Sabia" userId="c9515be7-7b37-48b0-8f09-41a8d8176a06" providerId="ADAL" clId="{E9A20A95-56D3-4269-B156-6DC5F7D91E6D}" dt="2026-06-26T11:07:36.692" v="58" actId="14100"/>
          <ac:spMkLst>
            <pc:docMk/>
            <pc:sldMk cId="1076000178" sldId="2147483519"/>
            <ac:spMk id="10" creationId="{3D664F2F-7A73-9F3B-A2A7-B37A9173BCB0}"/>
          </ac:spMkLst>
        </pc:spChg>
        <pc:spChg chg="mod">
          <ac:chgData name="Pasha, Sabia" userId="c9515be7-7b37-48b0-8f09-41a8d8176a06" providerId="ADAL" clId="{E9A20A95-56D3-4269-B156-6DC5F7D91E6D}" dt="2026-06-26T11:04:17.249" v="28" actId="13926"/>
          <ac:spMkLst>
            <pc:docMk/>
            <pc:sldMk cId="1076000178" sldId="2147483519"/>
            <ac:spMk id="12" creationId="{878407B2-F1E9-4EDD-14BF-8C35344F754A}"/>
          </ac:spMkLst>
        </pc:spChg>
      </pc:sldChg>
      <pc:sldChg chg="modSp mod modNotesTx">
        <pc:chgData name="Pasha, Sabia" userId="c9515be7-7b37-48b0-8f09-41a8d8176a06" providerId="ADAL" clId="{E9A20A95-56D3-4269-B156-6DC5F7D91E6D}" dt="2026-06-26T11:04:30.805" v="32" actId="20577"/>
        <pc:sldMkLst>
          <pc:docMk/>
          <pc:sldMk cId="1520626666" sldId="2147483520"/>
        </pc:sldMkLst>
        <pc:spChg chg="mod">
          <ac:chgData name="Pasha, Sabia" userId="c9515be7-7b37-48b0-8f09-41a8d8176a06" providerId="ADAL" clId="{E9A20A95-56D3-4269-B156-6DC5F7D91E6D}" dt="2026-06-26T11:04:24.075" v="29" actId="13926"/>
          <ac:spMkLst>
            <pc:docMk/>
            <pc:sldMk cId="1520626666" sldId="2147483520"/>
            <ac:spMk id="21" creationId="{0ECEE2EF-2AA8-4842-0765-641C9887F665}"/>
          </ac:spMkLst>
        </pc:spChg>
        <pc:spChg chg="mod">
          <ac:chgData name="Pasha, Sabia" userId="c9515be7-7b37-48b0-8f09-41a8d8176a06" providerId="ADAL" clId="{E9A20A95-56D3-4269-B156-6DC5F7D91E6D}" dt="2026-06-26T11:04:24.075" v="29" actId="13926"/>
          <ac:spMkLst>
            <pc:docMk/>
            <pc:sldMk cId="1520626666" sldId="2147483520"/>
            <ac:spMk id="22" creationId="{344645B3-C28D-AE62-C839-D9E131ABA0BE}"/>
          </ac:spMkLst>
        </pc:spChg>
        <pc:spChg chg="mod">
          <ac:chgData name="Pasha, Sabia" userId="c9515be7-7b37-48b0-8f09-41a8d8176a06" providerId="ADAL" clId="{E9A20A95-56D3-4269-B156-6DC5F7D91E6D}" dt="2026-06-26T11:04:24.075" v="29" actId="13926"/>
          <ac:spMkLst>
            <pc:docMk/>
            <pc:sldMk cId="1520626666" sldId="2147483520"/>
            <ac:spMk id="23" creationId="{BAC54DE1-736F-DEBC-C43D-DF920FA1723C}"/>
          </ac:spMkLst>
        </pc:spChg>
        <pc:spChg chg="mod">
          <ac:chgData name="Pasha, Sabia" userId="c9515be7-7b37-48b0-8f09-41a8d8176a06" providerId="ADAL" clId="{E9A20A95-56D3-4269-B156-6DC5F7D91E6D}" dt="2026-06-26T11:04:24.075" v="29" actId="13926"/>
          <ac:spMkLst>
            <pc:docMk/>
            <pc:sldMk cId="1520626666" sldId="2147483520"/>
            <ac:spMk id="26" creationId="{8D37C8DA-A467-9EAB-2C1D-7F561AC9EED3}"/>
          </ac:spMkLst>
        </pc:spChg>
        <pc:spChg chg="mod">
          <ac:chgData name="Pasha, Sabia" userId="c9515be7-7b37-48b0-8f09-41a8d8176a06" providerId="ADAL" clId="{E9A20A95-56D3-4269-B156-6DC5F7D91E6D}" dt="2026-06-26T11:04:24.075" v="29" actId="13926"/>
          <ac:spMkLst>
            <pc:docMk/>
            <pc:sldMk cId="1520626666" sldId="2147483520"/>
            <ac:spMk id="27" creationId="{7B35C1E6-262D-60DE-A155-F0F35339FC39}"/>
          </ac:spMkLst>
        </pc:spChg>
        <pc:spChg chg="mod">
          <ac:chgData name="Pasha, Sabia" userId="c9515be7-7b37-48b0-8f09-41a8d8176a06" providerId="ADAL" clId="{E9A20A95-56D3-4269-B156-6DC5F7D91E6D}" dt="2026-06-26T11:04:24.075" v="29" actId="13926"/>
          <ac:spMkLst>
            <pc:docMk/>
            <pc:sldMk cId="1520626666" sldId="2147483520"/>
            <ac:spMk id="32" creationId="{11929F0C-7696-2B6E-9CFA-A47DC8942951}"/>
          </ac:spMkLst>
        </pc:spChg>
        <pc:spChg chg="mod">
          <ac:chgData name="Pasha, Sabia" userId="c9515be7-7b37-48b0-8f09-41a8d8176a06" providerId="ADAL" clId="{E9A20A95-56D3-4269-B156-6DC5F7D91E6D}" dt="2026-06-26T11:04:24.075" v="29" actId="13926"/>
          <ac:spMkLst>
            <pc:docMk/>
            <pc:sldMk cId="1520626666" sldId="2147483520"/>
            <ac:spMk id="59" creationId="{4CCF929F-2DC4-3668-A35A-A7C6E8CC1B09}"/>
          </ac:spMkLst>
        </pc:spChg>
        <pc:spChg chg="mod">
          <ac:chgData name="Pasha, Sabia" userId="c9515be7-7b37-48b0-8f09-41a8d8176a06" providerId="ADAL" clId="{E9A20A95-56D3-4269-B156-6DC5F7D91E6D}" dt="2026-06-26T11:04:24.075" v="29" actId="13926"/>
          <ac:spMkLst>
            <pc:docMk/>
            <pc:sldMk cId="1520626666" sldId="2147483520"/>
            <ac:spMk id="61" creationId="{9772FB6D-D85E-D13C-2565-4C63524AF22E}"/>
          </ac:spMkLst>
        </pc:spChg>
        <pc:spChg chg="mod">
          <ac:chgData name="Pasha, Sabia" userId="c9515be7-7b37-48b0-8f09-41a8d8176a06" providerId="ADAL" clId="{E9A20A95-56D3-4269-B156-6DC5F7D91E6D}" dt="2026-06-26T11:04:24.075" v="29" actId="13926"/>
          <ac:spMkLst>
            <pc:docMk/>
            <pc:sldMk cId="1520626666" sldId="2147483520"/>
            <ac:spMk id="64" creationId="{958D9D35-8404-337C-8718-9EEF9912C9E7}"/>
          </ac:spMkLst>
        </pc:spChg>
        <pc:spChg chg="mod">
          <ac:chgData name="Pasha, Sabia" userId="c9515be7-7b37-48b0-8f09-41a8d8176a06" providerId="ADAL" clId="{E9A20A95-56D3-4269-B156-6DC5F7D91E6D}" dt="2026-06-26T11:04:24.075" v="29" actId="13926"/>
          <ac:spMkLst>
            <pc:docMk/>
            <pc:sldMk cId="1520626666" sldId="2147483520"/>
            <ac:spMk id="68" creationId="{8E86719C-EF7A-6B23-A9BE-0C0C5E677B39}"/>
          </ac:spMkLst>
        </pc:spChg>
      </pc:sldChg>
      <pc:sldChg chg="modSp mod modNotesTx">
        <pc:chgData name="Pasha, Sabia" userId="c9515be7-7b37-48b0-8f09-41a8d8176a06" providerId="ADAL" clId="{E9A20A95-56D3-4269-B156-6DC5F7D91E6D}" dt="2026-06-26T11:04:48.163" v="37" actId="20577"/>
        <pc:sldMkLst>
          <pc:docMk/>
          <pc:sldMk cId="2449104975" sldId="2147483521"/>
        </pc:sldMkLst>
        <pc:spChg chg="mod">
          <ac:chgData name="Pasha, Sabia" userId="c9515be7-7b37-48b0-8f09-41a8d8176a06" providerId="ADAL" clId="{E9A20A95-56D3-4269-B156-6DC5F7D91E6D}" dt="2026-06-26T11:04:43.497" v="36" actId="120"/>
          <ac:spMkLst>
            <pc:docMk/>
            <pc:sldMk cId="2449104975" sldId="2147483521"/>
            <ac:spMk id="10" creationId="{8BADD6AD-688F-4116-42ED-A541626F0A0C}"/>
          </ac:spMkLst>
        </pc:spChg>
      </pc:sldChg>
    </pc:docChg>
  </pc:docChgLst>
  <pc:docChgLst>
    <pc:chgData name="Nellikotte, Vishnu Priya" userId="fea496c0-936e-45ef-943d-e2861ddcc4ed" providerId="ADAL" clId="{12C81B02-640B-4C53-8091-5F123D151428}"/>
    <pc:docChg chg="custSel modSld">
      <pc:chgData name="Nellikotte, Vishnu Priya" userId="fea496c0-936e-45ef-943d-e2861ddcc4ed" providerId="ADAL" clId="{12C81B02-640B-4C53-8091-5F123D151428}" dt="2026-06-25T05:48:34.190" v="44" actId="13926"/>
      <pc:docMkLst>
        <pc:docMk/>
      </pc:docMkLst>
      <pc:sldChg chg="modSp mod">
        <pc:chgData name="Nellikotte, Vishnu Priya" userId="fea496c0-936e-45ef-943d-e2861ddcc4ed" providerId="ADAL" clId="{12C81B02-640B-4C53-8091-5F123D151428}" dt="2026-06-25T05:47:07.057" v="40" actId="20577"/>
        <pc:sldMkLst>
          <pc:docMk/>
          <pc:sldMk cId="610901662" sldId="2147483477"/>
        </pc:sldMkLst>
        <pc:spChg chg="mod">
          <ac:chgData name="Nellikotte, Vishnu Priya" userId="fea496c0-936e-45ef-943d-e2861ddcc4ed" providerId="ADAL" clId="{12C81B02-640B-4C53-8091-5F123D151428}" dt="2026-06-25T05:47:07.057" v="40" actId="20577"/>
          <ac:spMkLst>
            <pc:docMk/>
            <pc:sldMk cId="610901662" sldId="2147483477"/>
            <ac:spMk id="5" creationId="{A7671A41-646E-24F6-B978-602771AECC8F}"/>
          </ac:spMkLst>
        </pc:spChg>
      </pc:sldChg>
      <pc:sldChg chg="modSp mod">
        <pc:chgData name="Nellikotte, Vishnu Priya" userId="fea496c0-936e-45ef-943d-e2861ddcc4ed" providerId="ADAL" clId="{12C81B02-640B-4C53-8091-5F123D151428}" dt="2026-06-25T05:35:33.493" v="6" actId="20577"/>
        <pc:sldMkLst>
          <pc:docMk/>
          <pc:sldMk cId="1353038609" sldId="2147483484"/>
        </pc:sldMkLst>
        <pc:spChg chg="mod">
          <ac:chgData name="Nellikotte, Vishnu Priya" userId="fea496c0-936e-45ef-943d-e2861ddcc4ed" providerId="ADAL" clId="{12C81B02-640B-4C53-8091-5F123D151428}" dt="2026-06-25T05:35:33.493" v="6" actId="20577"/>
          <ac:spMkLst>
            <pc:docMk/>
            <pc:sldMk cId="1353038609" sldId="2147483484"/>
            <ac:spMk id="34" creationId="{41AE6A60-4B92-CDEC-BC86-67E9910B50C7}"/>
          </ac:spMkLst>
        </pc:spChg>
      </pc:sldChg>
      <pc:sldChg chg="modNotesTx">
        <pc:chgData name="Nellikotte, Vishnu Priya" userId="fea496c0-936e-45ef-943d-e2861ddcc4ed" providerId="ADAL" clId="{12C81B02-640B-4C53-8091-5F123D151428}" dt="2026-06-25T05:36:15.229" v="29" actId="20577"/>
        <pc:sldMkLst>
          <pc:docMk/>
          <pc:sldMk cId="3061512710" sldId="2147483485"/>
        </pc:sldMkLst>
      </pc:sldChg>
      <pc:sldChg chg="modSp mod">
        <pc:chgData name="Nellikotte, Vishnu Priya" userId="fea496c0-936e-45ef-943d-e2861ddcc4ed" providerId="ADAL" clId="{12C81B02-640B-4C53-8091-5F123D151428}" dt="2026-06-25T05:48:34.190" v="44" actId="13926"/>
        <pc:sldMkLst>
          <pc:docMk/>
          <pc:sldMk cId="544835686" sldId="2147483488"/>
        </pc:sldMkLst>
        <pc:spChg chg="mod">
          <ac:chgData name="Nellikotte, Vishnu Priya" userId="fea496c0-936e-45ef-943d-e2861ddcc4ed" providerId="ADAL" clId="{12C81B02-640B-4C53-8091-5F123D151428}" dt="2026-06-25T05:48:34.190" v="44" actId="13926"/>
          <ac:spMkLst>
            <pc:docMk/>
            <pc:sldMk cId="544835686" sldId="2147483488"/>
            <ac:spMk id="35" creationId="{1D6E3F6C-E105-9FDA-9761-C46961ACEC21}"/>
          </ac:spMkLst>
        </pc:spChg>
      </pc:sldChg>
      <pc:sldChg chg="addSp delSp modSp mod">
        <pc:chgData name="Nellikotte, Vishnu Priya" userId="fea496c0-936e-45ef-943d-e2861ddcc4ed" providerId="ADAL" clId="{12C81B02-640B-4C53-8091-5F123D151428}" dt="2026-06-25T05:47:13.030" v="41"/>
        <pc:sldMkLst>
          <pc:docMk/>
          <pc:sldMk cId="250922719" sldId="2147483518"/>
        </pc:sldMkLst>
        <pc:spChg chg="del">
          <ac:chgData name="Nellikotte, Vishnu Priya" userId="fea496c0-936e-45ef-943d-e2861ddcc4ed" providerId="ADAL" clId="{12C81B02-640B-4C53-8091-5F123D151428}" dt="2026-06-25T05:35:02.674" v="0" actId="478"/>
          <ac:spMkLst>
            <pc:docMk/>
            <pc:sldMk cId="250922719" sldId="2147483518"/>
            <ac:spMk id="3" creationId="{0CC13209-28B3-FA0E-E261-61C8A7694FF9}"/>
          </ac:spMkLst>
        </pc:spChg>
        <pc:spChg chg="del">
          <ac:chgData name="Nellikotte, Vishnu Priya" userId="fea496c0-936e-45ef-943d-e2861ddcc4ed" providerId="ADAL" clId="{12C81B02-640B-4C53-8091-5F123D151428}" dt="2026-06-25T05:35:02.674" v="0" actId="478"/>
          <ac:spMkLst>
            <pc:docMk/>
            <pc:sldMk cId="250922719" sldId="2147483518"/>
            <ac:spMk id="6" creationId="{F972E564-4E9D-CBF6-1143-D6B4DE2CB125}"/>
          </ac:spMkLst>
        </pc:spChg>
        <pc:spChg chg="add mod">
          <ac:chgData name="Nellikotte, Vishnu Priya" userId="fea496c0-936e-45ef-943d-e2861ddcc4ed" providerId="ADAL" clId="{12C81B02-640B-4C53-8091-5F123D151428}" dt="2026-06-25T05:47:13.030" v="41"/>
          <ac:spMkLst>
            <pc:docMk/>
            <pc:sldMk cId="250922719" sldId="2147483518"/>
            <ac:spMk id="7" creationId="{07A8DAA8-96DB-F0F7-487D-BEA2EEACC0A3}"/>
          </ac:spMkLst>
        </pc:spChg>
        <pc:spChg chg="add mod">
          <ac:chgData name="Nellikotte, Vishnu Priya" userId="fea496c0-936e-45ef-943d-e2861ddcc4ed" providerId="ADAL" clId="{12C81B02-640B-4C53-8091-5F123D151428}" dt="2026-06-25T05:35:03.187" v="1"/>
          <ac:spMkLst>
            <pc:docMk/>
            <pc:sldMk cId="250922719" sldId="2147483518"/>
            <ac:spMk id="8" creationId="{7848C66A-0A84-4B77-14BB-D4BC12911A5D}"/>
          </ac:spMkLst>
        </pc:spChg>
      </pc:sldChg>
      <pc:sldChg chg="addSp delSp modSp mod">
        <pc:chgData name="Nellikotte, Vishnu Priya" userId="fea496c0-936e-45ef-943d-e2861ddcc4ed" providerId="ADAL" clId="{12C81B02-640B-4C53-8091-5F123D151428}" dt="2026-06-25T05:47:17.974" v="42"/>
        <pc:sldMkLst>
          <pc:docMk/>
          <pc:sldMk cId="1076000178" sldId="2147483519"/>
        </pc:sldMkLst>
        <pc:spChg chg="add mod">
          <ac:chgData name="Nellikotte, Vishnu Priya" userId="fea496c0-936e-45ef-943d-e2861ddcc4ed" providerId="ADAL" clId="{12C81B02-640B-4C53-8091-5F123D151428}" dt="2026-06-25T05:35:08.211" v="2"/>
          <ac:spMkLst>
            <pc:docMk/>
            <pc:sldMk cId="1076000178" sldId="2147483519"/>
            <ac:spMk id="5" creationId="{FA64AA33-17E2-6F8D-ECB6-9474264C77EF}"/>
          </ac:spMkLst>
        </pc:spChg>
        <pc:spChg chg="del">
          <ac:chgData name="Nellikotte, Vishnu Priya" userId="fea496c0-936e-45ef-943d-e2861ddcc4ed" providerId="ADAL" clId="{12C81B02-640B-4C53-8091-5F123D151428}" dt="2026-06-25T05:35:10.474" v="3" actId="478"/>
          <ac:spMkLst>
            <pc:docMk/>
            <pc:sldMk cId="1076000178" sldId="2147483519"/>
            <ac:spMk id="6" creationId="{534017EF-EAF3-7070-D516-BFFC28D48A06}"/>
          </ac:spMkLst>
        </pc:spChg>
        <pc:spChg chg="del">
          <ac:chgData name="Nellikotte, Vishnu Priya" userId="fea496c0-936e-45ef-943d-e2861ddcc4ed" providerId="ADAL" clId="{12C81B02-640B-4C53-8091-5F123D151428}" dt="2026-06-25T05:35:10.474" v="3" actId="478"/>
          <ac:spMkLst>
            <pc:docMk/>
            <pc:sldMk cId="1076000178" sldId="2147483519"/>
            <ac:spMk id="7" creationId="{95155744-FD19-1871-1F9C-E514E9EED7B7}"/>
          </ac:spMkLst>
        </pc:spChg>
        <pc:spChg chg="add mod">
          <ac:chgData name="Nellikotte, Vishnu Priya" userId="fea496c0-936e-45ef-943d-e2861ddcc4ed" providerId="ADAL" clId="{12C81B02-640B-4C53-8091-5F123D151428}" dt="2026-06-25T05:35:08.211" v="2"/>
          <ac:spMkLst>
            <pc:docMk/>
            <pc:sldMk cId="1076000178" sldId="2147483519"/>
            <ac:spMk id="8" creationId="{A7FCD63F-0564-2547-45F9-7286262BD69A}"/>
          </ac:spMkLst>
        </pc:spChg>
        <pc:spChg chg="add mod">
          <ac:chgData name="Nellikotte, Vishnu Priya" userId="fea496c0-936e-45ef-943d-e2861ddcc4ed" providerId="ADAL" clId="{12C81B02-640B-4C53-8091-5F123D151428}" dt="2026-06-25T05:47:17.974" v="42"/>
          <ac:spMkLst>
            <pc:docMk/>
            <pc:sldMk cId="1076000178" sldId="2147483519"/>
            <ac:spMk id="9" creationId="{83A54DF8-37B2-39F3-495B-F944A33EFF2A}"/>
          </ac:spMkLst>
        </pc:spChg>
        <pc:spChg chg="add mod">
          <ac:chgData name="Nellikotte, Vishnu Priya" userId="fea496c0-936e-45ef-943d-e2861ddcc4ed" providerId="ADAL" clId="{12C81B02-640B-4C53-8091-5F123D151428}" dt="2026-06-25T05:35:11.001" v="4"/>
          <ac:spMkLst>
            <pc:docMk/>
            <pc:sldMk cId="1076000178" sldId="2147483519"/>
            <ac:spMk id="10" creationId="{3D664F2F-7A73-9F3B-A2A7-B37A9173BCB0}"/>
          </ac:spMkLst>
        </pc:spChg>
      </pc:sldChg>
      <pc:sldChg chg="modSp mod modCm">
        <pc:chgData name="Nellikotte, Vishnu Priya" userId="fea496c0-936e-45ef-943d-e2861ddcc4ed" providerId="ADAL" clId="{12C81B02-640B-4C53-8091-5F123D151428}" dt="2026-06-25T05:47:58.377" v="43" actId="13926"/>
        <pc:sldMkLst>
          <pc:docMk/>
          <pc:sldMk cId="1520626666" sldId="2147483520"/>
        </pc:sldMkLst>
        <pc:spChg chg="mod">
          <ac:chgData name="Nellikotte, Vishnu Priya" userId="fea496c0-936e-45ef-943d-e2861ddcc4ed" providerId="ADAL" clId="{12C81B02-640B-4C53-8091-5F123D151428}" dt="2026-06-25T05:47:58.377" v="43" actId="13926"/>
          <ac:spMkLst>
            <pc:docMk/>
            <pc:sldMk cId="1520626666" sldId="2147483520"/>
            <ac:spMk id="2" creationId="{54EC14C9-0A89-7201-F806-86BD3A03020A}"/>
          </ac:spMkLst>
        </pc:spChg>
        <pc:spChg chg="mod">
          <ac:chgData name="Nellikotte, Vishnu Priya" userId="fea496c0-936e-45ef-943d-e2861ddcc4ed" providerId="ADAL" clId="{12C81B02-640B-4C53-8091-5F123D151428}" dt="2026-06-25T05:46:01.988" v="37" actId="13926"/>
          <ac:spMkLst>
            <pc:docMk/>
            <pc:sldMk cId="1520626666" sldId="2147483520"/>
            <ac:spMk id="25" creationId="{C383C793-2F76-234E-339C-2303A5D9C6BF}"/>
          </ac:spMkLst>
        </pc:spChg>
        <pc:extLst>
          <p:ext xmlns:p="http://schemas.openxmlformats.org/presentationml/2006/main" uri="{D6D511B9-2390-475A-947B-AFAB55BFBCF1}">
            <pc226:cmChg xmlns:pc226="http://schemas.microsoft.com/office/powerpoint/2022/06/main/command" chg="mod">
              <pc226:chgData name="Nellikotte, Vishnu Priya" userId="fea496c0-936e-45ef-943d-e2861ddcc4ed" providerId="ADAL" clId="{12C81B02-640B-4C53-8091-5F123D151428}" dt="2026-06-25T05:45:57.186" v="36" actId="20577"/>
              <pc2:cmMkLst xmlns:pc2="http://schemas.microsoft.com/office/powerpoint/2019/9/main/command">
                <pc:docMk/>
                <pc:sldMk cId="1520626666" sldId="2147483520"/>
                <pc2:cmMk id="{E15E376A-4200-431B-B19B-E4B55AD0330A}"/>
              </pc2:cmMkLst>
            </pc226:cmChg>
          </p:ext>
        </pc:ext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6/26/2026 5:33 PM</a:t>
            </a:fld>
            <a:endParaRPr lang="en-US"/>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6/26/2026 5:32 PM</a:t>
            </a:fld>
            <a:endParaRPr lang="en-US"/>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dirty="0"/>
              <a:t>Welcome to this session on Agentic AI Workflows for Advanced Adaptive SoC Design. This is our 2026.1 Early Access release. </a:t>
            </a:r>
            <a:endParaRPr lang="en-US" dirty="0"/>
          </a:p>
        </p:txBody>
      </p:sp>
      <p:sp>
        <p:nvSpPr>
          <p:cNvPr id="4" name="Footer Placeholder 3"/>
          <p:cNvSpPr>
            <a:spLocks noGrp="1"/>
          </p:cNvSpPr>
          <p:nvPr>
            <p:ph type="ftr" sz="quarter" idx="4"/>
          </p:nvPr>
        </p:nvSpPr>
        <p:spPr/>
        <p:txBody>
          <a:bodyPr/>
          <a:lstStyle/>
          <a:p>
            <a:pPr defTabSz="914099" eaLnBrk="0" hangingPunct="0"/>
            <a:r>
              <a:rPr lang="en-US" dirty="0">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3859595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Today's agenda covers two main areas. </a:t>
            </a:r>
            <a:endParaRPr lang="en-US" dirty="0"/>
          </a:p>
          <a:p>
            <a:endParaRPr lang="en-US" dirty="0"/>
          </a:p>
          <a:p>
            <a:r>
              <a:rPr dirty="0"/>
              <a:t>First, we go deep on execution and workflows</a:t>
            </a:r>
            <a:r>
              <a:rPr lang="en-US" dirty="0"/>
              <a:t>—</a:t>
            </a:r>
            <a:r>
              <a:rPr dirty="0"/>
              <a:t>how the Vivado Execute capability enables closed-loop batch and GUI workflows, and how Agent Skills bring repeatable, deterministic workflows to agentic AI. </a:t>
            </a:r>
            <a:endParaRPr lang="en-US" dirty="0"/>
          </a:p>
          <a:p>
            <a:endParaRPr lang="en-US" dirty="0"/>
          </a:p>
          <a:p>
            <a:r>
              <a:rPr dirty="0"/>
              <a:t>Second, we cover deployment and the ecosystem</a:t>
            </a:r>
            <a:r>
              <a:rPr lang="en-US" dirty="0"/>
              <a:t>—</a:t>
            </a:r>
            <a:r>
              <a:rPr dirty="0"/>
              <a:t>including how to reduce operating costs with local models,</a:t>
            </a:r>
            <a:r>
              <a:rPr lang="en-US" dirty="0"/>
              <a:t> a</a:t>
            </a:r>
            <a:r>
              <a:rPr dirty="0"/>
              <a:t> local knowledge base, and air-gapped solutions, the Vivado </a:t>
            </a:r>
            <a:r>
              <a:rPr lang="en-US" dirty="0"/>
              <a:t>IDE e</a:t>
            </a:r>
            <a:r>
              <a:rPr dirty="0"/>
              <a:t>xtension for VS Code, and how to get started.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B102D-07E7-39A2-8650-593C17406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6EEAF2-7B8B-2946-DB86-BE28C852D2A4}"/>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75FEE6FD-022B-877B-0B30-68682DE22A29}"/>
              </a:ext>
            </a:extLst>
          </p:cNvPr>
          <p:cNvSpPr>
            <a:spLocks noGrp="1"/>
          </p:cNvSpPr>
          <p:nvPr>
            <p:ph type="body" sz="quarter" idx="3"/>
          </p:nvPr>
        </p:nvSpPr>
        <p:spPr/>
        <p:txBody>
          <a:bodyPr/>
          <a:lstStyle/>
          <a:p>
            <a:pPr fontAlgn="t"/>
            <a:r>
              <a:rPr lang="en-US" sz="1200" b="0" i="0" kern="1200" dirty="0">
                <a:solidFill>
                  <a:schemeClr val="tx1"/>
                </a:solidFill>
                <a:effectLst/>
                <a:latin typeface="Arial" panose="020B0604020202020204" pitchFamily="34" charset="0"/>
                <a:ea typeface="+mn-ea"/>
                <a:cs typeface="Arial" panose="020B0604020202020204" pitchFamily="34" charset="0"/>
              </a:rPr>
              <a:t>Let’s start with the execution and workflows—this is where the real value of agentic AI comes in.</a:t>
            </a:r>
          </a:p>
        </p:txBody>
      </p:sp>
      <p:sp>
        <p:nvSpPr>
          <p:cNvPr id="4" name="Slide Number Placeholder 3">
            <a:extLst>
              <a:ext uri="{FF2B5EF4-FFF2-40B4-BE49-F238E27FC236}">
                <a16:creationId xmlns:a16="http://schemas.microsoft.com/office/drawing/2014/main" id="{243876E6-9502-E1E0-F167-957BEDE085E9}"/>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513014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This slide captures the core value of the Vivado AI Assistant: it is not </a:t>
            </a:r>
            <a:r>
              <a:rPr lang="en-US" dirty="0"/>
              <a:t>just </a:t>
            </a:r>
            <a:r>
              <a:rPr dirty="0"/>
              <a:t>the knowledge base alone</a:t>
            </a:r>
            <a:r>
              <a:rPr lang="en-US" dirty="0"/>
              <a:t>—</a:t>
            </a:r>
            <a:r>
              <a:rPr dirty="0"/>
              <a:t>it is the tight integration between the knowledge base and a live Vivado </a:t>
            </a:r>
            <a:r>
              <a:rPr lang="en-US" dirty="0"/>
              <a:t>design tool </a:t>
            </a:r>
            <a:r>
              <a:rPr dirty="0"/>
              <a:t>session. A typical closed-loop debug cycle works like this: the engineer says</a:t>
            </a:r>
            <a:r>
              <a:rPr lang="en-US" dirty="0"/>
              <a:t>,</a:t>
            </a:r>
            <a:r>
              <a:rPr dirty="0"/>
              <a:t> </a:t>
            </a:r>
            <a:r>
              <a:rPr lang="en-US" dirty="0"/>
              <a:t>"R</a:t>
            </a:r>
            <a:r>
              <a:rPr dirty="0"/>
              <a:t>un synthesis on my design</a:t>
            </a:r>
            <a:r>
              <a:rPr lang="en-US" dirty="0"/>
              <a:t>"</a:t>
            </a:r>
            <a:r>
              <a:rPr dirty="0"/>
              <a:t>. </a:t>
            </a:r>
            <a:endParaRPr lang="en-US" dirty="0"/>
          </a:p>
          <a:p>
            <a:endParaRPr lang="en-US" dirty="0"/>
          </a:p>
          <a:p>
            <a:r>
              <a:rPr dirty="0"/>
              <a:t>The AI agent calls </a:t>
            </a:r>
            <a:r>
              <a:rPr dirty="0" err="1"/>
              <a:t>vivado_execute</a:t>
            </a:r>
            <a:r>
              <a:rPr dirty="0"/>
              <a:t> to launch the synthesis run. When synthesis fails, the agent reads the log using </a:t>
            </a:r>
            <a:r>
              <a:rPr dirty="0" err="1"/>
              <a:t>vivado_log_messages</a:t>
            </a:r>
            <a:r>
              <a:rPr dirty="0"/>
              <a:t> and finds error Synth 8-3352. It then calls </a:t>
            </a:r>
            <a:r>
              <a:rPr dirty="0" err="1"/>
              <a:t>vivado_doc_search</a:t>
            </a:r>
            <a:r>
              <a:rPr dirty="0"/>
              <a:t> with that error code and retrieves a </a:t>
            </a:r>
            <a:r>
              <a:rPr lang="en-US" dirty="0"/>
              <a:t>knowledge base article (KBA) </a:t>
            </a:r>
            <a:r>
              <a:rPr dirty="0"/>
              <a:t>with the exact fix and</a:t>
            </a:r>
            <a:r>
              <a:rPr lang="en-US" dirty="0"/>
              <a:t> the</a:t>
            </a:r>
            <a:r>
              <a:rPr dirty="0"/>
              <a:t> </a:t>
            </a:r>
            <a:r>
              <a:rPr lang="en-US" dirty="0"/>
              <a:t>Tcl</a:t>
            </a:r>
            <a:r>
              <a:rPr dirty="0"/>
              <a:t> command. The agent applies the fix with </a:t>
            </a:r>
            <a:r>
              <a:rPr dirty="0" err="1"/>
              <a:t>vivado_execute</a:t>
            </a:r>
            <a:r>
              <a:rPr dirty="0"/>
              <a:t>, then checks run status with </a:t>
            </a:r>
            <a:r>
              <a:rPr dirty="0" err="1"/>
              <a:t>vivado_run_status</a:t>
            </a:r>
            <a:r>
              <a:rPr dirty="0"/>
              <a:t>. Synthesis completes with zero </a:t>
            </a:r>
            <a:r>
              <a:rPr lang="en-US" dirty="0"/>
              <a:t>errors,</a:t>
            </a:r>
            <a:r>
              <a:rPr dirty="0"/>
              <a:t> and the agent reports back</a:t>
            </a:r>
            <a:r>
              <a:rPr lang="en-US" strike="noStrike" dirty="0"/>
              <a:t> </a:t>
            </a:r>
            <a:r>
              <a:rPr lang="en-US" dirty="0"/>
              <a:t>that </a:t>
            </a:r>
            <a:r>
              <a:rPr dirty="0"/>
              <a:t>the error is fixed and synthesis has passed. This entire loop</a:t>
            </a:r>
            <a:r>
              <a:rPr lang="en-US" sz="1200" b="0" i="0" kern="1200" dirty="0">
                <a:solidFill>
                  <a:schemeClr val="tx1"/>
                </a:solidFill>
                <a:effectLst/>
                <a:latin typeface="Arial" panose="020B0604020202020204" pitchFamily="34" charset="0"/>
                <a:ea typeface="+mn-ea"/>
                <a:cs typeface="Arial" panose="020B0604020202020204" pitchFamily="34" charset="0"/>
              </a:rPr>
              <a:t>—</a:t>
            </a:r>
            <a:r>
              <a:rPr dirty="0"/>
              <a:t>from error detection to fix verification</a:t>
            </a:r>
            <a:r>
              <a:rPr lang="en-US" sz="1200" b="0" i="0" kern="1200" dirty="0">
                <a:solidFill>
                  <a:schemeClr val="tx1"/>
                </a:solidFill>
                <a:effectLst/>
                <a:latin typeface="Arial" panose="020B0604020202020204" pitchFamily="34" charset="0"/>
                <a:ea typeface="+mn-ea"/>
                <a:cs typeface="Arial" panose="020B0604020202020204" pitchFamily="34" charset="0"/>
              </a:rPr>
              <a:t>—</a:t>
            </a:r>
            <a:r>
              <a:rPr dirty="0"/>
              <a:t>happens autonomously in a single agent turn.</a:t>
            </a:r>
            <a:endParaRPr lang="en-US" dirty="0"/>
          </a:p>
          <a:p>
            <a:endParaRPr lang="en-US" dirty="0"/>
          </a:p>
          <a:p>
            <a:pPr algn="l"/>
            <a:r>
              <a:rPr lang="en-US" sz="1200" b="0" dirty="0">
                <a:solidFill>
                  <a:srgbClr val="FFFFFF"/>
                </a:solidFill>
                <a:latin typeface="Arial"/>
              </a:rPr>
              <a:t>Users can choose to review the error before applying the fix, or let the agent handle the full flow. </a:t>
            </a:r>
            <a:r>
              <a:rPr lang="en-US" sz="1200" b="0" i="0" kern="1200" dirty="0">
                <a:solidFill>
                  <a:schemeClr val="tx1"/>
                </a:solidFill>
                <a:effectLst/>
                <a:latin typeface="Arial" panose="020B0604020202020204" pitchFamily="34" charset="0"/>
                <a:ea typeface="+mn-ea"/>
                <a:cs typeface="Arial" panose="020B0604020202020204" pitchFamily="34" charset="0"/>
              </a:rPr>
              <a:t>The prompt can be structured accordingly. However, the key takeaway is that the tool is capable of handling the entire flow—from error detection to fix verification—without requiring user intervention.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Now that you understand the closed-loop workflow, let’s look at how the agent actually drives the Vivado IDE.</a:t>
            </a:r>
          </a:p>
          <a:p>
            <a:endParaRPr lang="en-US" dirty="0"/>
          </a:p>
          <a:p>
            <a:r>
              <a:rPr dirty="0"/>
              <a:t>A key question from engineers is whether the MCP server supports both batch mode and GUI mode in </a:t>
            </a:r>
            <a:r>
              <a:rPr lang="en-US" dirty="0"/>
              <a:t>the </a:t>
            </a:r>
            <a:r>
              <a:rPr dirty="0"/>
              <a:t>Vivado</a:t>
            </a:r>
            <a:r>
              <a:rPr lang="en-US" dirty="0"/>
              <a:t> IDE</a:t>
            </a:r>
            <a:r>
              <a:rPr dirty="0"/>
              <a:t>. The answer is yes</a:t>
            </a:r>
            <a:r>
              <a:rPr lang="en-US" dirty="0"/>
              <a:t>—</a:t>
            </a:r>
            <a:r>
              <a:rPr dirty="0"/>
              <a:t>the same 19 MCP tools and the same AI agent work in both modes. </a:t>
            </a:r>
            <a:endParaRPr lang="en-US" dirty="0"/>
          </a:p>
          <a:p>
            <a:endParaRPr lang="en-US" dirty="0"/>
          </a:p>
          <a:p>
            <a:r>
              <a:rPr dirty="0"/>
              <a:t>In batch mode, which is headless and ideal for CI/CD pipelines and regression flows, the agent starts </a:t>
            </a:r>
            <a:r>
              <a:rPr lang="en-US" dirty="0"/>
              <a:t>the </a:t>
            </a:r>
            <a:r>
              <a:rPr dirty="0"/>
              <a:t>Vivado </a:t>
            </a:r>
            <a:r>
              <a:rPr lang="en-US" dirty="0"/>
              <a:t>IDE </a:t>
            </a:r>
            <a:r>
              <a:rPr dirty="0"/>
              <a:t>in </a:t>
            </a:r>
            <a:r>
              <a:rPr lang="en-US" dirty="0"/>
              <a:t>Tcl</a:t>
            </a:r>
            <a:r>
              <a:rPr dirty="0"/>
              <a:t> mode, opens the project, launches synthesis and implementation, monitors status, reads logs, and checks timing</a:t>
            </a:r>
            <a:r>
              <a:rPr lang="en-US" dirty="0"/>
              <a:t>—</a:t>
            </a:r>
            <a:r>
              <a:rPr dirty="0"/>
              <a:t>all without a display. </a:t>
            </a:r>
            <a:endParaRPr lang="en-US" dirty="0"/>
          </a:p>
          <a:p>
            <a:endParaRPr lang="en-US" dirty="0"/>
          </a:p>
          <a:p>
            <a:r>
              <a:rPr dirty="0"/>
              <a:t>In GUI mode, you pass </a:t>
            </a:r>
            <a:r>
              <a:rPr dirty="0" err="1"/>
              <a:t>gui_mode</a:t>
            </a:r>
            <a:r>
              <a:rPr dirty="0"/>
              <a:t>=true to the </a:t>
            </a:r>
            <a:r>
              <a:rPr dirty="0" err="1"/>
              <a:t>vivado_start</a:t>
            </a:r>
            <a:r>
              <a:rPr dirty="0"/>
              <a:t> command and </a:t>
            </a:r>
            <a:r>
              <a:rPr lang="en-US" dirty="0"/>
              <a:t>the </a:t>
            </a:r>
            <a:r>
              <a:rPr dirty="0"/>
              <a:t>Vivado </a:t>
            </a:r>
            <a:r>
              <a:rPr lang="en-US" dirty="0"/>
              <a:t>design tool </a:t>
            </a:r>
            <a:r>
              <a:rPr dirty="0"/>
              <a:t>opens as a full standalone IDE. You see the chat interface in your IDE driving </a:t>
            </a:r>
            <a:r>
              <a:rPr lang="en-US" dirty="0"/>
              <a:t>Tcl</a:t>
            </a:r>
            <a:r>
              <a:rPr dirty="0"/>
              <a:t> commands in the Vivado </a:t>
            </a:r>
            <a:r>
              <a:rPr lang="en-US" dirty="0"/>
              <a:t>Tcl</a:t>
            </a:r>
            <a:r>
              <a:rPr dirty="0"/>
              <a:t> console in real time</a:t>
            </a:r>
            <a:r>
              <a:rPr lang="en-US" dirty="0"/>
              <a:t>—</a:t>
            </a:r>
            <a:r>
              <a:rPr dirty="0"/>
              <a:t>making connections, running design analysis, all visible through the GUI. This is especially useful for timing analysis, device view, and </a:t>
            </a:r>
            <a:r>
              <a:rPr dirty="0" err="1"/>
              <a:t>floorplanning</a:t>
            </a:r>
            <a:r>
              <a:rPr dirty="0"/>
              <a:t> debug</a:t>
            </a:r>
            <a:r>
              <a:rPr lang="en-US" dirty="0"/>
              <a:t>,</a:t>
            </a:r>
            <a:r>
              <a:rPr dirty="0"/>
              <a:t> where visual feedback matters.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Closed-loop execution is powerful, but consistency is critical—and that’s where Agent Skills come in. </a:t>
            </a:r>
            <a:r>
              <a:rPr dirty="0"/>
              <a:t>This slide shows how Agent Skills make agentic AI workflows reliable and deterministic. </a:t>
            </a:r>
            <a:endParaRPr lang="en-US" dirty="0"/>
          </a:p>
          <a:p>
            <a:endParaRPr lang="en-US" dirty="0"/>
          </a:p>
          <a:p>
            <a:r>
              <a:rPr dirty="0"/>
              <a:t>LLMs do not always produce the same output, but hardware engineers need consistent, repeatable workflows. Agent Skills solve this by encoding expert-authored sequences of steps into a simple markdown file. </a:t>
            </a:r>
            <a:endParaRPr lang="en-US" dirty="0"/>
          </a:p>
          <a:p>
            <a:endParaRPr lang="en-US" dirty="0"/>
          </a:p>
          <a:p>
            <a:r>
              <a:rPr dirty="0"/>
              <a:t>The example shown is a congestion analysis skill with four mandatory steps: generate the congestion report, identify hotspot regions by parsing overflow values, perform root</a:t>
            </a:r>
            <a:r>
              <a:rPr lang="en-US" dirty="0"/>
              <a:t>-</a:t>
            </a:r>
            <a:r>
              <a:rPr dirty="0"/>
              <a:t>cause analysis by correlating LUT and BRAM density to congested clock regions, and recommend specific fixes like </a:t>
            </a:r>
            <a:r>
              <a:rPr dirty="0" err="1"/>
              <a:t>Pblock</a:t>
            </a:r>
            <a:r>
              <a:rPr dirty="0"/>
              <a:t> </a:t>
            </a:r>
            <a:r>
              <a:rPr dirty="0" err="1"/>
              <a:t>floorplanning</a:t>
            </a:r>
            <a:r>
              <a:rPr dirty="0"/>
              <a:t>, SLR assignment, synthesis retiming, or </a:t>
            </a:r>
            <a:r>
              <a:rPr dirty="0" err="1"/>
              <a:t>phys</a:t>
            </a:r>
            <a:r>
              <a:rPr dirty="0"/>
              <a:t>-opt fanout replication. </a:t>
            </a:r>
            <a:endParaRPr lang="en-US" dirty="0"/>
          </a:p>
          <a:p>
            <a:endParaRPr lang="en-US" dirty="0"/>
          </a:p>
          <a:p>
            <a:r>
              <a:rPr dirty="0"/>
              <a:t>The output is a structured REPORT.md with real cell names and fix commands. Skills are autonomous, structured</a:t>
            </a:r>
            <a:r>
              <a:rPr lang="en-US" dirty="0"/>
              <a:t> workflow</a:t>
            </a:r>
            <a:r>
              <a:rPr dirty="0"/>
              <a:t>, self-validating, and chainable. </a:t>
            </a:r>
            <a:r>
              <a:rPr lang="en-US" dirty="0"/>
              <a:t>D</a:t>
            </a:r>
            <a:r>
              <a:rPr dirty="0"/>
              <a:t>efine a skill once, share it across teams, and chain multiple skills together for complex multi-step flows.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Now that you’ve seen how a single skill works, let’s look at the broader skill ecosystem AMD is building.</a:t>
            </a:r>
          </a:p>
          <a:p>
            <a:endParaRPr lang="en-US" dirty="0"/>
          </a:p>
          <a:p>
            <a:r>
              <a:rPr dirty="0"/>
              <a:t>AMD is actively developing a library of high-value agent skills for the most common FPGA workflows</a:t>
            </a:r>
            <a:r>
              <a:rPr lang="en-US" dirty="0"/>
              <a:t> across</a:t>
            </a:r>
            <a:r>
              <a:rPr dirty="0"/>
              <a:t> four domains</a:t>
            </a:r>
            <a:r>
              <a:rPr lang="en-US" dirty="0"/>
              <a:t>:</a:t>
            </a:r>
          </a:p>
          <a:p>
            <a:endParaRPr lang="en-US" dirty="0"/>
          </a:p>
          <a:p>
            <a:r>
              <a:rPr dirty="0"/>
              <a:t>Clock and Timing</a:t>
            </a:r>
            <a:r>
              <a:rPr lang="en-US" dirty="0"/>
              <a:t> includes</a:t>
            </a:r>
            <a:r>
              <a:rPr dirty="0"/>
              <a:t> skills for CDC path analysis with XPM_CDC recommendations, clock tree topology review, clock skew optimization, and clock placement failure debug. </a:t>
            </a:r>
            <a:endParaRPr lang="en-US" dirty="0"/>
          </a:p>
          <a:p>
            <a:endParaRPr lang="en-US" dirty="0"/>
          </a:p>
          <a:p>
            <a:r>
              <a:rPr dirty="0"/>
              <a:t>Design Analysis</a:t>
            </a:r>
            <a:r>
              <a:rPr lang="en-US" dirty="0"/>
              <a:t> includes</a:t>
            </a:r>
            <a:r>
              <a:rPr dirty="0"/>
              <a:t> skills for post-synthesis and post-implementation </a:t>
            </a:r>
            <a:r>
              <a:rPr dirty="0" err="1"/>
              <a:t>QoR</a:t>
            </a:r>
            <a:r>
              <a:rPr dirty="0"/>
              <a:t>, congestion analysis, high-fanout net optimization, reset tree verification, DFX floorplan validation, and custom DRC checks. </a:t>
            </a:r>
            <a:endParaRPr lang="en-US" dirty="0"/>
          </a:p>
          <a:p>
            <a:endParaRPr lang="en-US" dirty="0"/>
          </a:p>
          <a:p>
            <a:r>
              <a:rPr dirty="0"/>
              <a:t>Hardware Debug</a:t>
            </a:r>
            <a:r>
              <a:rPr lang="en-US" dirty="0"/>
              <a:t> includes skills for </a:t>
            </a:r>
            <a:r>
              <a:rPr dirty="0"/>
              <a:t>ILA probe insertion, NoC compiler failure analysis, NoC performance monitoring, PCIe link training debug, and DDR calibration failure analysis. </a:t>
            </a:r>
            <a:endParaRPr lang="en-US" dirty="0"/>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Platform-specific skills include Versal timing closure methodology and multi-run strategy comparison. </a:t>
            </a:r>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These skills are work in progress and more will be released throughout the year. Users are also free to write custom skills—skills are plain-text markdown files that any engineer can author and share.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37960-8982-D1AF-01AD-EB3C5926B1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79558E-A595-3B46-B62F-BBFBD4F495E7}"/>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4EB0C97E-1660-34C4-CA78-7FBB1A9AF071}"/>
              </a:ext>
            </a:extLst>
          </p:cNvPr>
          <p:cNvSpPr>
            <a:spLocks noGrp="1"/>
          </p:cNvSpPr>
          <p:nvPr>
            <p:ph type="body" sz="quarter" idx="3"/>
          </p:nvPr>
        </p:nvSpPr>
        <p:spPr/>
        <p:txBody>
          <a:bodyPr/>
          <a:lstStyle/>
          <a:p>
            <a:pPr fontAlgn="t"/>
            <a:r>
              <a:rPr lang="en-US" sz="1200" b="0" i="0" kern="1200" dirty="0">
                <a:solidFill>
                  <a:schemeClr val="tx1"/>
                </a:solidFill>
                <a:effectLst/>
                <a:latin typeface="Arial" panose="020B0604020202020204" pitchFamily="34" charset="0"/>
                <a:ea typeface="+mn-ea"/>
                <a:cs typeface="Arial" panose="020B0604020202020204" pitchFamily="34" charset="0"/>
              </a:rPr>
              <a:t>So far, you’ve focused on execution and workflows. Now let’s shift to the second part of the agenda—deployment and ecosystem.</a:t>
            </a:r>
          </a:p>
        </p:txBody>
      </p:sp>
      <p:sp>
        <p:nvSpPr>
          <p:cNvPr id="4" name="Slide Number Placeholder 3">
            <a:extLst>
              <a:ext uri="{FF2B5EF4-FFF2-40B4-BE49-F238E27FC236}">
                <a16:creationId xmlns:a16="http://schemas.microsoft.com/office/drawing/2014/main" id="{06A0DA7A-F9ED-6B54-9695-BAA2DD06EE24}"/>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2595781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We recognize that enterprise customers, especially in defense and government, need to minimize cloud costs and keep all data on-premises. </a:t>
            </a:r>
            <a:endParaRPr lang="en-US" dirty="0"/>
          </a:p>
          <a:p>
            <a:endParaRPr lang="en-US" dirty="0"/>
          </a:p>
          <a:p>
            <a:r>
              <a:rPr dirty="0"/>
              <a:t>Our architecture supports a fully local, air-gapped deployment. We validated this internally using an AMD Strix Halo Mini PC with 128 GB RAM and an integrated GPU, running the Qwen 3.5 35-billion parameter model via </a:t>
            </a:r>
            <a:r>
              <a:rPr dirty="0" err="1"/>
              <a:t>OpenCode</a:t>
            </a:r>
            <a:r>
              <a:rPr dirty="0"/>
              <a:t> CLI and Lemonade Server for local inference. </a:t>
            </a:r>
            <a:endParaRPr lang="en-US" dirty="0"/>
          </a:p>
          <a:p>
            <a:endParaRPr lang="en-US" dirty="0"/>
          </a:p>
          <a:p>
            <a:r>
              <a:rPr dirty="0"/>
              <a:t>The MCP server with all 19 tools was deployed locally, and even the knowledge base Docker container ran on localhost. No API keys, no cloud subscriptions, no data leaving the machine. </a:t>
            </a:r>
            <a:endParaRPr lang="en-US" dirty="0"/>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modular architecture also allows each component to be updated independently, making the system flexible and future-ready. It also enables cost-performance optimization. While local models may need more iterations than frontier models today, this will improve as open-source models advance. Overall, local deployment offers a secure and cost-efficient approach for agentic AI workflows.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However, local LLMs are not yet as capable as frontier models like Claude or GPT. Complex multi-step reasoning and code generation may require more iterations and produce less precise results. </a:t>
            </a:r>
          </a:p>
          <a:p>
            <a:endParaRPr lang="en-US" dirty="0"/>
          </a:p>
          <a:p>
            <a:r>
              <a:rPr lang="en-US" dirty="0"/>
              <a:t>You may also need to tune MCP server parameters to manage context window size and reduce token consumption. The architecture is modular and LLM-agnostic—you can swap the LLM or scale to cloud frontier models as needed. </a:t>
            </a:r>
          </a:p>
          <a:p>
            <a:endParaRPr lang="en-US" dirty="0"/>
          </a:p>
          <a:p>
            <a:r>
              <a:rPr lang="en-US" dirty="0"/>
              <a:t>We see local deployment as an important future direction for customers with strict operative expenses and security constraints as local LLMs can run offline in air-gapped environment whereas frontier models require a network access. </a:t>
            </a:r>
          </a:p>
          <a:p>
            <a:pPr marL="171450" indent="-171450">
              <a:spcBef>
                <a:spcPts val="300"/>
              </a:spcBef>
              <a:buFont typeface="Arial" panose="020B0604020202020204" pitchFamily="34" charset="0"/>
              <a:buChar char="•"/>
            </a:pPr>
            <a:endParaRPr lang="en-US" sz="1200" dirty="0">
              <a:solidFill>
                <a:schemeClr val="tx1"/>
              </a:solidFill>
              <a:latin typeface="Arial" panose="020B0604020202020204" pitchFamily="34" charset="0"/>
            </a:endParaRPr>
          </a:p>
          <a:p>
            <a:pPr marL="0" indent="0">
              <a:spcBef>
                <a:spcPts val="300"/>
              </a:spcBef>
              <a:buFont typeface="Arial" panose="020B0604020202020204" pitchFamily="34" charset="0"/>
              <a:buNone/>
            </a:pPr>
            <a:r>
              <a:rPr lang="en-US" sz="1200" dirty="0">
                <a:solidFill>
                  <a:schemeClr val="tx1"/>
                </a:solidFill>
                <a:latin typeface="Arial" panose="020B0604020202020204" pitchFamily="34" charset="0"/>
              </a:rPr>
              <a:t>MCP architecture is LLM-agnostic, ensuring the stack works today with local models and improves as open-source </a:t>
            </a:r>
            <a:r>
              <a:rPr lang="en-US" sz="1200">
                <a:solidFill>
                  <a:schemeClr val="tx1"/>
                </a:solidFill>
                <a:latin typeface="Arial" panose="020B0604020202020204" pitchFamily="34" charset="0"/>
              </a:rPr>
              <a:t>LLMs advance.</a:t>
            </a:r>
            <a:endParaRPr lang="en-US" sz="1200" dirty="0">
              <a:solidFill>
                <a:schemeClr val="tx1"/>
              </a:solidFill>
              <a:latin typeface="Arial" panose="020B0604020202020204" pitchFamily="34" charset="0"/>
            </a:endParaRPr>
          </a:p>
        </p:txBody>
      </p:sp>
      <p:sp>
        <p:nvSpPr>
          <p:cNvPr id="4" name="Footer Placeholder 3"/>
          <p:cNvSpPr>
            <a:spLocks noGrp="1"/>
          </p:cNvSpPr>
          <p:nvPr>
            <p:ph type="ftr" sz="quarter" idx="4"/>
          </p:nvPr>
        </p:nvSpPr>
        <p:spPr/>
        <p:txBody>
          <a:bodyPr/>
          <a:lstStyle/>
          <a:p>
            <a:pPr defTabSz="914099" eaLnBrk="0" hangingPunct="0"/>
            <a:r>
              <a:rPr lang="en-US">
                <a:ea typeface="Segoe UI" pitchFamily="34" charset="0"/>
              </a:rPr>
              <a:t>© Advanced Micro Devices, Inc. All rights reserved. Confidential – Not for distribution.</a:t>
            </a:r>
          </a:p>
        </p:txBody>
      </p:sp>
      <p:sp>
        <p:nvSpPr>
          <p:cNvPr id="5" name="Slide Number Placeholder 4"/>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31812176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Today, users have two separate UIs: their IDE or CLI and the standalone </a:t>
            </a:r>
            <a:r>
              <a:rPr dirty="0" err="1"/>
              <a:t>Vivado</a:t>
            </a:r>
            <a:r>
              <a:rPr dirty="0"/>
              <a:t> GUI running in parallel. To unify this experience, AMD </a:t>
            </a:r>
            <a:r>
              <a:rPr lang="en-US" dirty="0"/>
              <a:t>is developing the </a:t>
            </a:r>
            <a:r>
              <a:rPr dirty="0"/>
              <a:t>Vivado </a:t>
            </a:r>
            <a:r>
              <a:rPr lang="en-US" dirty="0"/>
              <a:t>tool e</a:t>
            </a:r>
            <a:r>
              <a:rPr dirty="0"/>
              <a:t>xtension for VS Code, which brings key Vivado </a:t>
            </a:r>
            <a:r>
              <a:rPr lang="en-US" dirty="0"/>
              <a:t>design tool </a:t>
            </a:r>
            <a:r>
              <a:rPr dirty="0"/>
              <a:t>UI elements directly into the VS Code interface. </a:t>
            </a:r>
            <a:endParaRPr lang="en-US" dirty="0"/>
          </a:p>
          <a:p>
            <a:endParaRPr lang="en-US" dirty="0"/>
          </a:p>
          <a:p>
            <a:r>
              <a:rPr dirty="0"/>
              <a:t>Features include the IP Catalog browser for search, configure, and generate; IP Integrator block</a:t>
            </a:r>
            <a:r>
              <a:rPr lang="en-US" dirty="0"/>
              <a:t>-</a:t>
            </a:r>
            <a:r>
              <a:rPr dirty="0"/>
              <a:t>design visualization; schematic viewer for RTL and synthesized netlists; device view with </a:t>
            </a:r>
            <a:r>
              <a:rPr dirty="0" err="1"/>
              <a:t>floorplanning</a:t>
            </a:r>
            <a:r>
              <a:rPr dirty="0"/>
              <a:t>; and interactive signal tracing and cross-probing. </a:t>
            </a:r>
            <a:endParaRPr lang="en-US" dirty="0"/>
          </a:p>
          <a:p>
            <a:endParaRPr lang="en-US" dirty="0"/>
          </a:p>
          <a:p>
            <a:r>
              <a:rPr dirty="0"/>
              <a:t>AI-powered features include the Ask AI panel for natural</a:t>
            </a:r>
            <a:r>
              <a:rPr lang="en-US" dirty="0"/>
              <a:t>-</a:t>
            </a:r>
            <a:r>
              <a:rPr dirty="0"/>
              <a:t>language design queries, an MCP-backed </a:t>
            </a:r>
            <a:r>
              <a:rPr lang="en-US" dirty="0"/>
              <a:t>Tcl</a:t>
            </a:r>
            <a:r>
              <a:rPr dirty="0"/>
              <a:t> terminal for smart execution, and context-aware suggestions from the open design. </a:t>
            </a:r>
            <a:endParaRPr lang="en-US" dirty="0"/>
          </a:p>
          <a:p>
            <a:endParaRPr lang="en-US" dirty="0"/>
          </a:p>
          <a:p>
            <a:r>
              <a:rPr dirty="0"/>
              <a:t>Build and run management is also integrated</a:t>
            </a:r>
            <a:r>
              <a:rPr lang="en-US" dirty="0"/>
              <a:t>—</a:t>
            </a:r>
            <a:r>
              <a:rPr dirty="0"/>
              <a:t>synthesis and implementation, real-time log monitoring, and timing summary at a glance. This extension is a work in progress and is not </a:t>
            </a:r>
            <a:r>
              <a:rPr lang="en-US" dirty="0"/>
              <a:t>part of </a:t>
            </a:r>
            <a:r>
              <a:rPr dirty="0"/>
              <a:t>the first EA release, but it represents our vision for a unified, one-stop agentic AI experience inside VS Code.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In addition to the MCP server, you can access the AMD knowledge base through a simple web portal. </a:t>
            </a:r>
            <a:endParaRPr lang="en-US" dirty="0"/>
          </a:p>
          <a:p>
            <a:endParaRPr lang="en-US" dirty="0"/>
          </a:p>
          <a:p>
            <a:r>
              <a:rPr dirty="0"/>
              <a:t>Go to vivado.amd.com/chat and ask natural language questions</a:t>
            </a:r>
            <a:r>
              <a:rPr lang="en-US" dirty="0"/>
              <a:t>—</a:t>
            </a:r>
            <a:r>
              <a:rPr dirty="0"/>
              <a:t>no Vivado installation or IDE setup required. This is ideal for system architects evaluating devices, comparing IPs, or exploring design options before they have a project open in </a:t>
            </a:r>
            <a:r>
              <a:rPr dirty="0" err="1"/>
              <a:t>Vivado</a:t>
            </a:r>
            <a:r>
              <a:rPr dirty="0"/>
              <a:t>. </a:t>
            </a:r>
            <a:endParaRPr lang="en-US" dirty="0"/>
          </a:p>
          <a:p>
            <a:endParaRPr lang="en-US" dirty="0"/>
          </a:p>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The web portal connects to the same AMD network-hosted documentation database, ensuring you receive the same retrieval-augmented generation (RAG) powered responses—with citations—as the MCP server. </a:t>
            </a:r>
            <a:r>
              <a:rPr dirty="0"/>
              <a:t>It is a one-stop shop for any Vivado </a:t>
            </a:r>
            <a:r>
              <a:rPr lang="en-US" dirty="0"/>
              <a:t>IDE </a:t>
            </a:r>
            <a:r>
              <a:rPr dirty="0"/>
              <a:t>or AMD device-related question, accessible from any browser.</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200" b="0" i="0" kern="1200" dirty="0">
                <a:solidFill>
                  <a:schemeClr val="tx1"/>
                </a:solidFill>
                <a:effectLst/>
                <a:latin typeface="Arial" panose="020B0604020202020204" pitchFamily="34" charset="0"/>
                <a:ea typeface="+mn-ea"/>
                <a:cs typeface="Arial" panose="020B0604020202020204" pitchFamily="34" charset="0"/>
              </a:rPr>
              <a:t>With the workflows and ecosystem in place, let’s look at how you can get started.</a:t>
            </a:r>
          </a:p>
          <a:p>
            <a:endParaRPr lang="en-US" dirty="0"/>
          </a:p>
          <a:p>
            <a:r>
              <a:rPr dirty="0"/>
              <a:t>Getting started is straightforward through the </a:t>
            </a:r>
            <a:r>
              <a:rPr lang="en-US" dirty="0"/>
              <a:t>early access program</a:t>
            </a:r>
            <a:r>
              <a:rPr dirty="0"/>
              <a:t>. Through the EA </a:t>
            </a:r>
            <a:r>
              <a:rPr lang="en-US" dirty="0"/>
              <a:t>secure site</a:t>
            </a:r>
            <a:r>
              <a:rPr dirty="0"/>
              <a:t>, customers and field engineers get access to four key resources: </a:t>
            </a:r>
            <a:endParaRPr lang="en-US" dirty="0"/>
          </a:p>
          <a:p>
            <a:pPr marL="171450" indent="-171450">
              <a:buFont typeface="Arial" panose="020B0604020202020204" pitchFamily="34" charset="0"/>
              <a:buChar char="•"/>
            </a:pPr>
            <a:r>
              <a:rPr lang="en-US" dirty="0"/>
              <a:t>T</a:t>
            </a:r>
            <a:r>
              <a:rPr dirty="0"/>
              <a:t>he AMD Vivado MCP Server</a:t>
            </a:r>
            <a:r>
              <a:rPr lang="en-US" dirty="0"/>
              <a:t>—</a:t>
            </a:r>
            <a:r>
              <a:rPr dirty="0"/>
              <a:t>installable on Windows and Linux, compatible with any MCP-capable IDE or CLI; </a:t>
            </a:r>
            <a:endParaRPr lang="en-US" dirty="0"/>
          </a:p>
          <a:p>
            <a:pPr marL="171450" indent="-171450">
              <a:buFont typeface="Arial" panose="020B0604020202020204" pitchFamily="34" charset="0"/>
              <a:buChar char="•"/>
            </a:pPr>
            <a:r>
              <a:rPr lang="en-US" dirty="0"/>
              <a:t>P</a:t>
            </a:r>
            <a:r>
              <a:rPr dirty="0"/>
              <a:t>re-built Agent Skills for common FPGA workflows, ready to use out of the box; </a:t>
            </a:r>
            <a:endParaRPr lang="en-US" dirty="0"/>
          </a:p>
          <a:p>
            <a:pPr marL="171450" indent="-171450">
              <a:buFont typeface="Arial" panose="020B0604020202020204" pitchFamily="34" charset="0"/>
              <a:buChar char="•"/>
            </a:pPr>
            <a:r>
              <a:rPr dirty="0"/>
              <a:t>Example </a:t>
            </a:r>
            <a:r>
              <a:rPr lang="en-US" dirty="0"/>
              <a:t>D</a:t>
            </a:r>
            <a:r>
              <a:rPr dirty="0"/>
              <a:t>esigns</a:t>
            </a:r>
            <a:r>
              <a:rPr lang="en-US" dirty="0"/>
              <a:t>—</a:t>
            </a:r>
            <a:r>
              <a:rPr dirty="0"/>
              <a:t>reference projects to </a:t>
            </a:r>
            <a:r>
              <a:rPr lang="en-US" dirty="0"/>
              <a:t>run and </a:t>
            </a:r>
            <a:r>
              <a:rPr dirty="0"/>
              <a:t>validate your agentic AI setup end-to-end; and </a:t>
            </a:r>
            <a:endParaRPr lang="en-US" dirty="0"/>
          </a:p>
          <a:p>
            <a:pPr marL="171450" indent="-171450">
              <a:buFont typeface="Arial" panose="020B0604020202020204" pitchFamily="34" charset="0"/>
              <a:buChar char="•"/>
            </a:pPr>
            <a:r>
              <a:rPr dirty="0"/>
              <a:t>Dedicated AMD Engineering Support</a:t>
            </a:r>
            <a:r>
              <a:rPr lang="en-US" dirty="0"/>
              <a:t>—</a:t>
            </a:r>
            <a:r>
              <a:rPr dirty="0"/>
              <a:t>direct access to AMD engineers for onboarding, debugging, and feedback. </a:t>
            </a:r>
            <a:endParaRPr lang="en-US" dirty="0"/>
          </a:p>
          <a:p>
            <a:endParaRPr lang="en-US" dirty="0"/>
          </a:p>
          <a:p>
            <a:r>
              <a:rPr dirty="0"/>
              <a:t>To get access, contact your FAE to participate in the Early Access Program. Access is limited to approved EA customers.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Here are the specific next steps for everyone on this call. </a:t>
            </a:r>
            <a:endParaRPr lang="en-US" dirty="0"/>
          </a:p>
          <a:p>
            <a:endParaRPr lang="en-US" dirty="0"/>
          </a:p>
          <a:p>
            <a:r>
              <a:rPr dirty="0"/>
              <a:t>Request direct access to the EA lounge at</a:t>
            </a:r>
            <a:r>
              <a:rPr lang="en-US" dirty="0"/>
              <a:t> </a:t>
            </a:r>
            <a:r>
              <a:rPr lang="en-US" sz="1200" b="0" i="0" kern="1200" dirty="0">
                <a:solidFill>
                  <a:schemeClr val="tx1"/>
                </a:solidFill>
                <a:effectLst/>
                <a:latin typeface="Arial" panose="020B0604020202020204" pitchFamily="34" charset="0"/>
                <a:ea typeface="+mn-ea"/>
                <a:cs typeface="Arial" panose="020B0604020202020204" pitchFamily="34" charset="0"/>
              </a:rPr>
              <a:t>the provided</a:t>
            </a:r>
            <a:r>
              <a:rPr lang="en-US" dirty="0"/>
              <a:t> link. </a:t>
            </a:r>
            <a:r>
              <a:rPr dirty="0"/>
              <a:t>Once approved, follow instructions in the lounge to join the private support forum. </a:t>
            </a:r>
            <a:endParaRPr lang="en-US"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Arial" panose="020B0604020202020204" pitchFamily="34" charset="0"/>
                <a:ea typeface="+mn-ea"/>
                <a:cs typeface="Arial" panose="020B0604020202020204" pitchFamily="34" charset="0"/>
              </a:rPr>
              <a:t>The AMD Vivado AI Assistant enhances design productivity with intelligent, agent-driven workflows that automatically detect, fix, and validate issues end-to-end. It enables consistent and scalable FPGA design through reusable Agent Skills, while offering flexible deployment options across local, cloud, and air-gapped environments to meet performance, cost, and security needs. Seamlessly integrated with Vivado tools, it delivers real-time, context-aware insights that accelerate debugging and optimization, ensuring a more efficient and unified design experience.</a:t>
            </a:r>
          </a:p>
        </p:txBody>
      </p:sp>
      <p:sp>
        <p:nvSpPr>
          <p:cNvPr id="4" name="Slide Number Placeholder 3"/>
          <p:cNvSpPr>
            <a:spLocks noGrp="1"/>
          </p:cNvSpPr>
          <p:nvPr>
            <p:ph type="sldNum" sz="quarter" idx="5"/>
          </p:nvPr>
        </p:nvSpPr>
        <p:spPr/>
        <p:txBody>
          <a:bodyPr/>
          <a:lstStyle/>
          <a:p>
            <a:fld id="{A9D42829-8409-4711-B36D-25AE5703B863}" type="slidenum">
              <a:rPr lang="en-US" smtClean="0"/>
              <a:pPr/>
              <a:t>15</a:t>
            </a:fld>
            <a:endParaRPr lang="en-US" dirty="0"/>
          </a:p>
        </p:txBody>
      </p:sp>
    </p:spTree>
    <p:extLst>
      <p:ext uri="{BB962C8B-B14F-4D97-AF65-F5344CB8AC3E}">
        <p14:creationId xmlns:p14="http://schemas.microsoft.com/office/powerpoint/2010/main" val="2414738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rPr dirty="0"/>
              <a:t>Thank you for joining this session on Agentic AI Workflows for Advanced Adaptive SoC Design. </a:t>
            </a:r>
            <a:endParaRPr lang="en-US" dirty="0"/>
          </a:p>
          <a:p>
            <a:endParaRPr lang="en-US" dirty="0"/>
          </a:p>
          <a:p>
            <a:r>
              <a:rPr dirty="0"/>
              <a:t>For questions, reach out through the Early Access forum or the #vivado_general Slack channel.</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 Id="rId4"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descr="A blue and white image of a computer screen&#10;&#10;Description automatically generated with medium confidence">
            <a:extLst>
              <a:ext uri="{FF2B5EF4-FFF2-40B4-BE49-F238E27FC236}">
                <a16:creationId xmlns:a16="http://schemas.microsoft.com/office/drawing/2014/main" id="{669DED29-9C17-C0BF-91F4-D1CFD5321CA4}"/>
              </a:ext>
            </a:extLst>
          </p:cNvPr>
          <p:cNvPicPr>
            <a:picLocks noChangeAspect="1"/>
          </p:cNvPicPr>
          <p:nvPr userDrawn="1"/>
        </p:nvPicPr>
        <p:blipFill>
          <a:blip r:embed="rId3"/>
          <a:stretch>
            <a:fillRect/>
          </a:stretch>
        </p:blipFill>
        <p:spPr>
          <a:xfrm>
            <a:off x="0" y="0"/>
            <a:ext cx="12192000" cy="6858000"/>
          </a:xfrm>
          <a:prstGeom prst="rect">
            <a:avLst/>
          </a:prstGeom>
        </p:spPr>
      </p:pic>
      <p:pic>
        <p:nvPicPr>
          <p:cNvPr id="4" name="Picture 3" descr="A picture containing text, clipart&#10;&#10;Description automatically generated">
            <a:extLst>
              <a:ext uri="{FF2B5EF4-FFF2-40B4-BE49-F238E27FC236}">
                <a16:creationId xmlns:a16="http://schemas.microsoft.com/office/drawing/2014/main" id="{A9DEDAF5-6B21-2EF2-E071-19FB64A2798D}"/>
              </a:ext>
            </a:extLst>
          </p:cNvPr>
          <p:cNvPicPr>
            <a:picLocks noChangeAspect="1"/>
          </p:cNvPicPr>
          <p:nvPr userDrawn="1"/>
        </p:nvPicPr>
        <p:blipFill>
          <a:blip r:embed="rId4"/>
          <a:stretch>
            <a:fillRect/>
          </a:stretch>
        </p:blipFill>
        <p:spPr>
          <a:xfrm>
            <a:off x="789410" y="5236464"/>
            <a:ext cx="2359024" cy="671874"/>
          </a:xfrm>
          <a:prstGeom prst="rect">
            <a:avLst/>
          </a:prstGeom>
        </p:spPr>
      </p:pic>
      <p:sp>
        <p:nvSpPr>
          <p:cNvPr id="12" name="Text Placeholder 4">
            <a:extLst>
              <a:ext uri="{FF2B5EF4-FFF2-40B4-BE49-F238E27FC236}">
                <a16:creationId xmlns:a16="http://schemas.microsoft.com/office/drawing/2014/main" id="{337976E5-E6CB-397E-A330-6B9BD4B1D037}"/>
              </a:ext>
            </a:extLst>
          </p:cNvPr>
          <p:cNvSpPr>
            <a:spLocks noGrp="1"/>
          </p:cNvSpPr>
          <p:nvPr>
            <p:ph type="body" sz="quarter" idx="13" hasCustomPrompt="1"/>
          </p:nvPr>
        </p:nvSpPr>
        <p:spPr>
          <a:xfrm>
            <a:off x="789410" y="3875650"/>
            <a:ext cx="5306590" cy="276999"/>
          </a:xfrm>
          <a:noFill/>
        </p:spPr>
        <p:txBody>
          <a:bodyPr wrap="square" lIns="0" tIns="0" rIns="0" bIns="0">
            <a:spAutoFit/>
          </a:bodyPr>
          <a:lstStyle>
            <a:lvl1pPr marL="0" indent="0">
              <a:spcBef>
                <a:spcPts val="0"/>
              </a:spcBef>
              <a:buNone/>
              <a:defRPr sz="1800" b="1" spc="0" baseline="0">
                <a:solidFill>
                  <a:schemeClr val="bg1"/>
                </a:solidFill>
                <a:latin typeface="+mn-lt"/>
                <a:cs typeface="Segoe UI" panose="020B0502040204020203" pitchFamily="34" charset="0"/>
              </a:defRPr>
            </a:lvl1pPr>
          </a:lstStyle>
          <a:p>
            <a:pPr lvl="0"/>
            <a:r>
              <a:rPr lang="en-US"/>
              <a:t>Speaker name or subtitle text</a:t>
            </a:r>
          </a:p>
        </p:txBody>
      </p:sp>
      <p:pic>
        <p:nvPicPr>
          <p:cNvPr id="3" name="Picture 2" descr="A black and white text&#10;&#10;Description automatically generated">
            <a:extLst>
              <a:ext uri="{FF2B5EF4-FFF2-40B4-BE49-F238E27FC236}">
                <a16:creationId xmlns:a16="http://schemas.microsoft.com/office/drawing/2014/main" id="{F46FF50D-25D7-B0C1-7DF1-6C9D1014381A}"/>
              </a:ext>
            </a:extLst>
          </p:cNvPr>
          <p:cNvPicPr>
            <a:picLocks noChangeAspect="1"/>
          </p:cNvPicPr>
          <p:nvPr userDrawn="1"/>
        </p:nvPicPr>
        <p:blipFill>
          <a:blip r:embed="rId5"/>
          <a:stretch>
            <a:fillRect/>
          </a:stretch>
        </p:blipFill>
        <p:spPr>
          <a:xfrm>
            <a:off x="726689" y="2370061"/>
            <a:ext cx="5425889" cy="1137792"/>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6548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49191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a:t>Drop Image</a:t>
            </a:r>
          </a:p>
        </p:txBody>
      </p:sp>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B1292EB1-7762-6E34-6603-4920658B6195}"/>
              </a:ext>
            </a:extLst>
          </p:cNvPr>
          <p:cNvPicPr>
            <a:picLocks noChangeAspect="1"/>
          </p:cNvPicPr>
          <p:nvPr userDrawn="1"/>
        </p:nvPicPr>
        <p:blipFill>
          <a:blip r:embed="rId2"/>
          <a:stretch>
            <a:fillRect/>
          </a:stretch>
        </p:blipFill>
        <p:spPr>
          <a:xfrm>
            <a:off x="585217" y="5449153"/>
            <a:ext cx="2176078" cy="518616"/>
          </a:xfrm>
          <a:prstGeom prst="rect">
            <a:avLst/>
          </a:prstGeom>
        </p:spPr>
      </p:pic>
      <p:cxnSp>
        <p:nvCxnSpPr>
          <p:cNvPr id="8" name="Straight Connector 7">
            <a:extLst>
              <a:ext uri="{FF2B5EF4-FFF2-40B4-BE49-F238E27FC236}">
                <a16:creationId xmlns:a16="http://schemas.microsoft.com/office/drawing/2014/main" id="{672DE360-D2EF-AF2E-F15C-F37A51488D6C}"/>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385354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a:t>Click to edit heading </a:t>
            </a:r>
            <a:endParaRPr lang="en-GB"/>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solidFill>
                  <a:schemeClr val="bg1"/>
                </a:solidFill>
              </a:defRPr>
            </a:lvl1pPr>
            <a:lvl2pPr>
              <a:defRPr sz="1200">
                <a:solidFill>
                  <a:schemeClr val="bg1"/>
                </a:solidFill>
              </a:defRPr>
            </a:lvl2pPr>
            <a:lvl3pPr>
              <a:defRPr sz="105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solidFill>
                  <a:schemeClr val="bg1"/>
                </a:solidFill>
              </a:defRPr>
            </a:lvl1pPr>
            <a:lvl2pPr marL="0" indent="0" algn="ctr">
              <a:buNone/>
              <a:defRPr sz="1800" b="1">
                <a:solidFill>
                  <a:schemeClr val="bg1"/>
                </a:solidFill>
              </a:defRPr>
            </a:lvl2pPr>
            <a:lvl3pPr marL="0" indent="0" algn="ctr">
              <a:buNone/>
              <a:defRPr sz="1800" b="1">
                <a:solidFill>
                  <a:schemeClr val="bg1"/>
                </a:solidFill>
              </a:defRPr>
            </a:lvl3pPr>
            <a:lvl4pPr marL="0" indent="0" algn="ctr">
              <a:buNone/>
              <a:defRPr sz="1800" b="1">
                <a:solidFill>
                  <a:schemeClr val="bg1"/>
                </a:solidFill>
              </a:defRPr>
            </a:lvl4pPr>
            <a:lvl5pPr marL="0" indent="0" algn="ctr">
              <a:buNone/>
              <a:defRPr sz="1800" b="1">
                <a:solidFill>
                  <a:schemeClr val="bg1"/>
                </a:solidFill>
              </a:defRPr>
            </a:lvl5pPr>
          </a:lstStyle>
          <a:p>
            <a:pPr lvl="0"/>
            <a:r>
              <a:rPr lang="en-US"/>
              <a:t>Click to add heading</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p>
        </p:txBody>
      </p:sp>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tx1"/>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a:t>#</a:t>
            </a:r>
            <a:endParaRPr lang="en-GB"/>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a:t>Click to add heading</a:t>
            </a:r>
            <a:endParaRPr lang="en-GB"/>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emo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A2802B-E53E-DE2F-F004-C87A3E6C68D9}"/>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
        <p:nvSpPr>
          <p:cNvPr id="8" name="Text Placeholder 4">
            <a:extLst>
              <a:ext uri="{FF2B5EF4-FFF2-40B4-BE49-F238E27FC236}">
                <a16:creationId xmlns:a16="http://schemas.microsoft.com/office/drawing/2014/main" id="{37179CAA-7E14-18FA-D488-C772A909D1A4}"/>
              </a:ext>
            </a:extLst>
          </p:cNvPr>
          <p:cNvSpPr>
            <a:spLocks noGrp="1"/>
          </p:cNvSpPr>
          <p:nvPr>
            <p:ph type="body" sz="quarter" idx="13"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a:t>Speaker name</a:t>
            </a:r>
          </a:p>
        </p:txBody>
      </p:sp>
      <p:sp>
        <p:nvSpPr>
          <p:cNvPr id="10" name="Title 1">
            <a:extLst>
              <a:ext uri="{FF2B5EF4-FFF2-40B4-BE49-F238E27FC236}">
                <a16:creationId xmlns:a16="http://schemas.microsoft.com/office/drawing/2014/main" id="{C84B6F08-BC59-2EF3-5DC2-EF289F453945}"/>
              </a:ext>
            </a:extLst>
          </p:cNvPr>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a:t>Demo title</a:t>
            </a:r>
          </a:p>
        </p:txBody>
      </p:sp>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1_Demo slid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89C8DC4-C1F0-82AC-370B-B9BD89BDCCD3}"/>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a:p>
        </p:txBody>
      </p:sp>
      <p:sp>
        <p:nvSpPr>
          <p:cNvPr id="9" name="Text Placeholder 9">
            <a:extLst>
              <a:ext uri="{FF2B5EF4-FFF2-40B4-BE49-F238E27FC236}">
                <a16:creationId xmlns:a16="http://schemas.microsoft.com/office/drawing/2014/main" id="{A2CE2AF8-382D-16AD-B30D-3668C415DB42}"/>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10" name="Picture 9">
            <a:extLst>
              <a:ext uri="{FF2B5EF4-FFF2-40B4-BE49-F238E27FC236}">
                <a16:creationId xmlns:a16="http://schemas.microsoft.com/office/drawing/2014/main" id="{A20BC915-575B-40EE-EBE5-8E4CCE3EE2AD}"/>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58851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err="1">
              <a:solidFill>
                <a:schemeClr val="tx1"/>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9174F148-C6D8-A5D3-5FB2-5637B1F6328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2_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41215"/>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a:t>EVENT NAME OR PRESENTATION TITLE </a:t>
            </a:r>
          </a:p>
        </p:txBody>
      </p:sp>
      <p:sp>
        <p:nvSpPr>
          <p:cNvPr id="12" name="Text Placeholder 4">
            <a:extLst>
              <a:ext uri="{FF2B5EF4-FFF2-40B4-BE49-F238E27FC236}">
                <a16:creationId xmlns:a16="http://schemas.microsoft.com/office/drawing/2014/main" id="{337976E5-E6CB-397E-A330-6B9BD4B1D037}"/>
              </a:ext>
            </a:extLst>
          </p:cNvPr>
          <p:cNvSpPr>
            <a:spLocks noGrp="1"/>
          </p:cNvSpPr>
          <p:nvPr>
            <p:ph type="body" sz="quarter" idx="13"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a:t>Speaker name or subtitle text</a:t>
            </a:r>
          </a:p>
        </p:txBody>
      </p:sp>
      <p:pic>
        <p:nvPicPr>
          <p:cNvPr id="13" name="Picture 12" descr="A picture containing text, clipart&#10;&#10;Description automatically generated">
            <a:extLst>
              <a:ext uri="{FF2B5EF4-FFF2-40B4-BE49-F238E27FC236}">
                <a16:creationId xmlns:a16="http://schemas.microsoft.com/office/drawing/2014/main" id="{D160F8F1-C493-D88D-26A1-8AA61020F186}"/>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contrast="100000"/>
                    </a14:imgEffect>
                  </a14:imgLayer>
                </a14:imgProps>
              </a:ext>
            </a:extLst>
          </a:blip>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1638123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microsoft.com/office/2007/relationships/hdphoto" Target="../media/hdphoto1.wdp"/><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a:solidFill>
                <a:schemeClr val="tx1"/>
              </a:solidFill>
              <a:ea typeface="Segoe UI" pitchFamily="34" charset="0"/>
              <a:cs typeface="Segoe UI" pitchFamily="34" charset="0"/>
            </a:endParaRPr>
          </a:p>
        </p:txBody>
      </p:sp>
      <p:pic>
        <p:nvPicPr>
          <p:cNvPr id="52" name="Picture 51" descr="A picture containing text, clipart&#10;&#10;Description automatically generated">
            <a:extLst>
              <a:ext uri="{FF2B5EF4-FFF2-40B4-BE49-F238E27FC236}">
                <a16:creationId xmlns:a16="http://schemas.microsoft.com/office/drawing/2014/main" id="{C765A4D8-AFB1-B0CE-CB5D-67499CD2E8B9}"/>
              </a:ext>
            </a:extLst>
          </p:cNvPr>
          <p:cNvPicPr>
            <a:picLocks noChangeAspect="1"/>
          </p:cNvPicPr>
          <p:nvPr userDrawn="1"/>
        </p:nvPicPr>
        <p:blipFill>
          <a:blip r:embed="rId33">
            <a:extLst>
              <a:ext uri="{BEBA8EAE-BF5A-486C-A8C5-ECC9F3942E4B}">
                <a14:imgProps xmlns:a14="http://schemas.microsoft.com/office/drawing/2010/main">
                  <a14:imgLayer r:embed="rId34">
                    <a14:imgEffect>
                      <a14:brightnessContrast bright="-100000" contrast="100000"/>
                    </a14:imgEffect>
                  </a14:imgLayer>
                </a14:imgProps>
              </a:ext>
            </a:extLst>
          </a:blip>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920" r:id="rId1"/>
    <p:sldLayoutId id="2147484928" r:id="rId2"/>
    <p:sldLayoutId id="2147484929"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6"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27" r:id="rId26"/>
    <p:sldLayoutId id="2147484671" r:id="rId27"/>
    <p:sldLayoutId id="2147484585" r:id="rId28"/>
    <p:sldLayoutId id="2147484924" r:id="rId29"/>
    <p:sldLayoutId id="2147484299" r:id="rId30"/>
    <p:sldLayoutId id="2147484930"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3.xml"/><Relationship Id="rId1" Type="http://schemas.openxmlformats.org/officeDocument/2006/relationships/tags" Target="../tags/tag1.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3.xml"/><Relationship Id="rId1" Type="http://schemas.openxmlformats.org/officeDocument/2006/relationships/tags" Target="../tags/tag2.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8.xml"/><Relationship Id="rId1" Type="http://schemas.openxmlformats.org/officeDocument/2006/relationships/tags" Target="../tags/tag3.x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4.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notesSlide" Target="../notesSlides/notesSlide6.xml"/><Relationship Id="rId7" Type="http://schemas.openxmlformats.org/officeDocument/2006/relationships/image" Target="../media/image12.svg"/><Relationship Id="rId2" Type="http://schemas.openxmlformats.org/officeDocument/2006/relationships/slideLayout" Target="../slideLayouts/slideLayout8.xml"/><Relationship Id="rId1" Type="http://schemas.openxmlformats.org/officeDocument/2006/relationships/tags" Target="../tags/tag5.xml"/><Relationship Id="rId6" Type="http://schemas.openxmlformats.org/officeDocument/2006/relationships/image" Target="../media/image11.svg"/><Relationship Id="rId5" Type="http://schemas.openxmlformats.org/officeDocument/2006/relationships/image" Target="../media/image9.emf"/><Relationship Id="rId4" Type="http://schemas.openxmlformats.org/officeDocument/2006/relationships/oleObject" Target="../embeddings/oleObject4.bin"/><Relationship Id="rId9" Type="http://schemas.openxmlformats.org/officeDocument/2006/relationships/image" Target="../media/image14.svg"/></Relationships>
</file>

<file path=ppt/slides/_rels/slide7.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notesSlide" Target="../notesSlides/notesSlide7.xml"/><Relationship Id="rId7" Type="http://schemas.openxmlformats.org/officeDocument/2006/relationships/image" Target="../media/image16.svg"/><Relationship Id="rId2" Type="http://schemas.openxmlformats.org/officeDocument/2006/relationships/slideLayout" Target="../slideLayouts/slideLayout8.xml"/><Relationship Id="rId1" Type="http://schemas.openxmlformats.org/officeDocument/2006/relationships/tags" Target="../tags/tag6.xml"/><Relationship Id="rId6" Type="http://schemas.openxmlformats.org/officeDocument/2006/relationships/image" Target="../media/image15.svg"/><Relationship Id="rId5" Type="http://schemas.openxmlformats.org/officeDocument/2006/relationships/image" Target="../media/image9.emf"/><Relationship Id="rId4" Type="http://schemas.openxmlformats.org/officeDocument/2006/relationships/oleObject" Target="../embeddings/oleObject5.bin"/><Relationship Id="rId9"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3.xml"/><Relationship Id="rId1" Type="http://schemas.openxmlformats.org/officeDocument/2006/relationships/tags" Target="../tags/tag7.xml"/><Relationship Id="rId5" Type="http://schemas.openxmlformats.org/officeDocument/2006/relationships/image" Target="../media/image8.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notesSlide" Target="../notesSlides/notesSlide9.xml"/><Relationship Id="rId7" Type="http://schemas.openxmlformats.org/officeDocument/2006/relationships/image" Target="../media/image19.svg"/><Relationship Id="rId2" Type="http://schemas.openxmlformats.org/officeDocument/2006/relationships/slideLayout" Target="../slideLayouts/slideLayout8.xml"/><Relationship Id="rId1" Type="http://schemas.openxmlformats.org/officeDocument/2006/relationships/tags" Target="../tags/tag8.xml"/><Relationship Id="rId6" Type="http://schemas.openxmlformats.org/officeDocument/2006/relationships/image" Target="../media/image11.svg"/><Relationship Id="rId5" Type="http://schemas.openxmlformats.org/officeDocument/2006/relationships/image" Target="../media/image9.emf"/><Relationship Id="rId4" Type="http://schemas.openxmlformats.org/officeDocument/2006/relationships/oleObject" Target="../embeddings/oleObject6.bin"/><Relationship Id="rId9" Type="http://schemas.openxmlformats.org/officeDocument/2006/relationships/image" Target="../media/image2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23.svg"/><Relationship Id="rId2" Type="http://schemas.openxmlformats.org/officeDocument/2006/relationships/slideLayout" Target="../slideLayouts/slideLayout8.xml"/><Relationship Id="rId1" Type="http://schemas.openxmlformats.org/officeDocument/2006/relationships/tags" Target="../tags/tag9.xml"/><Relationship Id="rId6" Type="http://schemas.openxmlformats.org/officeDocument/2006/relationships/image" Target="../media/image22.png"/><Relationship Id="rId5" Type="http://schemas.openxmlformats.org/officeDocument/2006/relationships/image" Target="../media/image9.emf"/><Relationship Id="rId4" Type="http://schemas.openxmlformats.org/officeDocument/2006/relationships/oleObject" Target="../embeddings/oleObject7.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hyperlink" Target="vivado.amd.com/chat" TargetMode="External"/><Relationship Id="rId2" Type="http://schemas.openxmlformats.org/officeDocument/2006/relationships/slideLayout" Target="../slideLayouts/slideLayout4.xml"/><Relationship Id="rId1" Type="http://schemas.openxmlformats.org/officeDocument/2006/relationships/tags" Target="../tags/tag10.xml"/><Relationship Id="rId6" Type="http://schemas.openxmlformats.org/officeDocument/2006/relationships/image" Target="../media/image24.png"/><Relationship Id="rId5" Type="http://schemas.openxmlformats.org/officeDocument/2006/relationships/image" Target="../media/image9.emf"/><Relationship Id="rId4"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notesSlide" Target="../notesSlides/notesSlide13.xml"/><Relationship Id="rId7" Type="http://schemas.openxmlformats.org/officeDocument/2006/relationships/image" Target="../media/image17.svg"/><Relationship Id="rId2" Type="http://schemas.openxmlformats.org/officeDocument/2006/relationships/slideLayout" Target="../slideLayouts/slideLayout8.xml"/><Relationship Id="rId1" Type="http://schemas.openxmlformats.org/officeDocument/2006/relationships/tags" Target="../tags/tag11.xml"/><Relationship Id="rId6" Type="http://schemas.openxmlformats.org/officeDocument/2006/relationships/image" Target="../media/image25.svg"/><Relationship Id="rId11" Type="http://schemas.openxmlformats.org/officeDocument/2006/relationships/hyperlink" Target="https://account.amd.com/en/member/vivado-ai-assistant-ea.html" TargetMode="External"/><Relationship Id="rId5" Type="http://schemas.openxmlformats.org/officeDocument/2006/relationships/image" Target="../media/image9.emf"/><Relationship Id="rId10" Type="http://schemas.openxmlformats.org/officeDocument/2006/relationships/image" Target="../media/image23.svg"/><Relationship Id="rId4" Type="http://schemas.openxmlformats.org/officeDocument/2006/relationships/oleObject" Target="../embeddings/oleObject9.bin"/><Relationship Id="rId9" Type="http://schemas.openxmlformats.org/officeDocument/2006/relationships/image" Target="../media/image27.svg"/></Relationships>
</file>

<file path=ppt/slides/_rels/slide14.xml.rels><?xml version="1.0" encoding="UTF-8" standalone="yes"?>
<Relationships xmlns="http://schemas.openxmlformats.org/package/2006/relationships"><Relationship Id="rId3" Type="http://schemas.openxmlformats.org/officeDocument/2006/relationships/hyperlink" Target="https://account.amd.com/en/member/vivado-ai-assistant-ea.html"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hyperlink" Target="mailto:vivado_ai_assistant@amd.com" TargetMode="External"/><Relationship Id="rId4" Type="http://schemas.openxmlformats.org/officeDocument/2006/relationships/hyperlink" Target="https://adaptivesupport.amd.com/s/group/0F9Pd00000091UjKAI/vivado-ai-assistant"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customXml" Target="../../customXml/item5.xml"/><Relationship Id="rId1" Type="http://schemas.openxmlformats.org/officeDocument/2006/relationships/customXml" Target="../../customXml/item7.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780B4-98C8-08BB-E610-6D67CC436F48}"/>
              </a:ext>
            </a:extLst>
          </p:cNvPr>
          <p:cNvSpPr>
            <a:spLocks noGrp="1"/>
          </p:cNvSpPr>
          <p:nvPr>
            <p:ph type="title"/>
          </p:nvPr>
        </p:nvSpPr>
        <p:spPr>
          <a:xfrm>
            <a:off x="5162551" y="1641215"/>
            <a:ext cx="6678350" cy="1941576"/>
          </a:xfrm>
        </p:spPr>
        <p:txBody>
          <a:bodyPr/>
          <a:lstStyle/>
          <a:p>
            <a:r>
              <a:rPr lang="en-US" dirty="0">
                <a:solidFill>
                  <a:srgbClr val="000000"/>
                </a:solidFill>
                <a:latin typeface="Arial" panose="020B0604020202020204" pitchFamily="34" charset="0"/>
              </a:rPr>
              <a:t>Agentic AI Workflows for Advanced Adaptive SoC Design</a:t>
            </a:r>
            <a:endParaRPr lang="en-US" dirty="0"/>
          </a:p>
        </p:txBody>
      </p:sp>
      <p:sp>
        <p:nvSpPr>
          <p:cNvPr id="3" name="Text Placeholder 2">
            <a:extLst>
              <a:ext uri="{FF2B5EF4-FFF2-40B4-BE49-F238E27FC236}">
                <a16:creationId xmlns:a16="http://schemas.microsoft.com/office/drawing/2014/main" id="{88EE2DBE-1D4E-E5BD-2C06-D05C5FE26273}"/>
              </a:ext>
            </a:extLst>
          </p:cNvPr>
          <p:cNvSpPr>
            <a:spLocks noGrp="1"/>
          </p:cNvSpPr>
          <p:nvPr>
            <p:ph type="body" sz="quarter" idx="13"/>
          </p:nvPr>
        </p:nvSpPr>
        <p:spPr>
          <a:xfrm>
            <a:off x="5350260" y="3875650"/>
            <a:ext cx="6244332" cy="276999"/>
          </a:xfrm>
        </p:spPr>
        <p:txBody>
          <a:bodyPr/>
          <a:lstStyle/>
          <a:p>
            <a:r>
              <a:rPr lang="en-US" dirty="0"/>
              <a:t>2026.1 EA</a:t>
            </a:r>
          </a:p>
        </p:txBody>
      </p:sp>
    </p:spTree>
    <p:extLst>
      <p:ext uri="{BB962C8B-B14F-4D97-AF65-F5344CB8AC3E}">
        <p14:creationId xmlns:p14="http://schemas.microsoft.com/office/powerpoint/2010/main" val="3030210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37B42A0-B91B-F0D5-F179-9B683A7BE77F}"/>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837B42A0-B91B-F0D5-F179-9B683A7BE77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9142B85-0282-5811-F9EE-94AE7245E564}"/>
              </a:ext>
            </a:extLst>
          </p:cNvPr>
          <p:cNvSpPr>
            <a:spLocks noGrp="1"/>
          </p:cNvSpPr>
          <p:nvPr>
            <p:ph type="title"/>
          </p:nvPr>
        </p:nvSpPr>
        <p:spPr/>
        <p:txBody>
          <a:bodyPr vert="horz" wrap="square" anchor="t">
            <a:normAutofit/>
          </a:bodyPr>
          <a:lstStyle/>
          <a:p>
            <a:r>
              <a:rPr lang="en-US">
                <a:latin typeface="Arial Bold" panose="020B0704020202020204" pitchFamily="34" charset="0"/>
              </a:rPr>
              <a:t>Agenda</a:t>
            </a:r>
          </a:p>
        </p:txBody>
      </p:sp>
      <p:sp>
        <p:nvSpPr>
          <p:cNvPr id="3" name="Rectangle: Diagonal Corners Snipped 2">
            <a:extLst>
              <a:ext uri="{FF2B5EF4-FFF2-40B4-BE49-F238E27FC236}">
                <a16:creationId xmlns:a16="http://schemas.microsoft.com/office/drawing/2014/main" id="{7C1DB8F4-E709-3677-9CED-782FE42466A5}"/>
              </a:ext>
            </a:extLst>
          </p:cNvPr>
          <p:cNvSpPr/>
          <p:nvPr/>
        </p:nvSpPr>
        <p:spPr bwMode="auto">
          <a:xfrm>
            <a:off x="4648200" y="2131029"/>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a:solidFill>
                  <a:schemeClr val="bg1"/>
                </a:solidFill>
                <a:latin typeface="+mj-lt"/>
                <a:ea typeface="Segoe UI" pitchFamily="34" charset="0"/>
                <a:cs typeface="Segoe UI" pitchFamily="34" charset="0"/>
              </a:rPr>
              <a:t>1</a:t>
            </a:r>
          </a:p>
        </p:txBody>
      </p:sp>
      <p:sp>
        <p:nvSpPr>
          <p:cNvPr id="5" name="TextBox 4">
            <a:extLst>
              <a:ext uri="{FF2B5EF4-FFF2-40B4-BE49-F238E27FC236}">
                <a16:creationId xmlns:a16="http://schemas.microsoft.com/office/drawing/2014/main" id="{A7671A41-646E-24F6-B978-602771AECC8F}"/>
              </a:ext>
            </a:extLst>
          </p:cNvPr>
          <p:cNvSpPr txBox="1"/>
          <p:nvPr/>
        </p:nvSpPr>
        <p:spPr>
          <a:xfrm>
            <a:off x="5140960" y="2167307"/>
            <a:ext cx="6466841" cy="1046440"/>
          </a:xfrm>
          <a:prstGeom prst="rect">
            <a:avLst/>
          </a:prstGeom>
          <a:noFill/>
        </p:spPr>
        <p:txBody>
          <a:bodyPr wrap="square" lIns="0" tIns="0" rIns="0" bIns="0" anchor="t">
            <a:spAutoFit/>
          </a:bodyPr>
          <a:lstStyle/>
          <a:p>
            <a:pPr>
              <a:spcBef>
                <a:spcPts val="600"/>
              </a:spcBef>
              <a:spcAft>
                <a:spcPts val="600"/>
              </a:spcAft>
            </a:pPr>
            <a:r>
              <a:rPr lang="en-US" sz="1600" b="1" dirty="0">
                <a:latin typeface="+mj-lt"/>
              </a:rPr>
              <a:t>Execution &amp; Workflows</a:t>
            </a:r>
          </a:p>
          <a:p>
            <a:pPr marL="285750" lvl="0" indent="-285750">
              <a:spcBef>
                <a:spcPts val="600"/>
              </a:spcBef>
              <a:spcAft>
                <a:spcPts val="600"/>
              </a:spcAft>
              <a:buFont typeface="Arial" panose="020B0604020202020204" pitchFamily="34" charset="0"/>
              <a:buChar char="•"/>
            </a:pPr>
            <a:r>
              <a:rPr lang="en-US" sz="1600" dirty="0">
                <a:latin typeface="+mj-lt"/>
              </a:rPr>
              <a:t>Vivado™ Execute: Closed-loop workflows (batch + GUI)</a:t>
            </a:r>
          </a:p>
          <a:p>
            <a:pPr marL="285750" lvl="0" indent="-285750">
              <a:spcBef>
                <a:spcPts val="600"/>
              </a:spcBef>
              <a:spcAft>
                <a:spcPts val="600"/>
              </a:spcAft>
              <a:buFont typeface="Arial" panose="020B0604020202020204" pitchFamily="34" charset="0"/>
              <a:buChar char="•"/>
            </a:pPr>
            <a:r>
              <a:rPr lang="en-US" sz="1600" dirty="0">
                <a:latin typeface="+mj-lt"/>
              </a:rPr>
              <a:t>Agent Skills: Repeatable, deterministic workflows</a:t>
            </a:r>
          </a:p>
        </p:txBody>
      </p:sp>
      <p:cxnSp>
        <p:nvCxnSpPr>
          <p:cNvPr id="11" name="Straight Connector 10">
            <a:extLst>
              <a:ext uri="{FF2B5EF4-FFF2-40B4-BE49-F238E27FC236}">
                <a16:creationId xmlns:a16="http://schemas.microsoft.com/office/drawing/2014/main" id="{681567B1-FEAC-65BB-4589-B4EBDF3CB393}"/>
              </a:ext>
            </a:extLst>
          </p:cNvPr>
          <p:cNvCxnSpPr>
            <a:cxnSpLocks/>
          </p:cNvCxnSpPr>
          <p:nvPr/>
        </p:nvCxnSpPr>
        <p:spPr>
          <a:xfrm>
            <a:off x="5140960" y="34796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Diagonal Corners Snipped 11">
            <a:extLst>
              <a:ext uri="{FF2B5EF4-FFF2-40B4-BE49-F238E27FC236}">
                <a16:creationId xmlns:a16="http://schemas.microsoft.com/office/drawing/2014/main" id="{4DDEC1EB-38B1-F0AB-49F4-FB937741E0BC}"/>
              </a:ext>
            </a:extLst>
          </p:cNvPr>
          <p:cNvSpPr/>
          <p:nvPr/>
        </p:nvSpPr>
        <p:spPr bwMode="auto">
          <a:xfrm>
            <a:off x="4648200" y="3648956"/>
            <a:ext cx="288000" cy="288000"/>
          </a:xfrm>
          <a:prstGeom prst="snip2Diag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a:solidFill>
                  <a:schemeClr val="bg1"/>
                </a:solidFill>
                <a:latin typeface="+mj-lt"/>
                <a:ea typeface="Segoe UI" pitchFamily="34" charset="0"/>
                <a:cs typeface="Segoe UI" pitchFamily="34" charset="0"/>
              </a:rPr>
              <a:t>2</a:t>
            </a:r>
          </a:p>
        </p:txBody>
      </p:sp>
      <p:sp>
        <p:nvSpPr>
          <p:cNvPr id="13" name="TextBox 12">
            <a:extLst>
              <a:ext uri="{FF2B5EF4-FFF2-40B4-BE49-F238E27FC236}">
                <a16:creationId xmlns:a16="http://schemas.microsoft.com/office/drawing/2014/main" id="{E92FE0CD-5350-E495-421F-AC76E572F3F4}"/>
              </a:ext>
            </a:extLst>
          </p:cNvPr>
          <p:cNvSpPr txBox="1"/>
          <p:nvPr/>
        </p:nvSpPr>
        <p:spPr>
          <a:xfrm>
            <a:off x="5140960" y="3685234"/>
            <a:ext cx="5704840" cy="1692771"/>
          </a:xfrm>
          <a:prstGeom prst="rect">
            <a:avLst/>
          </a:prstGeom>
          <a:noFill/>
        </p:spPr>
        <p:txBody>
          <a:bodyPr wrap="square" lIns="0" tIns="0" rIns="0" bIns="0" anchor="t">
            <a:spAutoFit/>
          </a:bodyPr>
          <a:lstStyle/>
          <a:p>
            <a:pPr>
              <a:spcBef>
                <a:spcPts val="600"/>
              </a:spcBef>
              <a:spcAft>
                <a:spcPts val="600"/>
              </a:spcAft>
            </a:pPr>
            <a:r>
              <a:rPr lang="en-US" sz="1600" b="1" dirty="0">
                <a:latin typeface="+mj-lt"/>
              </a:rPr>
              <a:t>Deployment &amp; Ecosystem</a:t>
            </a:r>
          </a:p>
          <a:p>
            <a:pPr marL="285750" lvl="0" indent="-285750">
              <a:spcBef>
                <a:spcPts val="600"/>
              </a:spcBef>
              <a:spcAft>
                <a:spcPts val="600"/>
              </a:spcAft>
              <a:buFont typeface="Arial" panose="020B0604020202020204" pitchFamily="34" charset="0"/>
              <a:buChar char="•"/>
            </a:pPr>
            <a:r>
              <a:rPr lang="en-US" sz="1600" dirty="0">
                <a:latin typeface="+mj-lt"/>
              </a:rPr>
              <a:t>Reduce OPEX: Local models, local knowledge base (KB), air-gapped solution</a:t>
            </a:r>
          </a:p>
          <a:p>
            <a:pPr marL="285750" lvl="0" indent="-285750">
              <a:spcBef>
                <a:spcPts val="600"/>
              </a:spcBef>
              <a:spcAft>
                <a:spcPts val="600"/>
              </a:spcAft>
              <a:buFont typeface="Arial" panose="020B0604020202020204" pitchFamily="34" charset="0"/>
              <a:buChar char="•"/>
            </a:pPr>
            <a:r>
              <a:rPr lang="en-US" sz="1600" dirty="0">
                <a:latin typeface="+mj-lt"/>
              </a:rPr>
              <a:t>Vivado IDE extension in VS Code</a:t>
            </a:r>
          </a:p>
          <a:p>
            <a:pPr marL="285750" lvl="0" indent="-285750">
              <a:spcBef>
                <a:spcPts val="600"/>
              </a:spcBef>
              <a:spcAft>
                <a:spcPts val="600"/>
              </a:spcAft>
              <a:buFont typeface="Arial" panose="020B0604020202020204" pitchFamily="34" charset="0"/>
              <a:buChar char="•"/>
            </a:pPr>
            <a:r>
              <a:rPr lang="en-US" sz="1600" dirty="0">
                <a:latin typeface="+mj-lt"/>
              </a:rPr>
              <a:t>How to get started + resources</a:t>
            </a:r>
          </a:p>
        </p:txBody>
      </p:sp>
    </p:spTree>
    <p:extLst>
      <p:ext uri="{BB962C8B-B14F-4D97-AF65-F5344CB8AC3E}">
        <p14:creationId xmlns:p14="http://schemas.microsoft.com/office/powerpoint/2010/main" val="610901662"/>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AF2A4-6F84-5400-8824-EF2C78481D6B}"/>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4E5144D-A6D9-AF88-F13F-463B0C8D5DC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34E5144D-A6D9-AF88-F13F-463B0C8D5DC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33F3298-6B63-76B8-E2FB-9150EC6FF6BE}"/>
              </a:ext>
            </a:extLst>
          </p:cNvPr>
          <p:cNvSpPr>
            <a:spLocks noGrp="1"/>
          </p:cNvSpPr>
          <p:nvPr>
            <p:ph type="title"/>
          </p:nvPr>
        </p:nvSpPr>
        <p:spPr/>
        <p:txBody>
          <a:bodyPr vert="horz" wrap="square" anchor="t">
            <a:normAutofit/>
          </a:bodyPr>
          <a:lstStyle/>
          <a:p>
            <a:r>
              <a:rPr lang="en-US">
                <a:latin typeface="Arial Bold" panose="020B0704020202020204" pitchFamily="34" charset="0"/>
              </a:rPr>
              <a:t>Agenda</a:t>
            </a:r>
          </a:p>
        </p:txBody>
      </p:sp>
      <p:sp>
        <p:nvSpPr>
          <p:cNvPr id="5" name="Rectangle: Diagonal Corners Snipped 4">
            <a:extLst>
              <a:ext uri="{FF2B5EF4-FFF2-40B4-BE49-F238E27FC236}">
                <a16:creationId xmlns:a16="http://schemas.microsoft.com/office/drawing/2014/main" id="{E07E0542-B6A7-8EFA-B2A9-F092D1C7501D}"/>
              </a:ext>
            </a:extLst>
          </p:cNvPr>
          <p:cNvSpPr/>
          <p:nvPr/>
        </p:nvSpPr>
        <p:spPr bwMode="auto">
          <a:xfrm>
            <a:off x="4648200" y="2131029"/>
            <a:ext cx="288000" cy="28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a:solidFill>
                  <a:schemeClr val="bg1"/>
                </a:solidFill>
                <a:latin typeface="+mj-lt"/>
                <a:ea typeface="Segoe UI" pitchFamily="34" charset="0"/>
                <a:cs typeface="Segoe UI" pitchFamily="34" charset="0"/>
              </a:rPr>
              <a:t>1</a:t>
            </a:r>
          </a:p>
        </p:txBody>
      </p:sp>
      <p:cxnSp>
        <p:nvCxnSpPr>
          <p:cNvPr id="12" name="Straight Connector 11">
            <a:extLst>
              <a:ext uri="{FF2B5EF4-FFF2-40B4-BE49-F238E27FC236}">
                <a16:creationId xmlns:a16="http://schemas.microsoft.com/office/drawing/2014/main" id="{47553225-3CF8-43B1-4292-6C37C545C119}"/>
              </a:ext>
            </a:extLst>
          </p:cNvPr>
          <p:cNvCxnSpPr>
            <a:cxnSpLocks/>
          </p:cNvCxnSpPr>
          <p:nvPr/>
        </p:nvCxnSpPr>
        <p:spPr>
          <a:xfrm>
            <a:off x="5140960" y="34796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3" name="Rectangle: Diagonal Corners Snipped 12">
            <a:extLst>
              <a:ext uri="{FF2B5EF4-FFF2-40B4-BE49-F238E27FC236}">
                <a16:creationId xmlns:a16="http://schemas.microsoft.com/office/drawing/2014/main" id="{12885670-0169-8DF5-9A0C-C682AFFDED56}"/>
              </a:ext>
            </a:extLst>
          </p:cNvPr>
          <p:cNvSpPr/>
          <p:nvPr/>
        </p:nvSpPr>
        <p:spPr bwMode="auto">
          <a:xfrm>
            <a:off x="4648200" y="3648956"/>
            <a:ext cx="288000" cy="288000"/>
          </a:xfrm>
          <a:prstGeom prst="snip2Diag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a:solidFill>
                  <a:schemeClr val="bg1"/>
                </a:solidFill>
                <a:latin typeface="+mj-lt"/>
                <a:ea typeface="Segoe UI" pitchFamily="34" charset="0"/>
                <a:cs typeface="Segoe UI" pitchFamily="34" charset="0"/>
              </a:rPr>
              <a:t>2</a:t>
            </a:r>
          </a:p>
        </p:txBody>
      </p:sp>
      <p:sp>
        <p:nvSpPr>
          <p:cNvPr id="7" name="TextBox 6">
            <a:extLst>
              <a:ext uri="{FF2B5EF4-FFF2-40B4-BE49-F238E27FC236}">
                <a16:creationId xmlns:a16="http://schemas.microsoft.com/office/drawing/2014/main" id="{07A8DAA8-96DB-F0F7-487D-BEA2EEACC0A3}"/>
              </a:ext>
            </a:extLst>
          </p:cNvPr>
          <p:cNvSpPr txBox="1"/>
          <p:nvPr/>
        </p:nvSpPr>
        <p:spPr>
          <a:xfrm>
            <a:off x="5140960" y="2167307"/>
            <a:ext cx="6466841" cy="1046440"/>
          </a:xfrm>
          <a:prstGeom prst="rect">
            <a:avLst/>
          </a:prstGeom>
          <a:noFill/>
        </p:spPr>
        <p:txBody>
          <a:bodyPr wrap="square" lIns="0" tIns="0" rIns="0" bIns="0" anchor="t">
            <a:spAutoFit/>
          </a:bodyPr>
          <a:lstStyle/>
          <a:p>
            <a:pPr>
              <a:spcBef>
                <a:spcPts val="600"/>
              </a:spcBef>
              <a:spcAft>
                <a:spcPts val="600"/>
              </a:spcAft>
            </a:pPr>
            <a:r>
              <a:rPr lang="en-US" sz="1600" b="1" dirty="0">
                <a:latin typeface="+mj-lt"/>
              </a:rPr>
              <a:t>Execution &amp; Workflows</a:t>
            </a:r>
          </a:p>
          <a:p>
            <a:pPr marL="285750" lvl="0" indent="-285750">
              <a:spcBef>
                <a:spcPts val="600"/>
              </a:spcBef>
              <a:spcAft>
                <a:spcPts val="600"/>
              </a:spcAft>
              <a:buFont typeface="Arial" panose="020B0604020202020204" pitchFamily="34" charset="0"/>
              <a:buChar char="•"/>
            </a:pPr>
            <a:r>
              <a:rPr lang="en-US" sz="1600" dirty="0">
                <a:latin typeface="+mj-lt"/>
              </a:rPr>
              <a:t>Vivado™ Execute: Closed-loop workflows (batch + </a:t>
            </a:r>
            <a:r>
              <a:rPr lang="en-US" sz="1600" dirty="0"/>
              <a:t>GUI</a:t>
            </a:r>
            <a:r>
              <a:rPr lang="en-US" sz="1600" dirty="0">
                <a:latin typeface="+mj-lt"/>
              </a:rPr>
              <a:t>)</a:t>
            </a:r>
          </a:p>
          <a:p>
            <a:pPr marL="285750" lvl="0" indent="-285750">
              <a:spcBef>
                <a:spcPts val="600"/>
              </a:spcBef>
              <a:spcAft>
                <a:spcPts val="600"/>
              </a:spcAft>
              <a:buFont typeface="Arial" panose="020B0604020202020204" pitchFamily="34" charset="0"/>
              <a:buChar char="•"/>
            </a:pPr>
            <a:r>
              <a:rPr lang="en-US" sz="1600" dirty="0">
                <a:latin typeface="+mj-lt"/>
              </a:rPr>
              <a:t>Agent Skills: Repeatable, deterministic workflows</a:t>
            </a:r>
          </a:p>
        </p:txBody>
      </p:sp>
      <p:sp>
        <p:nvSpPr>
          <p:cNvPr id="8" name="TextBox 7">
            <a:extLst>
              <a:ext uri="{FF2B5EF4-FFF2-40B4-BE49-F238E27FC236}">
                <a16:creationId xmlns:a16="http://schemas.microsoft.com/office/drawing/2014/main" id="{7848C66A-0A84-4B77-14BB-D4BC12911A5D}"/>
              </a:ext>
            </a:extLst>
          </p:cNvPr>
          <p:cNvSpPr txBox="1"/>
          <p:nvPr/>
        </p:nvSpPr>
        <p:spPr>
          <a:xfrm>
            <a:off x="5140960" y="3685234"/>
            <a:ext cx="5637107" cy="1692771"/>
          </a:xfrm>
          <a:prstGeom prst="rect">
            <a:avLst/>
          </a:prstGeom>
          <a:noFill/>
        </p:spPr>
        <p:txBody>
          <a:bodyPr wrap="square" lIns="0" tIns="0" rIns="0" bIns="0" anchor="t">
            <a:spAutoFit/>
          </a:bodyPr>
          <a:lstStyle/>
          <a:p>
            <a:pPr>
              <a:spcBef>
                <a:spcPts val="600"/>
              </a:spcBef>
              <a:spcAft>
                <a:spcPts val="600"/>
              </a:spcAft>
            </a:pPr>
            <a:r>
              <a:rPr lang="en-US" sz="1600" b="1" dirty="0">
                <a:latin typeface="+mj-lt"/>
              </a:rPr>
              <a:t>Deployment &amp; Ecosystem</a:t>
            </a:r>
          </a:p>
          <a:p>
            <a:pPr marL="285750" lvl="0" indent="-285750">
              <a:spcBef>
                <a:spcPts val="600"/>
              </a:spcBef>
              <a:spcAft>
                <a:spcPts val="600"/>
              </a:spcAft>
              <a:buFont typeface="Arial" panose="020B0604020202020204" pitchFamily="34" charset="0"/>
              <a:buChar char="•"/>
            </a:pPr>
            <a:r>
              <a:rPr lang="en-US" sz="1600" dirty="0">
                <a:latin typeface="+mj-lt"/>
              </a:rPr>
              <a:t>Reduce OPEX: Local models, local knowledge base (KB), air-gapped solution</a:t>
            </a:r>
          </a:p>
          <a:p>
            <a:pPr marL="285750" lvl="0" indent="-285750">
              <a:spcBef>
                <a:spcPts val="600"/>
              </a:spcBef>
              <a:spcAft>
                <a:spcPts val="600"/>
              </a:spcAft>
              <a:buFont typeface="Arial" panose="020B0604020202020204" pitchFamily="34" charset="0"/>
              <a:buChar char="•"/>
            </a:pPr>
            <a:r>
              <a:rPr lang="en-US" sz="1600" dirty="0">
                <a:latin typeface="+mj-lt"/>
              </a:rPr>
              <a:t>Vivado IDE extension in VS Code</a:t>
            </a:r>
          </a:p>
          <a:p>
            <a:pPr marL="285750" lvl="0" indent="-285750">
              <a:spcBef>
                <a:spcPts val="600"/>
              </a:spcBef>
              <a:spcAft>
                <a:spcPts val="600"/>
              </a:spcAft>
              <a:buFont typeface="Arial" panose="020B0604020202020204" pitchFamily="34" charset="0"/>
              <a:buChar char="•"/>
            </a:pPr>
            <a:r>
              <a:rPr lang="en-US" sz="1600" dirty="0">
                <a:latin typeface="+mj-lt"/>
              </a:rPr>
              <a:t>How to get started + resources</a:t>
            </a:r>
          </a:p>
        </p:txBody>
      </p:sp>
    </p:spTree>
    <p:extLst>
      <p:ext uri="{BB962C8B-B14F-4D97-AF65-F5344CB8AC3E}">
        <p14:creationId xmlns:p14="http://schemas.microsoft.com/office/powerpoint/2010/main" val="250922719"/>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think-cell data - do not delete" hidden="1">
            <a:extLst>
              <a:ext uri="{FF2B5EF4-FFF2-40B4-BE49-F238E27FC236}">
                <a16:creationId xmlns:a16="http://schemas.microsoft.com/office/drawing/2014/main" id="{CE76944E-4DEF-AB72-A338-CEF830C1B7A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33" name="think-cell data - do not delete" hidden="1">
                        <a:extLst>
                          <a:ext uri="{FF2B5EF4-FFF2-40B4-BE49-F238E27FC236}">
                            <a16:creationId xmlns:a16="http://schemas.microsoft.com/office/drawing/2014/main" id="{CE76944E-4DEF-AB72-A338-CEF830C1B7A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658C518-67C8-B61B-F6C7-A162945D4C01}"/>
              </a:ext>
            </a:extLst>
          </p:cNvPr>
          <p:cNvSpPr>
            <a:spLocks noGrp="1"/>
          </p:cNvSpPr>
          <p:nvPr>
            <p:ph type="title"/>
          </p:nvPr>
        </p:nvSpPr>
        <p:spPr/>
        <p:txBody>
          <a:bodyPr vert="horz" rIns="0">
            <a:spAutoFit/>
          </a:bodyPr>
          <a:lstStyle/>
          <a:p>
            <a:r>
              <a:rPr lang="en-US" dirty="0">
                <a:latin typeface="Arial Bold" panose="020B0704020202020204" pitchFamily="34" charset="0"/>
              </a:rPr>
              <a:t>Closed-Loop Value: From Error to Resolution</a:t>
            </a:r>
          </a:p>
        </p:txBody>
      </p:sp>
      <p:grpSp>
        <p:nvGrpSpPr>
          <p:cNvPr id="3" name="Group 2">
            <a:extLst>
              <a:ext uri="{FF2B5EF4-FFF2-40B4-BE49-F238E27FC236}">
                <a16:creationId xmlns:a16="http://schemas.microsoft.com/office/drawing/2014/main" id="{1C769815-299D-B2CC-CEC4-DA1D2E368C21}"/>
              </a:ext>
            </a:extLst>
          </p:cNvPr>
          <p:cNvGrpSpPr/>
          <p:nvPr/>
        </p:nvGrpSpPr>
        <p:grpSpPr>
          <a:xfrm>
            <a:off x="414073" y="2437957"/>
            <a:ext cx="11363854" cy="3835398"/>
            <a:chOff x="414073" y="2265681"/>
            <a:chExt cx="11363854" cy="3835398"/>
          </a:xfrm>
        </p:grpSpPr>
        <p:sp>
          <p:nvSpPr>
            <p:cNvPr id="5" name="Rounded Rectangle 3">
              <a:extLst>
                <a:ext uri="{FF2B5EF4-FFF2-40B4-BE49-F238E27FC236}">
                  <a16:creationId xmlns:a16="http://schemas.microsoft.com/office/drawing/2014/main" id="{D2B2E1CC-1ACB-A6C3-5CE2-CA002DCD1C95}"/>
                </a:ext>
              </a:extLst>
            </p:cNvPr>
            <p:cNvSpPr/>
            <p:nvPr/>
          </p:nvSpPr>
          <p:spPr>
            <a:xfrm>
              <a:off x="414073" y="2265681"/>
              <a:ext cx="2377440" cy="265820"/>
            </a:xfrm>
            <a:prstGeom prst="rect">
              <a:avLst/>
            </a:prstGeom>
            <a:solidFill>
              <a:srgbClr val="F2F2F2"/>
            </a:solidFill>
            <a:ln w="19050">
              <a:solidFill>
                <a:schemeClr val="accent4"/>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sz="1400" b="1" dirty="0">
                  <a:solidFill>
                    <a:srgbClr val="000000"/>
                  </a:solidFill>
                  <a:latin typeface="Arial Bold" panose="020B0704020202020204" pitchFamily="34" charset="0"/>
                </a:rPr>
                <a:t>FPGA Engineer</a:t>
              </a:r>
            </a:p>
          </p:txBody>
        </p:sp>
        <p:sp>
          <p:nvSpPr>
            <p:cNvPr id="6" name="Rounded Rectangle 4">
              <a:extLst>
                <a:ext uri="{FF2B5EF4-FFF2-40B4-BE49-F238E27FC236}">
                  <a16:creationId xmlns:a16="http://schemas.microsoft.com/office/drawing/2014/main" id="{562E6BD9-FE47-21AD-5B28-2A05B1F2519B}"/>
                </a:ext>
              </a:extLst>
            </p:cNvPr>
            <p:cNvSpPr/>
            <p:nvPr/>
          </p:nvSpPr>
          <p:spPr>
            <a:xfrm>
              <a:off x="3409544" y="2265681"/>
              <a:ext cx="2377440" cy="265820"/>
            </a:xfrm>
            <a:prstGeom prst="rect">
              <a:avLst/>
            </a:prstGeom>
            <a:solidFill>
              <a:srgbClr val="F2F2F2"/>
            </a:solidFill>
            <a:ln w="19050">
              <a:solidFill>
                <a:srgbClr val="00C2DE"/>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sz="1400" b="1">
                  <a:solidFill>
                    <a:srgbClr val="000000"/>
                  </a:solidFill>
                  <a:latin typeface="Arial Bold" panose="020B0704020202020204" pitchFamily="34" charset="0"/>
                </a:rPr>
                <a:t>AI Agent</a:t>
              </a:r>
            </a:p>
          </p:txBody>
        </p:sp>
        <p:sp>
          <p:nvSpPr>
            <p:cNvPr id="7" name="Rounded Rectangle 5">
              <a:extLst>
                <a:ext uri="{FF2B5EF4-FFF2-40B4-BE49-F238E27FC236}">
                  <a16:creationId xmlns:a16="http://schemas.microsoft.com/office/drawing/2014/main" id="{01D03045-9061-4CF7-DB4F-14E3A76A9ACC}"/>
                </a:ext>
              </a:extLst>
            </p:cNvPr>
            <p:cNvSpPr/>
            <p:nvPr/>
          </p:nvSpPr>
          <p:spPr>
            <a:xfrm>
              <a:off x="6405016" y="2265681"/>
              <a:ext cx="2377440" cy="265820"/>
            </a:xfrm>
            <a:prstGeom prst="rect">
              <a:avLst/>
            </a:prstGeom>
            <a:solidFill>
              <a:srgbClr val="F2F2F2"/>
            </a:solidFill>
            <a:ln w="19050">
              <a:solidFill>
                <a:srgbClr val="00C2DE"/>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lang="en-US" sz="1400" b="1" dirty="0">
                  <a:solidFill>
                    <a:srgbClr val="000000"/>
                  </a:solidFill>
                  <a:latin typeface="Arial Bold" panose="020B0704020202020204" pitchFamily="34" charset="0"/>
                </a:rPr>
                <a:t>Vivado</a:t>
              </a:r>
              <a:r>
                <a:rPr sz="1400" b="1" dirty="0">
                  <a:solidFill>
                    <a:srgbClr val="000000"/>
                  </a:solidFill>
                  <a:latin typeface="Arial Bold" panose="020B0704020202020204" pitchFamily="34" charset="0"/>
                </a:rPr>
                <a:t> </a:t>
              </a:r>
              <a:r>
                <a:rPr lang="en-US" sz="1400" b="1" dirty="0">
                  <a:solidFill>
                    <a:srgbClr val="000000"/>
                  </a:solidFill>
                  <a:latin typeface="Arial Bold" panose="020B0704020202020204" pitchFamily="34" charset="0"/>
                </a:rPr>
                <a:t>Design Tool </a:t>
              </a:r>
              <a:r>
                <a:rPr sz="1400" b="1" dirty="0">
                  <a:solidFill>
                    <a:srgbClr val="000000"/>
                  </a:solidFill>
                  <a:latin typeface="Arial Bold" panose="020B0704020202020204" pitchFamily="34" charset="0"/>
                </a:rPr>
                <a:t>(Live)</a:t>
              </a:r>
            </a:p>
          </p:txBody>
        </p:sp>
        <p:sp>
          <p:nvSpPr>
            <p:cNvPr id="8" name="Rounded Rectangle 6">
              <a:extLst>
                <a:ext uri="{FF2B5EF4-FFF2-40B4-BE49-F238E27FC236}">
                  <a16:creationId xmlns:a16="http://schemas.microsoft.com/office/drawing/2014/main" id="{0CFFEB1F-E11C-A385-3CF1-BDB00C77EA83}"/>
                </a:ext>
              </a:extLst>
            </p:cNvPr>
            <p:cNvSpPr/>
            <p:nvPr/>
          </p:nvSpPr>
          <p:spPr>
            <a:xfrm>
              <a:off x="9400487" y="2265681"/>
              <a:ext cx="2377440" cy="265820"/>
            </a:xfrm>
            <a:prstGeom prst="rect">
              <a:avLst/>
            </a:prstGeom>
            <a:solidFill>
              <a:srgbClr val="F2F2F2"/>
            </a:solidFill>
            <a:ln w="19050">
              <a:solidFill>
                <a:srgbClr val="00C2DE"/>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sz="1400" b="1" dirty="0">
                  <a:solidFill>
                    <a:srgbClr val="000000"/>
                  </a:solidFill>
                  <a:latin typeface="Arial Bold" panose="020B0704020202020204" pitchFamily="34" charset="0"/>
                </a:rPr>
                <a:t>Curated Knowledge Base</a:t>
              </a:r>
            </a:p>
          </p:txBody>
        </p:sp>
        <p:sp>
          <p:nvSpPr>
            <p:cNvPr id="9" name="Rounded Rectangle 7">
              <a:extLst>
                <a:ext uri="{FF2B5EF4-FFF2-40B4-BE49-F238E27FC236}">
                  <a16:creationId xmlns:a16="http://schemas.microsoft.com/office/drawing/2014/main" id="{CD11B698-29DE-694A-41A1-19496026EF12}"/>
                </a:ext>
              </a:extLst>
            </p:cNvPr>
            <p:cNvSpPr/>
            <p:nvPr/>
          </p:nvSpPr>
          <p:spPr>
            <a:xfrm>
              <a:off x="414073" y="5835259"/>
              <a:ext cx="2377440" cy="265820"/>
            </a:xfrm>
            <a:prstGeom prst="rect">
              <a:avLst/>
            </a:prstGeom>
            <a:solidFill>
              <a:srgbClr val="F2F2F2"/>
            </a:solidFill>
            <a:ln w="19050">
              <a:solidFill>
                <a:schemeClr val="accent4"/>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sz="1400" b="1" dirty="0">
                  <a:solidFill>
                    <a:srgbClr val="000000"/>
                  </a:solidFill>
                  <a:latin typeface="Arial Bold" panose="020B0704020202020204" pitchFamily="34" charset="0"/>
                </a:rPr>
                <a:t>FPGA Engineer</a:t>
              </a:r>
            </a:p>
          </p:txBody>
        </p:sp>
        <p:sp>
          <p:nvSpPr>
            <p:cNvPr id="10" name="Rounded Rectangle 8">
              <a:extLst>
                <a:ext uri="{FF2B5EF4-FFF2-40B4-BE49-F238E27FC236}">
                  <a16:creationId xmlns:a16="http://schemas.microsoft.com/office/drawing/2014/main" id="{08CEE6C7-AE41-5660-3F97-ADE310F03020}"/>
                </a:ext>
              </a:extLst>
            </p:cNvPr>
            <p:cNvSpPr/>
            <p:nvPr/>
          </p:nvSpPr>
          <p:spPr>
            <a:xfrm>
              <a:off x="3409544" y="5835259"/>
              <a:ext cx="2377440" cy="265820"/>
            </a:xfrm>
            <a:prstGeom prst="rect">
              <a:avLst/>
            </a:prstGeom>
            <a:solidFill>
              <a:srgbClr val="F2F2F2"/>
            </a:solidFill>
            <a:ln w="19050">
              <a:solidFill>
                <a:srgbClr val="00C2DE"/>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sz="1400" b="1">
                  <a:solidFill>
                    <a:srgbClr val="000000"/>
                  </a:solidFill>
                  <a:latin typeface="Arial Bold" panose="020B0704020202020204" pitchFamily="34" charset="0"/>
                </a:rPr>
                <a:t>AI Agent</a:t>
              </a:r>
            </a:p>
          </p:txBody>
        </p:sp>
        <p:sp>
          <p:nvSpPr>
            <p:cNvPr id="11" name="Rounded Rectangle 9">
              <a:extLst>
                <a:ext uri="{FF2B5EF4-FFF2-40B4-BE49-F238E27FC236}">
                  <a16:creationId xmlns:a16="http://schemas.microsoft.com/office/drawing/2014/main" id="{A1804827-051A-1821-B600-9336E23A446F}"/>
                </a:ext>
              </a:extLst>
            </p:cNvPr>
            <p:cNvSpPr/>
            <p:nvPr/>
          </p:nvSpPr>
          <p:spPr>
            <a:xfrm>
              <a:off x="6405016" y="5835259"/>
              <a:ext cx="2377440" cy="265820"/>
            </a:xfrm>
            <a:prstGeom prst="rect">
              <a:avLst/>
            </a:prstGeom>
            <a:solidFill>
              <a:srgbClr val="F2F2F2"/>
            </a:solidFill>
            <a:ln w="19050">
              <a:solidFill>
                <a:srgbClr val="00C2DE"/>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lang="en-US" sz="1400" b="1" dirty="0">
                  <a:solidFill>
                    <a:srgbClr val="000000"/>
                  </a:solidFill>
                  <a:latin typeface="Arial Bold" panose="020B0704020202020204" pitchFamily="34" charset="0"/>
                </a:rPr>
                <a:t>Vivado Design Tool (Live)</a:t>
              </a:r>
            </a:p>
          </p:txBody>
        </p:sp>
        <p:sp>
          <p:nvSpPr>
            <p:cNvPr id="12" name="Rounded Rectangle 10">
              <a:extLst>
                <a:ext uri="{FF2B5EF4-FFF2-40B4-BE49-F238E27FC236}">
                  <a16:creationId xmlns:a16="http://schemas.microsoft.com/office/drawing/2014/main" id="{16F5A882-DEAF-8CB4-51C4-F74F5239B8E8}"/>
                </a:ext>
              </a:extLst>
            </p:cNvPr>
            <p:cNvSpPr/>
            <p:nvPr/>
          </p:nvSpPr>
          <p:spPr>
            <a:xfrm>
              <a:off x="9400487" y="5835259"/>
              <a:ext cx="2377440" cy="265820"/>
            </a:xfrm>
            <a:prstGeom prst="rect">
              <a:avLst/>
            </a:prstGeom>
            <a:solidFill>
              <a:srgbClr val="F2F2F2"/>
            </a:solidFill>
            <a:ln w="19050">
              <a:solidFill>
                <a:srgbClr val="00C2DE"/>
              </a:solidFill>
            </a:ln>
          </p:spPr>
          <p:style>
            <a:lnRef idx="1">
              <a:schemeClr val="accent1"/>
            </a:lnRef>
            <a:fillRef idx="3">
              <a:schemeClr val="accent1"/>
            </a:fillRef>
            <a:effectRef idx="2">
              <a:schemeClr val="accent1"/>
            </a:effectRef>
            <a:fontRef idx="minor">
              <a:schemeClr val="lt1"/>
            </a:fontRef>
          </p:style>
          <p:txBody>
            <a:bodyPr wrap="none" lIns="50800" tIns="25400" rIns="50800" bIns="25400" rtlCol="0" anchor="ctr"/>
            <a:lstStyle/>
            <a:p>
              <a:pPr algn="ctr"/>
              <a:r>
                <a:rPr sz="1400" b="1">
                  <a:solidFill>
                    <a:srgbClr val="000000"/>
                  </a:solidFill>
                  <a:latin typeface="Arial Bold" panose="020B0704020202020204" pitchFamily="34" charset="0"/>
                </a:rPr>
                <a:t>Curated Knowledge Base</a:t>
              </a:r>
            </a:p>
          </p:txBody>
        </p:sp>
        <p:cxnSp>
          <p:nvCxnSpPr>
            <p:cNvPr id="13" name="Connector 11">
              <a:extLst>
                <a:ext uri="{FF2B5EF4-FFF2-40B4-BE49-F238E27FC236}">
                  <a16:creationId xmlns:a16="http://schemas.microsoft.com/office/drawing/2014/main" id="{6BB746E2-5006-A407-D0C8-0DFA9F49EBB4}"/>
                </a:ext>
              </a:extLst>
            </p:cNvPr>
            <p:cNvCxnSpPr/>
            <p:nvPr/>
          </p:nvCxnSpPr>
          <p:spPr>
            <a:xfrm>
              <a:off x="1428668" y="2531501"/>
              <a:ext cx="0" cy="3303759"/>
            </a:xfrm>
            <a:prstGeom prst="line">
              <a:avLst/>
            </a:prstGeom>
            <a:ln w="12700">
              <a:solidFill>
                <a:schemeClr val="accent4"/>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2">
              <a:extLst>
                <a:ext uri="{FF2B5EF4-FFF2-40B4-BE49-F238E27FC236}">
                  <a16:creationId xmlns:a16="http://schemas.microsoft.com/office/drawing/2014/main" id="{C1E10152-3BF4-81A9-0334-84D6D6F2657E}"/>
                </a:ext>
              </a:extLst>
            </p:cNvPr>
            <p:cNvCxnSpPr>
              <a:cxnSpLocks/>
            </p:cNvCxnSpPr>
            <p:nvPr/>
          </p:nvCxnSpPr>
          <p:spPr>
            <a:xfrm>
              <a:off x="4598264" y="2531501"/>
              <a:ext cx="0" cy="3303759"/>
            </a:xfrm>
            <a:prstGeom prst="line">
              <a:avLst/>
            </a:prstGeom>
            <a:ln w="12700">
              <a:solidFill>
                <a:srgbClr val="00C2DE"/>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3">
              <a:extLst>
                <a:ext uri="{FF2B5EF4-FFF2-40B4-BE49-F238E27FC236}">
                  <a16:creationId xmlns:a16="http://schemas.microsoft.com/office/drawing/2014/main" id="{8310E150-52AF-A5D2-3CBC-A642BC418B7F}"/>
                </a:ext>
              </a:extLst>
            </p:cNvPr>
            <p:cNvCxnSpPr>
              <a:cxnSpLocks/>
            </p:cNvCxnSpPr>
            <p:nvPr/>
          </p:nvCxnSpPr>
          <p:spPr>
            <a:xfrm>
              <a:off x="7593736" y="2531501"/>
              <a:ext cx="0" cy="3303759"/>
            </a:xfrm>
            <a:prstGeom prst="line">
              <a:avLst/>
            </a:prstGeom>
            <a:ln w="12700">
              <a:solidFill>
                <a:srgbClr val="00C2DE"/>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4">
              <a:extLst>
                <a:ext uri="{FF2B5EF4-FFF2-40B4-BE49-F238E27FC236}">
                  <a16:creationId xmlns:a16="http://schemas.microsoft.com/office/drawing/2014/main" id="{54364D81-1001-04FD-2688-383375A47205}"/>
                </a:ext>
              </a:extLst>
            </p:cNvPr>
            <p:cNvCxnSpPr>
              <a:cxnSpLocks/>
            </p:cNvCxnSpPr>
            <p:nvPr/>
          </p:nvCxnSpPr>
          <p:spPr>
            <a:xfrm>
              <a:off x="10589207" y="2531501"/>
              <a:ext cx="0" cy="3303759"/>
            </a:xfrm>
            <a:prstGeom prst="line">
              <a:avLst/>
            </a:prstGeom>
            <a:ln w="12700">
              <a:solidFill>
                <a:srgbClr val="00C2DE"/>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5">
              <a:extLst>
                <a:ext uri="{FF2B5EF4-FFF2-40B4-BE49-F238E27FC236}">
                  <a16:creationId xmlns:a16="http://schemas.microsoft.com/office/drawing/2014/main" id="{BAC722A6-0869-92B9-DE00-888376F52449}"/>
                </a:ext>
              </a:extLst>
            </p:cNvPr>
            <p:cNvCxnSpPr>
              <a:cxnSpLocks/>
            </p:cNvCxnSpPr>
            <p:nvPr/>
          </p:nvCxnSpPr>
          <p:spPr>
            <a:xfrm>
              <a:off x="1428668" y="2721373"/>
              <a:ext cx="3169596" cy="0"/>
            </a:xfrm>
            <a:prstGeom prst="line">
              <a:avLst/>
            </a:prstGeom>
            <a:ln w="19050">
              <a:solidFill>
                <a:schemeClr val="accent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21539FB-2CA1-9A58-BE13-92A38FF093BD}"/>
                </a:ext>
              </a:extLst>
            </p:cNvPr>
            <p:cNvSpPr txBox="1"/>
            <p:nvPr/>
          </p:nvSpPr>
          <p:spPr>
            <a:xfrm>
              <a:off x="1781058" y="2757431"/>
              <a:ext cx="2290692" cy="215444"/>
            </a:xfrm>
            <a:prstGeom prst="rect">
              <a:avLst/>
            </a:prstGeom>
            <a:noFill/>
          </p:spPr>
          <p:txBody>
            <a:bodyPr wrap="none" lIns="25400" tIns="0" rIns="25400" bIns="0" anchor="b" anchorCtr="0">
              <a:spAutoFit/>
            </a:bodyPr>
            <a:lstStyle/>
            <a:p>
              <a:pPr algn="ctr"/>
              <a:r>
                <a:rPr sz="1400" dirty="0">
                  <a:solidFill>
                    <a:srgbClr val="000000"/>
                  </a:solidFill>
                  <a:latin typeface="Arial" panose="020B0604020202020204" pitchFamily="34" charset="0"/>
                </a:rPr>
                <a:t>Run synthesis on my design</a:t>
              </a:r>
            </a:p>
          </p:txBody>
        </p:sp>
        <p:cxnSp>
          <p:nvCxnSpPr>
            <p:cNvPr id="19" name="Connector 17">
              <a:extLst>
                <a:ext uri="{FF2B5EF4-FFF2-40B4-BE49-F238E27FC236}">
                  <a16:creationId xmlns:a16="http://schemas.microsoft.com/office/drawing/2014/main" id="{ECBD0DFB-9812-3965-5ECF-9BB1D4F22E66}"/>
                </a:ext>
              </a:extLst>
            </p:cNvPr>
            <p:cNvCxnSpPr/>
            <p:nvPr/>
          </p:nvCxnSpPr>
          <p:spPr>
            <a:xfrm>
              <a:off x="4601939" y="3133664"/>
              <a:ext cx="2995471" cy="0"/>
            </a:xfrm>
            <a:prstGeom prst="line">
              <a:avLst/>
            </a:prstGeom>
            <a:ln w="1905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C648E5D-0436-D5E0-B1BF-1E9C117DA430}"/>
                </a:ext>
              </a:extLst>
            </p:cNvPr>
            <p:cNvSpPr txBox="1"/>
            <p:nvPr/>
          </p:nvSpPr>
          <p:spPr>
            <a:xfrm>
              <a:off x="4601668" y="2842070"/>
              <a:ext cx="2996013" cy="215444"/>
            </a:xfrm>
            <a:prstGeom prst="rect">
              <a:avLst/>
            </a:prstGeom>
            <a:noFill/>
          </p:spPr>
          <p:txBody>
            <a:bodyPr wrap="none" lIns="25400" tIns="0" rIns="25400" bIns="0" anchor="b" anchorCtr="0">
              <a:spAutoFit/>
            </a:bodyPr>
            <a:lstStyle/>
            <a:p>
              <a:pPr algn="ctr"/>
              <a:r>
                <a:rPr sz="1400" dirty="0" err="1">
                  <a:solidFill>
                    <a:srgbClr val="007A8C"/>
                  </a:solidFill>
                  <a:latin typeface="Arial" panose="020B0604020202020204" pitchFamily="34" charset="0"/>
                </a:rPr>
                <a:t>vivado_execute</a:t>
              </a:r>
              <a:r>
                <a:rPr sz="1400" dirty="0">
                  <a:solidFill>
                    <a:srgbClr val="007A8C"/>
                  </a:solidFill>
                  <a:latin typeface="Arial" panose="020B0604020202020204" pitchFamily="34" charset="0"/>
                </a:rPr>
                <a:t> </a:t>
              </a:r>
              <a:r>
                <a:rPr sz="1400" dirty="0" err="1">
                  <a:solidFill>
                    <a:srgbClr val="007A8C"/>
                  </a:solidFill>
                  <a:latin typeface="Arial" panose="020B0604020202020204" pitchFamily="34" charset="0"/>
                </a:rPr>
                <a:t>launch_runs</a:t>
              </a:r>
              <a:r>
                <a:rPr sz="1400" dirty="0">
                  <a:solidFill>
                    <a:srgbClr val="007A8C"/>
                  </a:solidFill>
                  <a:latin typeface="Arial" panose="020B0604020202020204" pitchFamily="34" charset="0"/>
                </a:rPr>
                <a:t> synth_1</a:t>
              </a:r>
            </a:p>
          </p:txBody>
        </p:sp>
        <p:cxnSp>
          <p:nvCxnSpPr>
            <p:cNvPr id="21" name="Connector 19">
              <a:extLst>
                <a:ext uri="{FF2B5EF4-FFF2-40B4-BE49-F238E27FC236}">
                  <a16:creationId xmlns:a16="http://schemas.microsoft.com/office/drawing/2014/main" id="{32DF5D8A-1D77-2F4F-775B-9EA365E0CD53}"/>
                </a:ext>
              </a:extLst>
            </p:cNvPr>
            <p:cNvCxnSpPr/>
            <p:nvPr/>
          </p:nvCxnSpPr>
          <p:spPr>
            <a:xfrm flipH="1">
              <a:off x="4601939" y="3545955"/>
              <a:ext cx="2995471" cy="0"/>
            </a:xfrm>
            <a:prstGeom prst="line">
              <a:avLst/>
            </a:prstGeom>
            <a:ln w="12700">
              <a:solidFill>
                <a:srgbClr val="A6A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069EA3E4-A29B-AEDE-89CD-E8CAF932CDF0}"/>
                </a:ext>
              </a:extLst>
            </p:cNvPr>
            <p:cNvSpPr txBox="1"/>
            <p:nvPr/>
          </p:nvSpPr>
          <p:spPr>
            <a:xfrm>
              <a:off x="4608936" y="3240257"/>
              <a:ext cx="3635612" cy="215444"/>
            </a:xfrm>
            <a:prstGeom prst="rect">
              <a:avLst/>
            </a:prstGeom>
            <a:noFill/>
          </p:spPr>
          <p:txBody>
            <a:bodyPr wrap="none" lIns="25400" tIns="0" rIns="25400" bIns="0" anchor="b" anchorCtr="0">
              <a:spAutoFit/>
            </a:bodyPr>
            <a:lstStyle/>
            <a:p>
              <a:pPr algn="ctr"/>
              <a:r>
                <a:rPr sz="1400" dirty="0" err="1">
                  <a:solidFill>
                    <a:srgbClr val="404040"/>
                  </a:solidFill>
                  <a:latin typeface="Arial" panose="020B0604020202020204" pitchFamily="34" charset="0"/>
                </a:rPr>
                <a:t>vivado_log_messages</a:t>
              </a:r>
              <a:r>
                <a:rPr sz="1400" dirty="0">
                  <a:solidFill>
                    <a:srgbClr val="404040"/>
                  </a:solidFill>
                  <a:latin typeface="Arial" panose="020B0604020202020204" pitchFamily="34" charset="0"/>
                </a:rPr>
                <a:t> ERROR Synth 8-3352</a:t>
              </a:r>
            </a:p>
          </p:txBody>
        </p:sp>
        <p:cxnSp>
          <p:nvCxnSpPr>
            <p:cNvPr id="23" name="Connector 21">
              <a:extLst>
                <a:ext uri="{FF2B5EF4-FFF2-40B4-BE49-F238E27FC236}">
                  <a16:creationId xmlns:a16="http://schemas.microsoft.com/office/drawing/2014/main" id="{EF8215ED-E879-CA51-A1BE-A30DBE138EDB}"/>
                </a:ext>
              </a:extLst>
            </p:cNvPr>
            <p:cNvCxnSpPr/>
            <p:nvPr/>
          </p:nvCxnSpPr>
          <p:spPr>
            <a:xfrm>
              <a:off x="4601939" y="3958246"/>
              <a:ext cx="5990943" cy="0"/>
            </a:xfrm>
            <a:prstGeom prst="line">
              <a:avLst/>
            </a:prstGeom>
            <a:ln w="1905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ABA6B13-85F0-AD4B-5A07-9058C9B2C648}"/>
                </a:ext>
              </a:extLst>
            </p:cNvPr>
            <p:cNvSpPr txBox="1"/>
            <p:nvPr/>
          </p:nvSpPr>
          <p:spPr>
            <a:xfrm>
              <a:off x="6056368" y="3674247"/>
              <a:ext cx="3533019" cy="215444"/>
            </a:xfrm>
            <a:prstGeom prst="rect">
              <a:avLst/>
            </a:prstGeom>
            <a:noFill/>
          </p:spPr>
          <p:txBody>
            <a:bodyPr wrap="none" lIns="25400" tIns="0" rIns="25400" bIns="0" anchor="b" anchorCtr="0">
              <a:spAutoFit/>
            </a:bodyPr>
            <a:lstStyle/>
            <a:p>
              <a:pPr algn="ctr"/>
              <a:r>
                <a:rPr sz="1400" dirty="0" err="1">
                  <a:solidFill>
                    <a:srgbClr val="007A8C"/>
                  </a:solidFill>
                  <a:latin typeface="Arial" panose="020B0604020202020204" pitchFamily="34" charset="0"/>
                </a:rPr>
                <a:t>vivado_doc_search</a:t>
              </a:r>
              <a:r>
                <a:rPr sz="1400" dirty="0">
                  <a:solidFill>
                    <a:srgbClr val="007A8C"/>
                  </a:solidFill>
                  <a:latin typeface="Arial" panose="020B0604020202020204" pitchFamily="34" charset="0"/>
                </a:rPr>
                <a:t> Synth 8-3352 resolution</a:t>
              </a:r>
            </a:p>
          </p:txBody>
        </p:sp>
        <p:cxnSp>
          <p:nvCxnSpPr>
            <p:cNvPr id="25" name="Connector 23">
              <a:extLst>
                <a:ext uri="{FF2B5EF4-FFF2-40B4-BE49-F238E27FC236}">
                  <a16:creationId xmlns:a16="http://schemas.microsoft.com/office/drawing/2014/main" id="{851900D2-6975-7C81-A26D-C0FEDAFAF5EC}"/>
                </a:ext>
              </a:extLst>
            </p:cNvPr>
            <p:cNvCxnSpPr/>
            <p:nvPr/>
          </p:nvCxnSpPr>
          <p:spPr>
            <a:xfrm flipH="1">
              <a:off x="4601939" y="4370537"/>
              <a:ext cx="5990943" cy="0"/>
            </a:xfrm>
            <a:prstGeom prst="line">
              <a:avLst/>
            </a:prstGeom>
            <a:ln w="12700">
              <a:solidFill>
                <a:srgbClr val="A6A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CFAEE645-0CD0-F643-F5F8-08336E649BCC}"/>
                </a:ext>
              </a:extLst>
            </p:cNvPr>
            <p:cNvSpPr txBox="1"/>
            <p:nvPr/>
          </p:nvSpPr>
          <p:spPr>
            <a:xfrm>
              <a:off x="6094276" y="4078944"/>
              <a:ext cx="3006272" cy="215444"/>
            </a:xfrm>
            <a:prstGeom prst="rect">
              <a:avLst/>
            </a:prstGeom>
            <a:noFill/>
          </p:spPr>
          <p:txBody>
            <a:bodyPr wrap="none" lIns="25400" tIns="0" rIns="25400" bIns="0" anchor="b" anchorCtr="0">
              <a:spAutoFit/>
            </a:bodyPr>
            <a:lstStyle/>
            <a:p>
              <a:pPr algn="ctr"/>
              <a:r>
                <a:rPr sz="1400" dirty="0">
                  <a:solidFill>
                    <a:srgbClr val="404040"/>
                  </a:solidFill>
                  <a:latin typeface="Arial" panose="020B0604020202020204" pitchFamily="34" charset="0"/>
                </a:rPr>
                <a:t>Result KBA with fix and </a:t>
              </a:r>
              <a:r>
                <a:rPr lang="en-US" sz="1400" dirty="0">
                  <a:solidFill>
                    <a:srgbClr val="404040"/>
                  </a:solidFill>
                  <a:latin typeface="Arial" panose="020B0604020202020204" pitchFamily="34" charset="0"/>
                </a:rPr>
                <a:t>Tcl </a:t>
              </a:r>
              <a:r>
                <a:rPr sz="1400" dirty="0">
                  <a:solidFill>
                    <a:srgbClr val="404040"/>
                  </a:solidFill>
                  <a:latin typeface="Arial" panose="020B0604020202020204" pitchFamily="34" charset="0"/>
                </a:rPr>
                <a:t>command</a:t>
              </a:r>
            </a:p>
          </p:txBody>
        </p:sp>
        <p:cxnSp>
          <p:nvCxnSpPr>
            <p:cNvPr id="27" name="Connector 25">
              <a:extLst>
                <a:ext uri="{FF2B5EF4-FFF2-40B4-BE49-F238E27FC236}">
                  <a16:creationId xmlns:a16="http://schemas.microsoft.com/office/drawing/2014/main" id="{479DF08E-9338-6B11-7FB7-C6052FE735BA}"/>
                </a:ext>
              </a:extLst>
            </p:cNvPr>
            <p:cNvCxnSpPr/>
            <p:nvPr/>
          </p:nvCxnSpPr>
          <p:spPr>
            <a:xfrm>
              <a:off x="4601939" y="4782828"/>
              <a:ext cx="2995471" cy="0"/>
            </a:xfrm>
            <a:prstGeom prst="line">
              <a:avLst/>
            </a:prstGeom>
            <a:ln w="1905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9BEDD28F-03E0-9FBA-FAB0-A2E7E7FD5F74}"/>
                </a:ext>
              </a:extLst>
            </p:cNvPr>
            <p:cNvSpPr txBox="1"/>
            <p:nvPr/>
          </p:nvSpPr>
          <p:spPr>
            <a:xfrm>
              <a:off x="5098598" y="4491235"/>
              <a:ext cx="2002151" cy="215444"/>
            </a:xfrm>
            <a:prstGeom prst="rect">
              <a:avLst/>
            </a:prstGeom>
            <a:noFill/>
          </p:spPr>
          <p:txBody>
            <a:bodyPr wrap="none" lIns="25400" tIns="0" rIns="25400" bIns="0" anchor="b" anchorCtr="0">
              <a:spAutoFit/>
            </a:bodyPr>
            <a:lstStyle/>
            <a:p>
              <a:pPr algn="ctr"/>
              <a:r>
                <a:rPr sz="1400" dirty="0" err="1">
                  <a:solidFill>
                    <a:srgbClr val="007A8C"/>
                  </a:solidFill>
                  <a:latin typeface="Arial" panose="020B0604020202020204" pitchFamily="34" charset="0"/>
                </a:rPr>
                <a:t>vivado_execute</a:t>
              </a:r>
              <a:r>
                <a:rPr sz="1400" dirty="0">
                  <a:solidFill>
                    <a:srgbClr val="007A8C"/>
                  </a:solidFill>
                  <a:latin typeface="Arial" panose="020B0604020202020204" pitchFamily="34" charset="0"/>
                </a:rPr>
                <a:t> apply fix</a:t>
              </a:r>
            </a:p>
          </p:txBody>
        </p:sp>
        <p:cxnSp>
          <p:nvCxnSpPr>
            <p:cNvPr id="29" name="Connector 27">
              <a:extLst>
                <a:ext uri="{FF2B5EF4-FFF2-40B4-BE49-F238E27FC236}">
                  <a16:creationId xmlns:a16="http://schemas.microsoft.com/office/drawing/2014/main" id="{F76C41DF-BEE4-ED83-2432-56532F7CC691}"/>
                </a:ext>
              </a:extLst>
            </p:cNvPr>
            <p:cNvCxnSpPr/>
            <p:nvPr/>
          </p:nvCxnSpPr>
          <p:spPr>
            <a:xfrm flipH="1">
              <a:off x="4601939" y="5195120"/>
              <a:ext cx="2995471" cy="0"/>
            </a:xfrm>
            <a:prstGeom prst="line">
              <a:avLst/>
            </a:prstGeom>
            <a:ln w="12700">
              <a:solidFill>
                <a:srgbClr val="A6A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8CE6EF26-64D0-23BA-F668-F0F37121D32E}"/>
                </a:ext>
              </a:extLst>
            </p:cNvPr>
            <p:cNvSpPr txBox="1"/>
            <p:nvPr/>
          </p:nvSpPr>
          <p:spPr>
            <a:xfrm>
              <a:off x="4622670" y="4903526"/>
              <a:ext cx="3741409" cy="215444"/>
            </a:xfrm>
            <a:prstGeom prst="rect">
              <a:avLst/>
            </a:prstGeom>
            <a:noFill/>
          </p:spPr>
          <p:txBody>
            <a:bodyPr wrap="none" lIns="25400" tIns="0" rIns="25400" bIns="0" anchor="b" anchorCtr="0">
              <a:spAutoFit/>
            </a:bodyPr>
            <a:lstStyle/>
            <a:p>
              <a:pPr algn="ctr"/>
              <a:r>
                <a:rPr sz="1400" dirty="0" err="1">
                  <a:solidFill>
                    <a:srgbClr val="404040"/>
                  </a:solidFill>
                  <a:latin typeface="Arial" panose="020B0604020202020204" pitchFamily="34" charset="0"/>
                </a:rPr>
                <a:t>vivado_run_status</a:t>
              </a:r>
              <a:r>
                <a:rPr sz="1400" dirty="0">
                  <a:solidFill>
                    <a:srgbClr val="404040"/>
                  </a:solidFill>
                  <a:latin typeface="Arial" panose="020B0604020202020204" pitchFamily="34" charset="0"/>
                </a:rPr>
                <a:t> synthesis complete 0 errors</a:t>
              </a:r>
            </a:p>
          </p:txBody>
        </p:sp>
        <p:cxnSp>
          <p:nvCxnSpPr>
            <p:cNvPr id="31" name="Connector 29">
              <a:extLst>
                <a:ext uri="{FF2B5EF4-FFF2-40B4-BE49-F238E27FC236}">
                  <a16:creationId xmlns:a16="http://schemas.microsoft.com/office/drawing/2014/main" id="{5BFA3081-C25A-E50C-B327-184BE5FB6E80}"/>
                </a:ext>
              </a:extLst>
            </p:cNvPr>
            <p:cNvCxnSpPr>
              <a:cxnSpLocks/>
            </p:cNvCxnSpPr>
            <p:nvPr/>
          </p:nvCxnSpPr>
          <p:spPr>
            <a:xfrm flipH="1">
              <a:off x="1428668" y="5607411"/>
              <a:ext cx="3169596" cy="0"/>
            </a:xfrm>
            <a:prstGeom prst="line">
              <a:avLst/>
            </a:prstGeom>
            <a:ln w="12700">
              <a:solidFill>
                <a:srgbClr val="A6A6A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9395E360-C488-415B-DB9C-9DC2DE6D861A}"/>
                </a:ext>
              </a:extLst>
            </p:cNvPr>
            <p:cNvSpPr txBox="1"/>
            <p:nvPr/>
          </p:nvSpPr>
          <p:spPr>
            <a:xfrm>
              <a:off x="1510208" y="5315817"/>
              <a:ext cx="2984791" cy="215444"/>
            </a:xfrm>
            <a:prstGeom prst="rect">
              <a:avLst/>
            </a:prstGeom>
            <a:noFill/>
          </p:spPr>
          <p:txBody>
            <a:bodyPr wrap="none" lIns="25400" tIns="0" rIns="25400" bIns="0" anchor="b" anchorCtr="0">
              <a:spAutoFit/>
            </a:bodyPr>
            <a:lstStyle/>
            <a:p>
              <a:pPr algn="ctr"/>
              <a:r>
                <a:rPr sz="1400" dirty="0">
                  <a:solidFill>
                    <a:srgbClr val="404040"/>
                  </a:solidFill>
                  <a:latin typeface="Arial" panose="020B0604020202020204" pitchFamily="34" charset="0"/>
                </a:rPr>
                <a:t>Fixed the error and synthesis passed</a:t>
              </a:r>
            </a:p>
          </p:txBody>
        </p:sp>
      </p:grpSp>
      <p:sp>
        <p:nvSpPr>
          <p:cNvPr id="34" name="Rounded Rectangle 4">
            <a:extLst>
              <a:ext uri="{FF2B5EF4-FFF2-40B4-BE49-F238E27FC236}">
                <a16:creationId xmlns:a16="http://schemas.microsoft.com/office/drawing/2014/main" id="{41AE6A60-4B92-CDEC-BC86-67E9910B50C7}"/>
              </a:ext>
            </a:extLst>
          </p:cNvPr>
          <p:cNvSpPr/>
          <p:nvPr/>
        </p:nvSpPr>
        <p:spPr>
          <a:xfrm>
            <a:off x="585284" y="1311982"/>
            <a:ext cx="11021434" cy="898128"/>
          </a:xfrm>
          <a:prstGeom prst="snip2DiagRect">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600" dirty="0">
                <a:solidFill>
                  <a:schemeClr val="tx1"/>
                </a:solidFill>
                <a:latin typeface="+mj-lt"/>
              </a:rPr>
              <a:t>What makes this transformative for customers is not the KB alone—it is the </a:t>
            </a:r>
            <a:r>
              <a:rPr lang="en-US" sz="1600" b="1" dirty="0">
                <a:solidFill>
                  <a:schemeClr val="tx1"/>
                </a:solidFill>
                <a:latin typeface="+mj-lt"/>
              </a:rPr>
              <a:t>tight integration</a:t>
            </a:r>
            <a:r>
              <a:rPr lang="en-US" sz="1600" dirty="0">
                <a:solidFill>
                  <a:schemeClr val="tx1"/>
                </a:solidFill>
                <a:latin typeface="+mj-lt"/>
              </a:rPr>
              <a:t> with live AMD Vivado™ design tool </a:t>
            </a:r>
            <a:r>
              <a:rPr lang="en-US" sz="1600">
                <a:solidFill>
                  <a:schemeClr val="tx1"/>
                </a:solidFill>
                <a:latin typeface="+mj-lt"/>
              </a:rPr>
              <a:t>session control </a:t>
            </a:r>
            <a:endParaRPr lang="en-US" sz="1600" dirty="0">
              <a:solidFill>
                <a:schemeClr val="tx1"/>
              </a:solidFill>
              <a:latin typeface="+mj-lt"/>
            </a:endParaRPr>
          </a:p>
          <a:p>
            <a:r>
              <a:rPr lang="en-US" sz="1600" dirty="0">
                <a:solidFill>
                  <a:schemeClr val="tx1"/>
                </a:solidFill>
                <a:latin typeface="+mj-lt"/>
              </a:rPr>
              <a:t>A typical AI-assisted debug cycle is as follows:</a:t>
            </a:r>
          </a:p>
        </p:txBody>
      </p:sp>
    </p:spTree>
    <p:extLst>
      <p:ext uri="{BB962C8B-B14F-4D97-AF65-F5344CB8AC3E}">
        <p14:creationId xmlns:p14="http://schemas.microsoft.com/office/powerpoint/2010/main" val="135303860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45E64812-D96D-E58A-5209-04C196D5FC9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18" name="think-cell data - do not delete" hidden="1">
                        <a:extLst>
                          <a:ext uri="{FF2B5EF4-FFF2-40B4-BE49-F238E27FC236}">
                            <a16:creationId xmlns:a16="http://schemas.microsoft.com/office/drawing/2014/main" id="{45E64812-D96D-E58A-5209-04C196D5FC9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9255699B-1A6D-D671-08B4-3D4FFBACFF3A}"/>
              </a:ext>
            </a:extLst>
          </p:cNvPr>
          <p:cNvSpPr>
            <a:spLocks noGrp="1"/>
          </p:cNvSpPr>
          <p:nvPr>
            <p:ph type="title"/>
          </p:nvPr>
        </p:nvSpPr>
        <p:spPr>
          <a:xfrm>
            <a:off x="588263" y="591790"/>
            <a:ext cx="11018520" cy="430887"/>
          </a:xfrm>
        </p:spPr>
        <p:txBody>
          <a:bodyPr vert="horz" rIns="0">
            <a:spAutoFit/>
          </a:bodyPr>
          <a:lstStyle/>
          <a:p>
            <a:r>
              <a:rPr lang="en-US" dirty="0">
                <a:latin typeface="Arial Bold" panose="020B0704020202020204" pitchFamily="34" charset="0"/>
              </a:rPr>
              <a:t>AMD Vivado MCP: Drives Vivado IDE in Batch or GUI Mode</a:t>
            </a:r>
            <a:endParaRPr lang="en-ID" dirty="0">
              <a:latin typeface="Arial Bold" panose="020B0704020202020204" pitchFamily="34" charset="0"/>
            </a:endParaRPr>
          </a:p>
        </p:txBody>
      </p:sp>
      <p:sp>
        <p:nvSpPr>
          <p:cNvPr id="19" name="Rounded Rectangle 4">
            <a:extLst>
              <a:ext uri="{FF2B5EF4-FFF2-40B4-BE49-F238E27FC236}">
                <a16:creationId xmlns:a16="http://schemas.microsoft.com/office/drawing/2014/main" id="{1B193BC2-84EF-1B65-46CA-0157F9645312}"/>
              </a:ext>
            </a:extLst>
          </p:cNvPr>
          <p:cNvSpPr/>
          <p:nvPr/>
        </p:nvSpPr>
        <p:spPr>
          <a:xfrm>
            <a:off x="585285" y="1565982"/>
            <a:ext cx="4001956" cy="457200"/>
          </a:xfrm>
          <a:prstGeom prst="snip2DiagRect">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600" b="1" dirty="0">
                <a:solidFill>
                  <a:schemeClr val="tx1"/>
                </a:solidFill>
                <a:latin typeface="Arial" panose="020B0604020202020204" pitchFamily="34" charset="0"/>
              </a:rPr>
              <a:t>BATCH MODE </a:t>
            </a:r>
          </a:p>
        </p:txBody>
      </p:sp>
      <p:sp>
        <p:nvSpPr>
          <p:cNvPr id="20" name="Rounded Rectangle 4">
            <a:extLst>
              <a:ext uri="{FF2B5EF4-FFF2-40B4-BE49-F238E27FC236}">
                <a16:creationId xmlns:a16="http://schemas.microsoft.com/office/drawing/2014/main" id="{06AB9D63-6854-F550-D9CD-0F218D07FE1F}"/>
              </a:ext>
            </a:extLst>
          </p:cNvPr>
          <p:cNvSpPr/>
          <p:nvPr/>
        </p:nvSpPr>
        <p:spPr>
          <a:xfrm>
            <a:off x="2179638" y="1565982"/>
            <a:ext cx="3656525" cy="457200"/>
          </a:xfrm>
          <a:prstGeom prst="snip2Diag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lang="en-US" sz="1200" dirty="0">
                <a:solidFill>
                  <a:schemeClr val="tx1"/>
                </a:solidFill>
                <a:latin typeface="Arial" panose="020B0604020202020204" pitchFamily="34" charset="0"/>
              </a:rPr>
              <a:t>Headless  •  CI/CD Pipelines  •  Regression Flows</a:t>
            </a:r>
          </a:p>
        </p:txBody>
      </p:sp>
      <p:sp>
        <p:nvSpPr>
          <p:cNvPr id="24" name="Rounded Rectangle 4">
            <a:extLst>
              <a:ext uri="{FF2B5EF4-FFF2-40B4-BE49-F238E27FC236}">
                <a16:creationId xmlns:a16="http://schemas.microsoft.com/office/drawing/2014/main" id="{6338A067-D14F-10EE-A353-D06ADD5892C0}"/>
              </a:ext>
            </a:extLst>
          </p:cNvPr>
          <p:cNvSpPr/>
          <p:nvPr/>
        </p:nvSpPr>
        <p:spPr>
          <a:xfrm>
            <a:off x="6355905" y="1565982"/>
            <a:ext cx="4001956" cy="457200"/>
          </a:xfrm>
          <a:prstGeom prst="snip2DiagRect">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600" b="1" dirty="0">
                <a:solidFill>
                  <a:schemeClr val="tx1"/>
                </a:solidFill>
                <a:latin typeface="Arial" panose="020B0604020202020204" pitchFamily="34" charset="0"/>
              </a:rPr>
              <a:t>GUI MODE </a:t>
            </a:r>
          </a:p>
        </p:txBody>
      </p:sp>
      <p:sp>
        <p:nvSpPr>
          <p:cNvPr id="25" name="Rounded Rectangle 4">
            <a:extLst>
              <a:ext uri="{FF2B5EF4-FFF2-40B4-BE49-F238E27FC236}">
                <a16:creationId xmlns:a16="http://schemas.microsoft.com/office/drawing/2014/main" id="{EC1C8882-E9F3-6A91-EB2C-06E778AB38A5}"/>
              </a:ext>
            </a:extLst>
          </p:cNvPr>
          <p:cNvSpPr/>
          <p:nvPr/>
        </p:nvSpPr>
        <p:spPr>
          <a:xfrm>
            <a:off x="7950258" y="1565982"/>
            <a:ext cx="3656525" cy="457200"/>
          </a:xfrm>
          <a:prstGeom prst="snip2Diag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lang="en-US" sz="1200" dirty="0">
                <a:solidFill>
                  <a:schemeClr val="tx1"/>
                </a:solidFill>
                <a:latin typeface="Arial" panose="020B0604020202020204" pitchFamily="34" charset="0"/>
              </a:rPr>
              <a:t>Visual Debug  •  Interactive  •  Remote VNC</a:t>
            </a:r>
          </a:p>
        </p:txBody>
      </p:sp>
      <p:sp>
        <p:nvSpPr>
          <p:cNvPr id="26" name="Rounded Rectangle 3">
            <a:extLst>
              <a:ext uri="{FF2B5EF4-FFF2-40B4-BE49-F238E27FC236}">
                <a16:creationId xmlns:a16="http://schemas.microsoft.com/office/drawing/2014/main" id="{91424107-AAE0-E16B-D251-4C2DB9FBB640}"/>
              </a:ext>
            </a:extLst>
          </p:cNvPr>
          <p:cNvSpPr/>
          <p:nvPr/>
        </p:nvSpPr>
        <p:spPr>
          <a:xfrm>
            <a:off x="585285" y="2111139"/>
            <a:ext cx="5250878" cy="4315061"/>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wrap="square" lIns="144000" tIns="108000" rIns="144000" bIns="108000" rtlCol="0" anchor="t"/>
          <a:lstStyle/>
          <a:p>
            <a:pPr algn="l">
              <a:spcAft>
                <a:spcPts val="600"/>
              </a:spcAft>
            </a:pPr>
            <a:r>
              <a:rPr sz="1050" dirty="0">
                <a:solidFill>
                  <a:srgbClr val="595959"/>
                </a:solidFill>
                <a:latin typeface="Arial" panose="020B0604020202020204" pitchFamily="34" charset="0"/>
              </a:rPr>
              <a:t>─── Vivado</a:t>
            </a:r>
            <a:r>
              <a:rPr lang="en-US" sz="1050" dirty="0">
                <a:solidFill>
                  <a:srgbClr val="595959"/>
                </a:solidFill>
                <a:latin typeface="Arial" panose="020B0604020202020204" pitchFamily="34" charset="0"/>
              </a:rPr>
              <a:t>™</a:t>
            </a:r>
            <a:r>
              <a:rPr sz="1050" dirty="0">
                <a:solidFill>
                  <a:srgbClr val="595959"/>
                </a:solidFill>
                <a:latin typeface="Arial" panose="020B0604020202020204" pitchFamily="34" charset="0"/>
              </a:rPr>
              <a:t> MCP—</a:t>
            </a:r>
            <a:r>
              <a:rPr lang="en-US" sz="1050" dirty="0">
                <a:solidFill>
                  <a:srgbClr val="595959"/>
                </a:solidFill>
                <a:latin typeface="Arial" panose="020B0604020202020204" pitchFamily="34" charset="0"/>
              </a:rPr>
              <a:t>Tcl</a:t>
            </a:r>
            <a:r>
              <a:rPr sz="1050" dirty="0">
                <a:solidFill>
                  <a:srgbClr val="595959"/>
                </a:solidFill>
                <a:latin typeface="Arial" panose="020B0604020202020204" pitchFamily="34" charset="0"/>
              </a:rPr>
              <a:t> Batch Session ───</a:t>
            </a:r>
          </a:p>
          <a:p>
            <a:pPr algn="l">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vivado_start</a:t>
            </a: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session_type</a:t>
            </a:r>
            <a:r>
              <a:rPr sz="1100" dirty="0">
                <a:solidFill>
                  <a:schemeClr val="accent6">
                    <a:lumMod val="50000"/>
                  </a:schemeClr>
                </a:solidFill>
                <a:latin typeface="Arial" panose="020B0604020202020204" pitchFamily="34" charset="0"/>
              </a:rPr>
              <a:t>="batch"</a:t>
            </a:r>
          </a:p>
          <a:p>
            <a:pPr algn="l">
              <a:spcBef>
                <a:spcPts val="100"/>
              </a:spcBef>
              <a:spcAft>
                <a:spcPts val="100"/>
              </a:spcAft>
            </a:pPr>
            <a:r>
              <a:rPr sz="1100" dirty="0">
                <a:solidFill>
                  <a:schemeClr val="accent6">
                    <a:lumMod val="50000"/>
                  </a:schemeClr>
                </a:solidFill>
                <a:latin typeface="Arial" panose="020B0604020202020204" pitchFamily="34" charset="0"/>
              </a:rPr>
              <a:t>  ✓ Vivado started in </a:t>
            </a:r>
            <a:r>
              <a:rPr lang="en-US" sz="1100" dirty="0">
                <a:solidFill>
                  <a:schemeClr val="accent6">
                    <a:lumMod val="50000"/>
                  </a:schemeClr>
                </a:solidFill>
                <a:latin typeface="Arial" panose="020B0604020202020204" pitchFamily="34" charset="0"/>
              </a:rPr>
              <a:t>Tcl</a:t>
            </a:r>
            <a:r>
              <a:rPr sz="1100" dirty="0">
                <a:solidFill>
                  <a:schemeClr val="accent6">
                    <a:lumMod val="50000"/>
                  </a:schemeClr>
                </a:solidFill>
                <a:latin typeface="Arial" panose="020B0604020202020204" pitchFamily="34" charset="0"/>
              </a:rPr>
              <a:t> mode (PID 38012)</a:t>
            </a:r>
          </a:p>
          <a:p>
            <a:pPr algn="l">
              <a:spcBef>
                <a:spcPts val="100"/>
              </a:spcBef>
              <a:spcAft>
                <a:spcPts val="100"/>
              </a:spcAft>
            </a:pPr>
            <a:r>
              <a:rPr sz="900" dirty="0">
                <a:solidFill>
                  <a:srgbClr val="000000"/>
                </a:solidFill>
                <a:latin typeface="Arial" panose="020B0604020202020204" pitchFamily="34" charset="0"/>
              </a:rPr>
              <a:t> </a:t>
            </a:r>
          </a:p>
          <a:p>
            <a:pPr algn="l">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vivado_execute</a:t>
            </a: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open_project</a:t>
            </a: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top_design.xpr</a:t>
            </a:r>
            <a:r>
              <a:rPr sz="1100" dirty="0">
                <a:solidFill>
                  <a:schemeClr val="accent6">
                    <a:lumMod val="50000"/>
                  </a:schemeClr>
                </a:solidFill>
                <a:latin typeface="Arial" panose="020B0604020202020204" pitchFamily="34" charset="0"/>
              </a:rPr>
              <a:t>"</a:t>
            </a:r>
          </a:p>
          <a:p>
            <a:pPr algn="l">
              <a:spcBef>
                <a:spcPts val="100"/>
              </a:spcBef>
              <a:spcAft>
                <a:spcPts val="100"/>
              </a:spcAft>
            </a:pPr>
            <a:r>
              <a:rPr sz="1100" dirty="0">
                <a:solidFill>
                  <a:srgbClr val="404040"/>
                </a:solidFill>
                <a:latin typeface="Arial" panose="020B0604020202020204" pitchFamily="34" charset="0"/>
              </a:rPr>
              <a:t>  </a:t>
            </a:r>
            <a:r>
              <a:rPr sz="1100" dirty="0" err="1">
                <a:solidFill>
                  <a:srgbClr val="404040"/>
                </a:solidFill>
                <a:latin typeface="Arial" panose="020B0604020202020204" pitchFamily="34" charset="0"/>
              </a:rPr>
              <a:t>top_design</a:t>
            </a:r>
            <a:endParaRPr sz="1100" dirty="0">
              <a:solidFill>
                <a:srgbClr val="404040"/>
              </a:solidFill>
              <a:latin typeface="Arial" panose="020B0604020202020204" pitchFamily="34" charset="0"/>
            </a:endParaRPr>
          </a:p>
          <a:p>
            <a:pPr algn="l">
              <a:spcBef>
                <a:spcPts val="100"/>
              </a:spcBef>
              <a:spcAft>
                <a:spcPts val="100"/>
              </a:spcAft>
            </a:pPr>
            <a:r>
              <a:rPr sz="900" dirty="0">
                <a:solidFill>
                  <a:srgbClr val="000000"/>
                </a:solidFill>
                <a:latin typeface="Arial" panose="020B0604020202020204" pitchFamily="34" charset="0"/>
              </a:rPr>
              <a:t> </a:t>
            </a:r>
          </a:p>
          <a:p>
            <a:pPr>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vivado_execute</a:t>
            </a: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launch_runs</a:t>
            </a:r>
            <a:r>
              <a:rPr sz="1100" dirty="0">
                <a:solidFill>
                  <a:schemeClr val="accent6">
                    <a:lumMod val="50000"/>
                  </a:schemeClr>
                </a:solidFill>
                <a:latin typeface="Arial" panose="020B0604020202020204" pitchFamily="34" charset="0"/>
              </a:rPr>
              <a:t> synth_1"</a:t>
            </a:r>
          </a:p>
          <a:p>
            <a:pPr>
              <a:spcBef>
                <a:spcPts val="100"/>
              </a:spcBef>
              <a:spcAft>
                <a:spcPts val="100"/>
              </a:spcAft>
            </a:pPr>
            <a:r>
              <a:rPr sz="1100" dirty="0">
                <a:solidFill>
                  <a:schemeClr val="accent6">
                    <a:lumMod val="50000"/>
                  </a:schemeClr>
                </a:solidFill>
                <a:latin typeface="Arial" panose="020B0604020202020204" pitchFamily="34" charset="0"/>
              </a:rPr>
              <a:t>  ✓ synth_1 launched</a:t>
            </a:r>
          </a:p>
          <a:p>
            <a:pPr algn="l">
              <a:spcBef>
                <a:spcPts val="100"/>
              </a:spcBef>
              <a:spcAft>
                <a:spcPts val="100"/>
              </a:spcAft>
            </a:pPr>
            <a:r>
              <a:rPr sz="900" dirty="0">
                <a:solidFill>
                  <a:srgbClr val="000000"/>
                </a:solidFill>
                <a:latin typeface="Arial" panose="020B0604020202020204" pitchFamily="34" charset="0"/>
              </a:rPr>
              <a:t> </a:t>
            </a:r>
          </a:p>
          <a:p>
            <a:pPr>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vivado_run</a:t>
            </a:r>
            <a:r>
              <a:rPr sz="1100" dirty="0">
                <a:solidFill>
                  <a:schemeClr val="accent6">
                    <a:lumMod val="50000"/>
                  </a:schemeClr>
                </a:solidFill>
                <a:latin typeface="Arial" panose="020B0604020202020204" pitchFamily="34" charset="0"/>
              </a:rPr>
              <a:t> status="synth_1"</a:t>
            </a:r>
          </a:p>
          <a:p>
            <a:pPr>
              <a:spcBef>
                <a:spcPts val="100"/>
              </a:spcBef>
              <a:spcAft>
                <a:spcPts val="100"/>
              </a:spcAft>
            </a:pPr>
            <a:r>
              <a:rPr sz="1100" dirty="0">
                <a:solidFill>
                  <a:schemeClr val="accent6">
                    <a:lumMod val="50000"/>
                  </a:schemeClr>
                </a:solidFill>
                <a:latin typeface="Arial" panose="020B0604020202020204" pitchFamily="34" charset="0"/>
              </a:rPr>
              <a:t>  synth_1: 100% Complete</a:t>
            </a:r>
          </a:p>
          <a:p>
            <a:pPr algn="l">
              <a:spcBef>
                <a:spcPts val="100"/>
              </a:spcBef>
              <a:spcAft>
                <a:spcPts val="100"/>
              </a:spcAft>
            </a:pPr>
            <a:r>
              <a:rPr sz="900" dirty="0">
                <a:solidFill>
                  <a:srgbClr val="000000"/>
                </a:solidFill>
                <a:latin typeface="Arial" panose="020B0604020202020204" pitchFamily="34" charset="0"/>
              </a:rPr>
              <a:t> </a:t>
            </a:r>
          </a:p>
          <a:p>
            <a:pPr>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vivado_execute</a:t>
            </a: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launch_runs</a:t>
            </a:r>
            <a:r>
              <a:rPr sz="1100" dirty="0">
                <a:solidFill>
                  <a:schemeClr val="accent6">
                    <a:lumMod val="50000"/>
                  </a:schemeClr>
                </a:solidFill>
                <a:latin typeface="Arial" panose="020B0604020202020204" pitchFamily="34" charset="0"/>
              </a:rPr>
              <a:t> impl_1"</a:t>
            </a:r>
          </a:p>
          <a:p>
            <a:pPr>
              <a:spcBef>
                <a:spcPts val="100"/>
              </a:spcBef>
              <a:spcAft>
                <a:spcPts val="100"/>
              </a:spcAft>
            </a:pPr>
            <a:r>
              <a:rPr sz="1100" dirty="0">
                <a:solidFill>
                  <a:schemeClr val="accent6">
                    <a:lumMod val="50000"/>
                  </a:schemeClr>
                </a:solidFill>
                <a:latin typeface="Arial" panose="020B0604020202020204" pitchFamily="34" charset="0"/>
              </a:rPr>
              <a:t>  ✓ impl_1 launched</a:t>
            </a:r>
          </a:p>
          <a:p>
            <a:pPr algn="l">
              <a:spcBef>
                <a:spcPts val="100"/>
              </a:spcBef>
              <a:spcAft>
                <a:spcPts val="100"/>
              </a:spcAft>
            </a:pPr>
            <a:r>
              <a:rPr sz="900" dirty="0">
                <a:solidFill>
                  <a:srgbClr val="000000"/>
                </a:solidFill>
                <a:latin typeface="Arial" panose="020B0604020202020204" pitchFamily="34" charset="0"/>
              </a:rPr>
              <a:t> </a:t>
            </a:r>
          </a:p>
          <a:p>
            <a:pPr>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vivado_log_messages</a:t>
            </a:r>
            <a:endParaRPr sz="1100" dirty="0">
              <a:solidFill>
                <a:schemeClr val="accent6">
                  <a:lumMod val="50000"/>
                </a:schemeClr>
              </a:solidFill>
              <a:latin typeface="Arial" panose="020B0604020202020204" pitchFamily="34" charset="0"/>
            </a:endParaRPr>
          </a:p>
          <a:p>
            <a:pPr algn="l">
              <a:spcBef>
                <a:spcPts val="100"/>
              </a:spcBef>
              <a:spcAft>
                <a:spcPts val="100"/>
              </a:spcAft>
            </a:pPr>
            <a:r>
              <a:rPr sz="1100" dirty="0">
                <a:solidFill>
                  <a:srgbClr val="816E35"/>
                </a:solidFill>
                <a:latin typeface="Arial" panose="020B0604020202020204" pitchFamily="34" charset="0"/>
              </a:rPr>
              <a:t>  0 Errors, 2 Warnings, 14 Info</a:t>
            </a:r>
          </a:p>
          <a:p>
            <a:pPr algn="l">
              <a:spcBef>
                <a:spcPts val="100"/>
              </a:spcBef>
              <a:spcAft>
                <a:spcPts val="100"/>
              </a:spcAft>
            </a:pPr>
            <a:r>
              <a:rPr sz="900" dirty="0">
                <a:solidFill>
                  <a:srgbClr val="000000"/>
                </a:solidFill>
                <a:latin typeface="Arial" panose="020B0604020202020204" pitchFamily="34" charset="0"/>
              </a:rPr>
              <a:t> </a:t>
            </a:r>
          </a:p>
          <a:p>
            <a:pPr>
              <a:spcBef>
                <a:spcPts val="100"/>
              </a:spcBef>
              <a:spcAft>
                <a:spcPts val="100"/>
              </a:spcAft>
            </a:pP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vivado_execute</a:t>
            </a:r>
            <a:r>
              <a:rPr sz="1100" dirty="0">
                <a:solidFill>
                  <a:schemeClr val="accent6">
                    <a:lumMod val="50000"/>
                  </a:schemeClr>
                </a:solidFill>
                <a:latin typeface="Arial" panose="020B0604020202020204" pitchFamily="34" charset="0"/>
              </a:rPr>
              <a:t> "</a:t>
            </a:r>
            <a:r>
              <a:rPr sz="1100" dirty="0" err="1">
                <a:solidFill>
                  <a:schemeClr val="accent6">
                    <a:lumMod val="50000"/>
                  </a:schemeClr>
                </a:solidFill>
                <a:latin typeface="Arial" panose="020B0604020202020204" pitchFamily="34" charset="0"/>
              </a:rPr>
              <a:t>report_timing_summary</a:t>
            </a:r>
            <a:r>
              <a:rPr sz="1100" dirty="0">
                <a:solidFill>
                  <a:schemeClr val="accent6">
                    <a:lumMod val="50000"/>
                  </a:schemeClr>
                </a:solidFill>
                <a:latin typeface="Arial" panose="020B0604020202020204" pitchFamily="34" charset="0"/>
              </a:rPr>
              <a:t>"</a:t>
            </a:r>
          </a:p>
          <a:p>
            <a:pPr>
              <a:spcBef>
                <a:spcPts val="100"/>
              </a:spcBef>
              <a:spcAft>
                <a:spcPts val="100"/>
              </a:spcAft>
            </a:pPr>
            <a:r>
              <a:rPr sz="1100" dirty="0">
                <a:solidFill>
                  <a:schemeClr val="accent6">
                    <a:lumMod val="50000"/>
                  </a:schemeClr>
                </a:solidFill>
                <a:latin typeface="Arial" panose="020B0604020202020204" pitchFamily="34" charset="0"/>
              </a:rPr>
              <a:t>  WNS = 0.123ns—All timing constraints met</a:t>
            </a:r>
          </a:p>
          <a:p>
            <a:pPr>
              <a:spcBef>
                <a:spcPts val="400"/>
              </a:spcBef>
            </a:pPr>
            <a:r>
              <a:rPr sz="1100" dirty="0">
                <a:solidFill>
                  <a:schemeClr val="accent6">
                    <a:lumMod val="50000"/>
                  </a:schemeClr>
                </a:solidFill>
                <a:latin typeface="Arial" panose="020B0604020202020204" pitchFamily="34" charset="0"/>
              </a:rPr>
              <a:t>$ █</a:t>
            </a:r>
          </a:p>
        </p:txBody>
      </p:sp>
      <p:pic>
        <p:nvPicPr>
          <p:cNvPr id="27" name="Picture 26" descr="vivado_gui_impl_cropped.png">
            <a:extLst>
              <a:ext uri="{FF2B5EF4-FFF2-40B4-BE49-F238E27FC236}">
                <a16:creationId xmlns:a16="http://schemas.microsoft.com/office/drawing/2014/main" id="{B5DAA5E1-2F2E-4179-93E5-69B34E427967}"/>
              </a:ext>
            </a:extLst>
          </p:cNvPr>
          <p:cNvPicPr>
            <a:picLocks noChangeAspect="1"/>
          </p:cNvPicPr>
          <p:nvPr/>
        </p:nvPicPr>
        <p:blipFill>
          <a:blip r:embed="rId6"/>
          <a:stretch>
            <a:fillRect/>
          </a:stretch>
        </p:blipFill>
        <p:spPr>
          <a:xfrm>
            <a:off x="6354383" y="2111139"/>
            <a:ext cx="5252400" cy="3173325"/>
          </a:xfrm>
          <a:prstGeom prst="rect">
            <a:avLst/>
          </a:prstGeom>
        </p:spPr>
      </p:pic>
      <p:sp>
        <p:nvSpPr>
          <p:cNvPr id="28" name="Rounded Rectangle 7">
            <a:extLst>
              <a:ext uri="{FF2B5EF4-FFF2-40B4-BE49-F238E27FC236}">
                <a16:creationId xmlns:a16="http://schemas.microsoft.com/office/drawing/2014/main" id="{B78CD692-5A89-266F-AAA2-D182E004FF9A}"/>
              </a:ext>
            </a:extLst>
          </p:cNvPr>
          <p:cNvSpPr/>
          <p:nvPr/>
        </p:nvSpPr>
        <p:spPr>
          <a:xfrm>
            <a:off x="6354382" y="5284464"/>
            <a:ext cx="5250877" cy="1006573"/>
          </a:xfrm>
          <a:prstGeom prst="rect">
            <a:avLst/>
          </a:prstGeom>
          <a:solidFill>
            <a:srgbClr val="F2F2F2"/>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wrap="square" lIns="127000" tIns="50800" rtlCol="0" anchor="ctr" anchorCtr="0"/>
          <a:lstStyle/>
          <a:p>
            <a:pPr algn="l"/>
            <a:r>
              <a:rPr sz="1200" b="1" dirty="0" err="1">
                <a:solidFill>
                  <a:srgbClr val="007A8C"/>
                </a:solidFill>
                <a:latin typeface="Arial Bold" panose="020B0704020202020204" pitchFamily="34" charset="0"/>
              </a:rPr>
              <a:t>vivado_start</a:t>
            </a:r>
            <a:r>
              <a:rPr sz="1200" b="1" dirty="0">
                <a:solidFill>
                  <a:srgbClr val="007A8C"/>
                </a:solidFill>
                <a:latin typeface="Arial Bold" panose="020B0704020202020204" pitchFamily="34" charset="0"/>
              </a:rPr>
              <a:t> </a:t>
            </a:r>
            <a:r>
              <a:rPr sz="1200" b="1" dirty="0" err="1">
                <a:solidFill>
                  <a:srgbClr val="007A8C"/>
                </a:solidFill>
                <a:latin typeface="Arial Bold" panose="020B0704020202020204" pitchFamily="34" charset="0"/>
              </a:rPr>
              <a:t>gui_mode</a:t>
            </a:r>
            <a:r>
              <a:rPr sz="1200" b="1" dirty="0">
                <a:solidFill>
                  <a:srgbClr val="007A8C"/>
                </a:solidFill>
                <a:latin typeface="Arial Bold" panose="020B0704020202020204" pitchFamily="34" charset="0"/>
              </a:rPr>
              <a:t>=true</a:t>
            </a:r>
            <a:r>
              <a:rPr sz="1200" b="0" dirty="0">
                <a:solidFill>
                  <a:srgbClr val="404040"/>
                </a:solidFill>
                <a:latin typeface="Arial"/>
              </a:rPr>
              <a:t>  →  </a:t>
            </a:r>
            <a:r>
              <a:rPr sz="1200" dirty="0">
                <a:solidFill>
                  <a:srgbClr val="404040"/>
                </a:solidFill>
                <a:latin typeface="Arial" panose="020B0604020202020204" pitchFamily="34" charset="0"/>
              </a:rPr>
              <a:t>Full Vivado IDE with device view, timing</a:t>
            </a:r>
            <a:r>
              <a:rPr lang="en-US" sz="1200" dirty="0">
                <a:solidFill>
                  <a:srgbClr val="404040"/>
                </a:solidFill>
                <a:latin typeface="Arial" panose="020B0604020202020204" pitchFamily="34" charset="0"/>
              </a:rPr>
              <a:t> </a:t>
            </a:r>
            <a:r>
              <a:rPr sz="1200" dirty="0">
                <a:solidFill>
                  <a:srgbClr val="404040"/>
                </a:solidFill>
                <a:latin typeface="Arial" panose="020B0604020202020204" pitchFamily="34" charset="0"/>
              </a:rPr>
              <a:t>reports, schematic, and interactive debug—via VNC or local display</a:t>
            </a:r>
          </a:p>
        </p:txBody>
      </p:sp>
      <p:sp>
        <p:nvSpPr>
          <p:cNvPr id="3" name="TextBox 2">
            <a:extLst>
              <a:ext uri="{FF2B5EF4-FFF2-40B4-BE49-F238E27FC236}">
                <a16:creationId xmlns:a16="http://schemas.microsoft.com/office/drawing/2014/main" id="{618AA1C8-1F5F-727C-2FE8-1C67BB1FCA3B}"/>
              </a:ext>
            </a:extLst>
          </p:cNvPr>
          <p:cNvSpPr txBox="1"/>
          <p:nvPr/>
        </p:nvSpPr>
        <p:spPr>
          <a:xfrm>
            <a:off x="605393" y="1173899"/>
            <a:ext cx="11272182" cy="246221"/>
          </a:xfrm>
          <a:prstGeom prst="rect">
            <a:avLst/>
          </a:prstGeom>
          <a:noFill/>
        </p:spPr>
        <p:txBody>
          <a:bodyPr wrap="square" lIns="0" tIns="0" rIns="0" bIns="0" rtlCol="0">
            <a:spAutoFit/>
          </a:bodyPr>
          <a:lstStyle/>
          <a:p>
            <a:pPr>
              <a:buClr>
                <a:schemeClr val="accent1"/>
              </a:buClr>
              <a:buSzPct val="60000"/>
            </a:pPr>
            <a:r>
              <a:rPr lang="en-US" sz="1600" dirty="0"/>
              <a:t>Supports </a:t>
            </a:r>
            <a:r>
              <a:rPr lang="en-US" sz="1600" b="1" dirty="0"/>
              <a:t>same 19 MCP tools</a:t>
            </a:r>
            <a:r>
              <a:rPr lang="en-US" sz="1600" dirty="0"/>
              <a:t>, </a:t>
            </a:r>
            <a:r>
              <a:rPr lang="en-US" sz="1600" b="1" dirty="0"/>
              <a:t>same AI agent</a:t>
            </a:r>
            <a:r>
              <a:rPr lang="en-US" sz="1600" dirty="0"/>
              <a:t>, and </a:t>
            </a:r>
            <a:r>
              <a:rPr lang="en-US" sz="1600" b="1" dirty="0"/>
              <a:t>choose the interface that fits your workflow</a:t>
            </a:r>
            <a:endParaRPr lang="en-US" sz="1600" b="1" spc="0" baseline="0" dirty="0">
              <a:ln/>
              <a:latin typeface="Arial" panose="020B0604020202020204" pitchFamily="34" charset="0"/>
              <a:cs typeface="Arial"/>
              <a:sym typeface="Arial"/>
              <a:rtl val="0"/>
            </a:endParaRPr>
          </a:p>
        </p:txBody>
      </p:sp>
    </p:spTree>
    <p:extLst>
      <p:ext uri="{BB962C8B-B14F-4D97-AF65-F5344CB8AC3E}">
        <p14:creationId xmlns:p14="http://schemas.microsoft.com/office/powerpoint/2010/main" val="306151271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C24F76A4-0E77-975D-34FC-776F04B3D82D}"/>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16" name="think-cell data - do not delete" hidden="1">
                        <a:extLst>
                          <a:ext uri="{FF2B5EF4-FFF2-40B4-BE49-F238E27FC236}">
                            <a16:creationId xmlns:a16="http://schemas.microsoft.com/office/drawing/2014/main" id="{C24F76A4-0E77-975D-34FC-776F04B3D82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2" name="Rounded Rectangle 4">
            <a:extLst>
              <a:ext uri="{FF2B5EF4-FFF2-40B4-BE49-F238E27FC236}">
                <a16:creationId xmlns:a16="http://schemas.microsoft.com/office/drawing/2014/main" id="{1F5C90F9-1C99-B143-0882-05C2DC13724C}"/>
              </a:ext>
            </a:extLst>
          </p:cNvPr>
          <p:cNvSpPr/>
          <p:nvPr/>
        </p:nvSpPr>
        <p:spPr>
          <a:xfrm>
            <a:off x="7059614" y="1325880"/>
            <a:ext cx="4544124" cy="103632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468000" tIns="108000" rIns="108000" bIns="108000" rtlCol="0" anchor="ctr"/>
          <a:lstStyle/>
          <a:p>
            <a:r>
              <a:rPr lang="en-US" sz="1600" dirty="0">
                <a:solidFill>
                  <a:schemeClr val="tx1"/>
                </a:solidFill>
                <a:latin typeface="Arial" panose="020B0604020202020204" pitchFamily="34" charset="0"/>
              </a:rPr>
              <a:t>Runs with zero user intervention: the agent executes all five steps and writes the report automatically</a:t>
            </a:r>
          </a:p>
        </p:txBody>
      </p:sp>
      <p:sp>
        <p:nvSpPr>
          <p:cNvPr id="23" name="Rounded Rectangle 4">
            <a:extLst>
              <a:ext uri="{FF2B5EF4-FFF2-40B4-BE49-F238E27FC236}">
                <a16:creationId xmlns:a16="http://schemas.microsoft.com/office/drawing/2014/main" id="{E7C3F756-EE4A-9C6A-3BDA-1A063E734877}"/>
              </a:ext>
            </a:extLst>
          </p:cNvPr>
          <p:cNvSpPr/>
          <p:nvPr/>
        </p:nvSpPr>
        <p:spPr>
          <a:xfrm>
            <a:off x="7059614" y="2628159"/>
            <a:ext cx="4544124" cy="103632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468000" tIns="108000" rIns="108000" bIns="108000" rtlCol="0" anchor="ctr"/>
          <a:lstStyle/>
          <a:p>
            <a:r>
              <a:rPr lang="en-US" sz="1600" dirty="0">
                <a:solidFill>
                  <a:schemeClr val="tx1"/>
                </a:solidFill>
                <a:latin typeface="Arial" panose="020B0604020202020204" pitchFamily="34" charset="0"/>
              </a:rPr>
              <a:t>Real Vivado™ Tcl commands in every step—no hallucinated syntax; tested against live designs</a:t>
            </a:r>
          </a:p>
        </p:txBody>
      </p:sp>
      <p:sp>
        <p:nvSpPr>
          <p:cNvPr id="24" name="Rounded Rectangle 4">
            <a:extLst>
              <a:ext uri="{FF2B5EF4-FFF2-40B4-BE49-F238E27FC236}">
                <a16:creationId xmlns:a16="http://schemas.microsoft.com/office/drawing/2014/main" id="{57AD647E-1935-13D9-3E38-9B1097BD2737}"/>
              </a:ext>
            </a:extLst>
          </p:cNvPr>
          <p:cNvSpPr/>
          <p:nvPr/>
        </p:nvSpPr>
        <p:spPr>
          <a:xfrm>
            <a:off x="7059614" y="3930438"/>
            <a:ext cx="4544124" cy="103632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468000" tIns="108000" rIns="108000" bIns="108000" rtlCol="0" anchor="ctr"/>
          <a:lstStyle/>
          <a:p>
            <a:r>
              <a:rPr lang="en-US" sz="1600" dirty="0">
                <a:solidFill>
                  <a:schemeClr val="tx1"/>
                </a:solidFill>
                <a:latin typeface="Arial" panose="020B0604020202020204" pitchFamily="34" charset="0"/>
              </a:rPr>
              <a:t>Design-specific fixes with real cell names, clock names, and constraints—no generic placeholders</a:t>
            </a:r>
          </a:p>
        </p:txBody>
      </p:sp>
      <p:sp>
        <p:nvSpPr>
          <p:cNvPr id="25" name="Rounded Rectangle 4">
            <a:extLst>
              <a:ext uri="{FF2B5EF4-FFF2-40B4-BE49-F238E27FC236}">
                <a16:creationId xmlns:a16="http://schemas.microsoft.com/office/drawing/2014/main" id="{BDD4560B-226B-CA34-E951-55688EDFE1F9}"/>
              </a:ext>
            </a:extLst>
          </p:cNvPr>
          <p:cNvSpPr/>
          <p:nvPr/>
        </p:nvSpPr>
        <p:spPr>
          <a:xfrm>
            <a:off x="7059614" y="5232718"/>
            <a:ext cx="4544124" cy="103632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468000" tIns="108000" rIns="108000" bIns="108000" rtlCol="0" anchor="ctr"/>
          <a:lstStyle/>
          <a:p>
            <a:r>
              <a:rPr lang="en-US" sz="1600" dirty="0">
                <a:solidFill>
                  <a:schemeClr val="tx1"/>
                </a:solidFill>
                <a:latin typeface="Arial" panose="020B0604020202020204" pitchFamily="34" charset="0"/>
              </a:rPr>
              <a:t>Skills declare upstream/downstream dependencies: Run congestion → then fanout-opt automatically</a:t>
            </a:r>
          </a:p>
        </p:txBody>
      </p:sp>
      <p:sp>
        <p:nvSpPr>
          <p:cNvPr id="2" name="Title 1">
            <a:extLst>
              <a:ext uri="{FF2B5EF4-FFF2-40B4-BE49-F238E27FC236}">
                <a16:creationId xmlns:a16="http://schemas.microsoft.com/office/drawing/2014/main" id="{90050E6B-CFAC-41E4-16F8-D76B132C3F6C}"/>
              </a:ext>
            </a:extLst>
          </p:cNvPr>
          <p:cNvSpPr>
            <a:spLocks noGrp="1"/>
          </p:cNvSpPr>
          <p:nvPr>
            <p:ph type="title"/>
          </p:nvPr>
        </p:nvSpPr>
        <p:spPr>
          <a:xfrm>
            <a:off x="588263" y="591790"/>
            <a:ext cx="11937292" cy="430887"/>
          </a:xfrm>
        </p:spPr>
        <p:txBody>
          <a:bodyPr vert="horz" wrap="square" rIns="0">
            <a:spAutoFit/>
          </a:bodyPr>
          <a:lstStyle/>
          <a:p>
            <a:r>
              <a:rPr lang="en-US" dirty="0">
                <a:latin typeface="Arial Bold" panose="020B0704020202020204" pitchFamily="34" charset="0"/>
              </a:rPr>
              <a:t>Leveraging Agent Skills to Create Reliable </a:t>
            </a:r>
            <a:r>
              <a:rPr lang="en-US" dirty="0" err="1">
                <a:latin typeface="Arial Bold" panose="020B0704020202020204" pitchFamily="34" charset="0"/>
              </a:rPr>
              <a:t>Vivado</a:t>
            </a:r>
            <a:r>
              <a:rPr lang="en-US" dirty="0">
                <a:latin typeface="Arial Bold" panose="020B0704020202020204" pitchFamily="34" charset="0"/>
              </a:rPr>
              <a:t> IDE Workflow</a:t>
            </a:r>
            <a:endParaRPr lang="en-ID" dirty="0">
              <a:latin typeface="Arial Bold" panose="020B0704020202020204" pitchFamily="34" charset="0"/>
            </a:endParaRPr>
          </a:p>
        </p:txBody>
      </p:sp>
      <p:sp>
        <p:nvSpPr>
          <p:cNvPr id="10" name="TextBox 9">
            <a:extLst>
              <a:ext uri="{FF2B5EF4-FFF2-40B4-BE49-F238E27FC236}">
                <a16:creationId xmlns:a16="http://schemas.microsoft.com/office/drawing/2014/main" id="{81C1F968-83F6-F917-0E41-CBDBF516DF8B}"/>
              </a:ext>
            </a:extLst>
          </p:cNvPr>
          <p:cNvSpPr txBox="1"/>
          <p:nvPr/>
        </p:nvSpPr>
        <p:spPr>
          <a:xfrm>
            <a:off x="588263" y="1089640"/>
            <a:ext cx="2737929" cy="169277"/>
          </a:xfrm>
          <a:prstGeom prst="rect">
            <a:avLst/>
          </a:prstGeom>
          <a:noFill/>
        </p:spPr>
        <p:txBody>
          <a:bodyPr wrap="none" lIns="0" tIns="0" rIns="0" bIns="0">
            <a:spAutoFit/>
          </a:bodyPr>
          <a:lstStyle/>
          <a:p>
            <a:pPr algn="l"/>
            <a:r>
              <a:rPr sz="1100" dirty="0">
                <a:solidFill>
                  <a:srgbClr val="595959"/>
                </a:solidFill>
                <a:latin typeface="Arial" panose="020B0604020202020204" pitchFamily="34" charset="0"/>
              </a:rPr>
              <a:t>.</a:t>
            </a:r>
            <a:r>
              <a:rPr sz="1100" dirty="0" err="1">
                <a:solidFill>
                  <a:srgbClr val="595959"/>
                </a:solidFill>
                <a:latin typeface="Arial" panose="020B0604020202020204" pitchFamily="34" charset="0"/>
              </a:rPr>
              <a:t>claude</a:t>
            </a:r>
            <a:r>
              <a:rPr sz="1100" dirty="0">
                <a:solidFill>
                  <a:srgbClr val="595959"/>
                </a:solidFill>
                <a:latin typeface="Arial" panose="020B0604020202020204" pitchFamily="34" charset="0"/>
              </a:rPr>
              <a:t>/skills/congestion-analysis/SKILL.md</a:t>
            </a:r>
          </a:p>
        </p:txBody>
      </p:sp>
      <p:sp>
        <p:nvSpPr>
          <p:cNvPr id="11" name="Rounded Rectangle 3">
            <a:extLst>
              <a:ext uri="{FF2B5EF4-FFF2-40B4-BE49-F238E27FC236}">
                <a16:creationId xmlns:a16="http://schemas.microsoft.com/office/drawing/2014/main" id="{4A83B90C-B3C6-7376-1084-57F5D4F28729}"/>
              </a:ext>
            </a:extLst>
          </p:cNvPr>
          <p:cNvSpPr/>
          <p:nvPr/>
        </p:nvSpPr>
        <p:spPr>
          <a:xfrm>
            <a:off x="588263" y="1325880"/>
            <a:ext cx="4420300" cy="4943158"/>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wrap="square" lIns="180000" tIns="180000" rIns="180000" bIns="180000" rtlCol="0" anchor="ctr" anchorCtr="0"/>
          <a:lstStyle/>
          <a:p>
            <a:pPr algn="l">
              <a:spcBef>
                <a:spcPts val="0"/>
              </a:spcBef>
              <a:spcAft>
                <a:spcPts val="0"/>
              </a:spcAft>
            </a:pPr>
            <a:r>
              <a:rPr sz="900" dirty="0">
                <a:solidFill>
                  <a:srgbClr val="595959"/>
                </a:solidFill>
                <a:latin typeface="Arial" panose="020B0604020202020204" pitchFamily="34" charset="0"/>
              </a:rPr>
              <a:t>---</a:t>
            </a:r>
          </a:p>
          <a:p>
            <a:pPr algn="l">
              <a:spcBef>
                <a:spcPts val="0"/>
              </a:spcBef>
              <a:spcAft>
                <a:spcPts val="0"/>
              </a:spcAft>
            </a:pPr>
            <a:r>
              <a:rPr sz="900" dirty="0">
                <a:solidFill>
                  <a:srgbClr val="007A8C"/>
                </a:solidFill>
                <a:latin typeface="Arial" panose="020B0604020202020204" pitchFamily="34" charset="0"/>
              </a:rPr>
              <a:t>name: congestion-analysis</a:t>
            </a:r>
          </a:p>
          <a:p>
            <a:pPr algn="l">
              <a:spcBef>
                <a:spcPts val="0"/>
              </a:spcBef>
              <a:spcAft>
                <a:spcPts val="0"/>
              </a:spcAft>
            </a:pPr>
            <a:r>
              <a:rPr sz="900" dirty="0">
                <a:solidFill>
                  <a:srgbClr val="404040"/>
                </a:solidFill>
                <a:latin typeface="Arial" panose="020B0604020202020204" pitchFamily="34" charset="0"/>
              </a:rPr>
              <a:t>version: 1.0.0</a:t>
            </a:r>
          </a:p>
          <a:p>
            <a:pPr algn="l">
              <a:spcBef>
                <a:spcPts val="0"/>
              </a:spcBef>
              <a:spcAft>
                <a:spcPts val="0"/>
              </a:spcAft>
            </a:pPr>
            <a:r>
              <a:rPr sz="900" dirty="0" err="1">
                <a:solidFill>
                  <a:srgbClr val="404040"/>
                </a:solidFill>
                <a:latin typeface="Arial" panose="020B0604020202020204" pitchFamily="34" charset="0"/>
              </a:rPr>
              <a:t>vivado</a:t>
            </a:r>
            <a:r>
              <a:rPr sz="900" dirty="0">
                <a:solidFill>
                  <a:srgbClr val="404040"/>
                </a:solidFill>
                <a:latin typeface="Arial" panose="020B0604020202020204" pitchFamily="34" charset="0"/>
              </a:rPr>
              <a:t>: 2025.1+</a:t>
            </a:r>
          </a:p>
          <a:p>
            <a:pPr algn="l">
              <a:spcBef>
                <a:spcPts val="0"/>
              </a:spcBef>
              <a:spcAft>
                <a:spcPts val="0"/>
              </a:spcAft>
            </a:pPr>
            <a:r>
              <a:rPr sz="900" dirty="0">
                <a:solidFill>
                  <a:srgbClr val="816E35"/>
                </a:solidFill>
                <a:latin typeface="Arial" panose="020B0604020202020204" pitchFamily="34" charset="0"/>
              </a:rPr>
              <a:t>duration: 3-5 minutes</a:t>
            </a:r>
          </a:p>
          <a:p>
            <a:pPr algn="l">
              <a:spcBef>
                <a:spcPts val="0"/>
              </a:spcBef>
              <a:spcAft>
                <a:spcPts val="0"/>
              </a:spcAft>
            </a:pPr>
            <a:r>
              <a:rPr sz="900" dirty="0">
                <a:solidFill>
                  <a:srgbClr val="404040"/>
                </a:solidFill>
                <a:latin typeface="Arial" panose="020B0604020202020204" pitchFamily="34" charset="0"/>
              </a:rPr>
              <a:t>difficulty: intermediate</a:t>
            </a:r>
          </a:p>
          <a:p>
            <a:pPr algn="l">
              <a:spcBef>
                <a:spcPts val="0"/>
              </a:spcBef>
              <a:spcAft>
                <a:spcPts val="0"/>
              </a:spcAft>
            </a:pPr>
            <a:r>
              <a:rPr sz="900" dirty="0">
                <a:solidFill>
                  <a:srgbClr val="007A8C"/>
                </a:solidFill>
                <a:latin typeface="Arial" panose="020B0604020202020204" pitchFamily="34" charset="0"/>
              </a:rPr>
              <a:t>execution: autonomous</a:t>
            </a:r>
          </a:p>
          <a:p>
            <a:pPr algn="l">
              <a:spcBef>
                <a:spcPts val="0"/>
              </a:spcBef>
              <a:spcAft>
                <a:spcPts val="0"/>
              </a:spcAft>
            </a:pPr>
            <a:r>
              <a:rPr sz="900" dirty="0">
                <a:solidFill>
                  <a:srgbClr val="595959"/>
                </a:solidFill>
                <a:latin typeface="Arial" panose="020B0604020202020204" pitchFamily="34" charset="0"/>
              </a:rPr>
              <a:t>---</a:t>
            </a:r>
            <a:endParaRPr sz="900" dirty="0">
              <a:solidFill>
                <a:srgbClr val="000000"/>
              </a:solidFill>
              <a:latin typeface="Arial" panose="020B0604020202020204" pitchFamily="34" charset="0"/>
            </a:endParaRPr>
          </a:p>
          <a:p>
            <a:pPr algn="l">
              <a:spcBef>
                <a:spcPts val="0"/>
              </a:spcBef>
              <a:spcAft>
                <a:spcPts val="0"/>
              </a:spcAft>
            </a:pPr>
            <a:r>
              <a:rPr sz="900" b="1" dirty="0">
                <a:solidFill>
                  <a:srgbClr val="000000"/>
                </a:solidFill>
                <a:latin typeface="Arial Bold" panose="020B0704020202020204" pitchFamily="34" charset="0"/>
              </a:rPr>
              <a:t># Congestion Analysis</a:t>
            </a:r>
          </a:p>
          <a:p>
            <a:pPr algn="l">
              <a:spcBef>
                <a:spcPts val="0"/>
              </a:spcBef>
              <a:spcAft>
                <a:spcPts val="0"/>
              </a:spcAft>
            </a:pPr>
            <a:r>
              <a:rPr sz="900" b="1" dirty="0">
                <a:solidFill>
                  <a:srgbClr val="816E35"/>
                </a:solidFill>
                <a:latin typeface="Arial Bold" panose="020B0704020202020204" pitchFamily="34" charset="0"/>
              </a:rPr>
              <a:t>## Mandatory Workflow</a:t>
            </a:r>
          </a:p>
          <a:p>
            <a:pPr algn="l">
              <a:spcBef>
                <a:spcPts val="0"/>
              </a:spcBef>
              <a:spcAft>
                <a:spcPts val="0"/>
              </a:spcAft>
            </a:pPr>
            <a:r>
              <a:rPr sz="900" dirty="0">
                <a:solidFill>
                  <a:srgbClr val="000000"/>
                </a:solidFill>
                <a:latin typeface="Arial" panose="020B0604020202020204" pitchFamily="34" charset="0"/>
              </a:rPr>
              <a:t> </a:t>
            </a:r>
          </a:p>
          <a:p>
            <a:pPr algn="l">
              <a:spcBef>
                <a:spcPts val="0"/>
              </a:spcBef>
              <a:spcAft>
                <a:spcPts val="0"/>
              </a:spcAft>
            </a:pPr>
            <a:r>
              <a:rPr sz="900" b="1" dirty="0">
                <a:solidFill>
                  <a:srgbClr val="000000"/>
                </a:solidFill>
                <a:latin typeface="Arial Bold" panose="020B0704020202020204" pitchFamily="34" charset="0"/>
              </a:rPr>
              <a:t>### Step 1: Generate Congestion Report</a:t>
            </a:r>
          </a:p>
          <a:p>
            <a:pPr algn="l">
              <a:spcBef>
                <a:spcPts val="0"/>
              </a:spcBef>
              <a:spcAft>
                <a:spcPts val="0"/>
              </a:spcAft>
            </a:pPr>
            <a:r>
              <a:rPr sz="900" dirty="0" err="1">
                <a:solidFill>
                  <a:srgbClr val="007A8C"/>
                </a:solidFill>
                <a:latin typeface="Arial" panose="020B0604020202020204" pitchFamily="34" charset="0"/>
              </a:rPr>
              <a:t>report_design_analysis</a:t>
            </a:r>
            <a:r>
              <a:rPr sz="900" dirty="0">
                <a:solidFill>
                  <a:srgbClr val="007A8C"/>
                </a:solidFill>
                <a:latin typeface="Arial" panose="020B0604020202020204" pitchFamily="34" charset="0"/>
              </a:rPr>
              <a:t> \</a:t>
            </a:r>
          </a:p>
          <a:p>
            <a:pPr algn="l">
              <a:spcBef>
                <a:spcPts val="0"/>
              </a:spcBef>
              <a:spcAft>
                <a:spcPts val="0"/>
              </a:spcAft>
            </a:pPr>
            <a:r>
              <a:rPr sz="900" dirty="0">
                <a:solidFill>
                  <a:srgbClr val="007A8C"/>
                </a:solidFill>
                <a:latin typeface="Arial" panose="020B0604020202020204" pitchFamily="34" charset="0"/>
              </a:rPr>
              <a:t>  -congestion -file </a:t>
            </a:r>
            <a:r>
              <a:rPr sz="900" dirty="0" err="1">
                <a:solidFill>
                  <a:srgbClr val="007A8C"/>
                </a:solidFill>
                <a:latin typeface="Arial" panose="020B0604020202020204" pitchFamily="34" charset="0"/>
              </a:rPr>
              <a:t>congestion.rpt</a:t>
            </a:r>
            <a:br>
              <a:rPr lang="en-US" sz="900" dirty="0">
                <a:solidFill>
                  <a:srgbClr val="007A8C"/>
                </a:solidFill>
                <a:latin typeface="Arial" panose="020B0604020202020204" pitchFamily="34" charset="0"/>
              </a:rPr>
            </a:br>
            <a:endParaRPr sz="900" dirty="0">
              <a:solidFill>
                <a:srgbClr val="000000"/>
              </a:solidFill>
              <a:latin typeface="Arial" panose="020B0604020202020204" pitchFamily="34" charset="0"/>
            </a:endParaRPr>
          </a:p>
          <a:p>
            <a:pPr algn="l">
              <a:spcBef>
                <a:spcPts val="0"/>
              </a:spcBef>
              <a:spcAft>
                <a:spcPts val="0"/>
              </a:spcAft>
            </a:pPr>
            <a:r>
              <a:rPr sz="900" b="1" dirty="0">
                <a:solidFill>
                  <a:srgbClr val="000000"/>
                </a:solidFill>
                <a:latin typeface="Arial Bold" panose="020B0704020202020204" pitchFamily="34" charset="0"/>
              </a:rPr>
              <a:t>### Step 2: Identify Hotspot Regions</a:t>
            </a:r>
          </a:p>
          <a:p>
            <a:pPr algn="l">
              <a:spcBef>
                <a:spcPts val="0"/>
              </a:spcBef>
              <a:spcAft>
                <a:spcPts val="0"/>
              </a:spcAft>
            </a:pPr>
            <a:r>
              <a:rPr sz="900" dirty="0" err="1">
                <a:solidFill>
                  <a:srgbClr val="007A8C"/>
                </a:solidFill>
                <a:latin typeface="Arial" panose="020B0604020202020204" pitchFamily="34" charset="0"/>
              </a:rPr>
              <a:t>report_design_analysis</a:t>
            </a:r>
            <a:r>
              <a:rPr sz="900" dirty="0">
                <a:solidFill>
                  <a:srgbClr val="007A8C"/>
                </a:solidFill>
                <a:latin typeface="Arial" panose="020B0604020202020204" pitchFamily="34" charset="0"/>
              </a:rPr>
              <a:t> \</a:t>
            </a:r>
          </a:p>
          <a:p>
            <a:pPr algn="l">
              <a:spcBef>
                <a:spcPts val="0"/>
              </a:spcBef>
              <a:spcAft>
                <a:spcPts val="0"/>
              </a:spcAft>
            </a:pPr>
            <a:r>
              <a:rPr sz="900" dirty="0">
                <a:solidFill>
                  <a:srgbClr val="007A8C"/>
                </a:solidFill>
                <a:latin typeface="Arial" panose="020B0604020202020204" pitchFamily="34" charset="0"/>
              </a:rPr>
              <a:t>  -congestion -</a:t>
            </a:r>
            <a:r>
              <a:rPr sz="900" dirty="0" err="1">
                <a:solidFill>
                  <a:srgbClr val="007A8C"/>
                </a:solidFill>
                <a:latin typeface="Arial" panose="020B0604020202020204" pitchFamily="34" charset="0"/>
              </a:rPr>
              <a:t>min_congestion_level</a:t>
            </a:r>
            <a:r>
              <a:rPr sz="900" dirty="0">
                <a:solidFill>
                  <a:srgbClr val="007A8C"/>
                </a:solidFill>
                <a:latin typeface="Arial" panose="020B0604020202020204" pitchFamily="34" charset="0"/>
              </a:rPr>
              <a:t> 5</a:t>
            </a:r>
          </a:p>
          <a:p>
            <a:pPr algn="l">
              <a:spcBef>
                <a:spcPts val="0"/>
              </a:spcBef>
              <a:spcAft>
                <a:spcPts val="0"/>
              </a:spcAft>
            </a:pPr>
            <a:r>
              <a:rPr sz="900" b="1" dirty="0">
                <a:solidFill>
                  <a:srgbClr val="595959"/>
                </a:solidFill>
                <a:latin typeface="Arial Bold" panose="020B0704020202020204" pitchFamily="34" charset="0"/>
              </a:rPr>
              <a:t># Parse North/South/East/West overflow</a:t>
            </a:r>
          </a:p>
          <a:p>
            <a:pPr algn="l">
              <a:spcBef>
                <a:spcPts val="0"/>
              </a:spcBef>
              <a:spcAft>
                <a:spcPts val="0"/>
              </a:spcAft>
            </a:pPr>
            <a:r>
              <a:rPr sz="900" b="1" dirty="0">
                <a:solidFill>
                  <a:srgbClr val="595959"/>
                </a:solidFill>
                <a:latin typeface="Arial Bold" panose="020B0704020202020204" pitchFamily="34" charset="0"/>
              </a:rPr>
              <a:t># Map hotspots to clock regions</a:t>
            </a:r>
          </a:p>
          <a:p>
            <a:pPr algn="l">
              <a:spcBef>
                <a:spcPts val="0"/>
              </a:spcBef>
              <a:spcAft>
                <a:spcPts val="0"/>
              </a:spcAft>
            </a:pPr>
            <a:r>
              <a:rPr sz="900" dirty="0">
                <a:solidFill>
                  <a:srgbClr val="000000"/>
                </a:solidFill>
                <a:latin typeface="Arial" panose="020B0604020202020204" pitchFamily="34" charset="0"/>
              </a:rPr>
              <a:t> </a:t>
            </a:r>
          </a:p>
          <a:p>
            <a:pPr algn="l">
              <a:spcBef>
                <a:spcPts val="0"/>
              </a:spcBef>
              <a:spcAft>
                <a:spcPts val="0"/>
              </a:spcAft>
            </a:pPr>
            <a:r>
              <a:rPr sz="900" b="1" dirty="0">
                <a:solidFill>
                  <a:srgbClr val="000000"/>
                </a:solidFill>
                <a:latin typeface="Arial Bold" panose="020B0704020202020204" pitchFamily="34" charset="0"/>
              </a:rPr>
              <a:t>### Step 3: Root Cause Analysis</a:t>
            </a:r>
          </a:p>
          <a:p>
            <a:pPr algn="l">
              <a:spcBef>
                <a:spcPts val="0"/>
              </a:spcBef>
              <a:spcAft>
                <a:spcPts val="0"/>
              </a:spcAft>
            </a:pPr>
            <a:r>
              <a:rPr sz="900" dirty="0" err="1">
                <a:solidFill>
                  <a:srgbClr val="007A8C"/>
                </a:solidFill>
                <a:latin typeface="Arial" panose="020B0604020202020204" pitchFamily="34" charset="0"/>
              </a:rPr>
              <a:t>report_utilization</a:t>
            </a:r>
            <a:r>
              <a:rPr sz="900" dirty="0">
                <a:solidFill>
                  <a:srgbClr val="007A8C"/>
                </a:solidFill>
                <a:latin typeface="Arial" panose="020B0604020202020204" pitchFamily="34" charset="0"/>
              </a:rPr>
              <a:t> \</a:t>
            </a:r>
          </a:p>
          <a:p>
            <a:pPr algn="l">
              <a:spcBef>
                <a:spcPts val="0"/>
              </a:spcBef>
              <a:spcAft>
                <a:spcPts val="0"/>
              </a:spcAft>
            </a:pPr>
            <a:r>
              <a:rPr sz="900" dirty="0">
                <a:solidFill>
                  <a:srgbClr val="007A8C"/>
                </a:solidFill>
                <a:latin typeface="Arial" panose="020B0604020202020204" pitchFamily="34" charset="0"/>
              </a:rPr>
              <a:t>  -</a:t>
            </a:r>
            <a:r>
              <a:rPr sz="900" dirty="0" err="1">
                <a:solidFill>
                  <a:srgbClr val="007A8C"/>
                </a:solidFill>
                <a:latin typeface="Arial" panose="020B0604020202020204" pitchFamily="34" charset="0"/>
              </a:rPr>
              <a:t>pblocks</a:t>
            </a:r>
            <a:r>
              <a:rPr sz="900" dirty="0">
                <a:solidFill>
                  <a:srgbClr val="007A8C"/>
                </a:solidFill>
                <a:latin typeface="Arial" panose="020B0604020202020204" pitchFamily="34" charset="0"/>
              </a:rPr>
              <a:t> -file </a:t>
            </a:r>
            <a:r>
              <a:rPr sz="900" dirty="0" err="1">
                <a:solidFill>
                  <a:srgbClr val="007A8C"/>
                </a:solidFill>
                <a:latin typeface="Arial" panose="020B0604020202020204" pitchFamily="34" charset="0"/>
              </a:rPr>
              <a:t>util_by_region.rpt</a:t>
            </a:r>
            <a:endParaRPr sz="900" dirty="0">
              <a:solidFill>
                <a:srgbClr val="007A8C"/>
              </a:solidFill>
              <a:latin typeface="Arial" panose="020B0604020202020204" pitchFamily="34" charset="0"/>
            </a:endParaRPr>
          </a:p>
          <a:p>
            <a:pPr algn="l">
              <a:spcBef>
                <a:spcPts val="0"/>
              </a:spcBef>
              <a:spcAft>
                <a:spcPts val="0"/>
              </a:spcAft>
            </a:pPr>
            <a:r>
              <a:rPr sz="900" b="1" dirty="0">
                <a:solidFill>
                  <a:srgbClr val="595959"/>
                </a:solidFill>
                <a:latin typeface="Arial Bold" panose="020B0704020202020204" pitchFamily="34" charset="0"/>
              </a:rPr>
              <a:t># Correlate LUT/FF/BRAM density</a:t>
            </a:r>
          </a:p>
          <a:p>
            <a:pPr algn="l">
              <a:spcBef>
                <a:spcPts val="0"/>
              </a:spcBef>
              <a:spcAft>
                <a:spcPts val="0"/>
              </a:spcAft>
            </a:pPr>
            <a:r>
              <a:rPr sz="900" b="1" dirty="0">
                <a:solidFill>
                  <a:srgbClr val="595959"/>
                </a:solidFill>
                <a:latin typeface="Arial Bold" panose="020B0704020202020204" pitchFamily="34" charset="0"/>
              </a:rPr>
              <a:t># with congested regions</a:t>
            </a:r>
          </a:p>
          <a:p>
            <a:pPr algn="l">
              <a:spcBef>
                <a:spcPts val="0"/>
              </a:spcBef>
              <a:spcAft>
                <a:spcPts val="0"/>
              </a:spcAft>
            </a:pPr>
            <a:r>
              <a:rPr sz="900" dirty="0">
                <a:solidFill>
                  <a:srgbClr val="000000"/>
                </a:solidFill>
                <a:latin typeface="Arial" panose="020B0604020202020204" pitchFamily="34" charset="0"/>
              </a:rPr>
              <a:t> </a:t>
            </a:r>
          </a:p>
          <a:p>
            <a:pPr algn="l">
              <a:spcBef>
                <a:spcPts val="0"/>
              </a:spcBef>
              <a:spcAft>
                <a:spcPts val="0"/>
              </a:spcAft>
            </a:pPr>
            <a:r>
              <a:rPr sz="900" b="1" dirty="0">
                <a:solidFill>
                  <a:srgbClr val="000000"/>
                </a:solidFill>
                <a:latin typeface="Arial Bold" panose="020B0704020202020204" pitchFamily="34" charset="0"/>
              </a:rPr>
              <a:t>### Step 4: Recommend Fixes</a:t>
            </a:r>
          </a:p>
          <a:p>
            <a:pPr algn="l">
              <a:spcBef>
                <a:spcPts val="0"/>
              </a:spcBef>
              <a:spcAft>
                <a:spcPts val="0"/>
              </a:spcAft>
            </a:pPr>
            <a:r>
              <a:rPr sz="900" dirty="0">
                <a:solidFill>
                  <a:srgbClr val="007A8C"/>
                </a:solidFill>
                <a:latin typeface="Arial" panose="020B0604020202020204" pitchFamily="34" charset="0"/>
              </a:rPr>
              <a:t>  → </a:t>
            </a:r>
            <a:r>
              <a:rPr sz="900" dirty="0" err="1">
                <a:solidFill>
                  <a:srgbClr val="007A8C"/>
                </a:solidFill>
                <a:latin typeface="Arial" panose="020B0604020202020204" pitchFamily="34" charset="0"/>
              </a:rPr>
              <a:t>Pblock</a:t>
            </a:r>
            <a:r>
              <a:rPr sz="900" dirty="0">
                <a:solidFill>
                  <a:srgbClr val="007A8C"/>
                </a:solidFill>
                <a:latin typeface="Arial" panose="020B0604020202020204" pitchFamily="34" charset="0"/>
              </a:rPr>
              <a:t> </a:t>
            </a:r>
            <a:r>
              <a:rPr sz="900" dirty="0" err="1">
                <a:solidFill>
                  <a:srgbClr val="007A8C"/>
                </a:solidFill>
                <a:latin typeface="Arial" panose="020B0604020202020204" pitchFamily="34" charset="0"/>
              </a:rPr>
              <a:t>floorplanning</a:t>
            </a:r>
            <a:endParaRPr sz="900" dirty="0">
              <a:solidFill>
                <a:srgbClr val="007A8C"/>
              </a:solidFill>
              <a:latin typeface="Arial" panose="020B0604020202020204" pitchFamily="34" charset="0"/>
            </a:endParaRPr>
          </a:p>
          <a:p>
            <a:pPr algn="l">
              <a:spcBef>
                <a:spcPts val="0"/>
              </a:spcBef>
              <a:spcAft>
                <a:spcPts val="0"/>
              </a:spcAft>
            </a:pPr>
            <a:r>
              <a:rPr sz="900" dirty="0">
                <a:solidFill>
                  <a:srgbClr val="007A8C"/>
                </a:solidFill>
                <a:latin typeface="Arial" panose="020B0604020202020204" pitchFamily="34" charset="0"/>
              </a:rPr>
              <a:t>  → SLR assignment for SSI devices</a:t>
            </a:r>
          </a:p>
          <a:p>
            <a:pPr algn="l">
              <a:spcBef>
                <a:spcPts val="0"/>
              </a:spcBef>
              <a:spcAft>
                <a:spcPts val="0"/>
              </a:spcAft>
            </a:pPr>
            <a:r>
              <a:rPr sz="900" dirty="0">
                <a:solidFill>
                  <a:srgbClr val="007A8C"/>
                </a:solidFill>
                <a:latin typeface="Arial" panose="020B0604020202020204" pitchFamily="34" charset="0"/>
              </a:rPr>
              <a:t>  → Synthesis retiming / restructuring</a:t>
            </a:r>
          </a:p>
          <a:p>
            <a:pPr algn="l">
              <a:spcBef>
                <a:spcPts val="0"/>
              </a:spcBef>
              <a:spcAft>
                <a:spcPts val="0"/>
              </a:spcAft>
            </a:pPr>
            <a:r>
              <a:rPr sz="900" dirty="0">
                <a:solidFill>
                  <a:srgbClr val="007A8C"/>
                </a:solidFill>
                <a:latin typeface="Arial" panose="020B0604020202020204" pitchFamily="34" charset="0"/>
              </a:rPr>
              <a:t>  → Phys-opt fanout replication</a:t>
            </a:r>
            <a:r>
              <a:rPr sz="900" dirty="0">
                <a:solidFill>
                  <a:srgbClr val="000000"/>
                </a:solidFill>
                <a:latin typeface="Arial" panose="020B0604020202020204" pitchFamily="34" charset="0"/>
              </a:rPr>
              <a:t> </a:t>
            </a:r>
          </a:p>
          <a:p>
            <a:pPr algn="l">
              <a:spcBef>
                <a:spcPts val="0"/>
              </a:spcBef>
              <a:spcAft>
                <a:spcPts val="0"/>
              </a:spcAft>
            </a:pPr>
            <a:r>
              <a:rPr sz="900" b="1" dirty="0">
                <a:solidFill>
                  <a:srgbClr val="816E35"/>
                </a:solidFill>
                <a:latin typeface="Arial Bold" panose="020B0704020202020204" pitchFamily="34" charset="0"/>
              </a:rPr>
              <a:t>## Output: REPORT.md with fix commands</a:t>
            </a:r>
          </a:p>
        </p:txBody>
      </p:sp>
      <p:sp>
        <p:nvSpPr>
          <p:cNvPr id="17" name="Rounded Rectangle 4">
            <a:extLst>
              <a:ext uri="{FF2B5EF4-FFF2-40B4-BE49-F238E27FC236}">
                <a16:creationId xmlns:a16="http://schemas.microsoft.com/office/drawing/2014/main" id="{67F2AAEB-A498-1217-9C79-E7876A72960A}"/>
              </a:ext>
            </a:extLst>
          </p:cNvPr>
          <p:cNvSpPr/>
          <p:nvPr/>
        </p:nvSpPr>
        <p:spPr>
          <a:xfrm>
            <a:off x="5299074" y="1325880"/>
            <a:ext cx="2003425" cy="1036320"/>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612000" tIns="108000" rIns="72000" bIns="108000" rtlCol="0" anchor="ctr"/>
          <a:lstStyle/>
          <a:p>
            <a:r>
              <a:rPr lang="en-US" sz="1600" b="1" dirty="0">
                <a:solidFill>
                  <a:schemeClr val="tx1"/>
                </a:solidFill>
                <a:latin typeface="Arial" panose="020B0604020202020204" pitchFamily="34" charset="0"/>
              </a:rPr>
              <a:t>Autonomous</a:t>
            </a:r>
          </a:p>
        </p:txBody>
      </p:sp>
      <p:sp>
        <p:nvSpPr>
          <p:cNvPr id="19" name="Rounded Rectangle 4">
            <a:extLst>
              <a:ext uri="{FF2B5EF4-FFF2-40B4-BE49-F238E27FC236}">
                <a16:creationId xmlns:a16="http://schemas.microsoft.com/office/drawing/2014/main" id="{DFB281F2-C242-34BA-0533-0C2232A6BC8F}"/>
              </a:ext>
            </a:extLst>
          </p:cNvPr>
          <p:cNvSpPr/>
          <p:nvPr/>
        </p:nvSpPr>
        <p:spPr>
          <a:xfrm>
            <a:off x="5299074" y="2628159"/>
            <a:ext cx="2003425" cy="1036320"/>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612000" tIns="108000" rIns="72000" bIns="108000" rtlCol="0" anchor="ctr"/>
          <a:lstStyle/>
          <a:p>
            <a:r>
              <a:rPr lang="en-US" sz="1600" b="1">
                <a:solidFill>
                  <a:schemeClr val="tx1"/>
                </a:solidFill>
                <a:latin typeface="Arial" panose="020B0604020202020204" pitchFamily="34" charset="0"/>
              </a:rPr>
              <a:t>Structured Workflow</a:t>
            </a:r>
          </a:p>
        </p:txBody>
      </p:sp>
      <p:sp>
        <p:nvSpPr>
          <p:cNvPr id="20" name="Rounded Rectangle 4">
            <a:extLst>
              <a:ext uri="{FF2B5EF4-FFF2-40B4-BE49-F238E27FC236}">
                <a16:creationId xmlns:a16="http://schemas.microsoft.com/office/drawing/2014/main" id="{99BC290E-1B68-B82C-106A-3EEE89C4E83F}"/>
              </a:ext>
            </a:extLst>
          </p:cNvPr>
          <p:cNvSpPr/>
          <p:nvPr/>
        </p:nvSpPr>
        <p:spPr>
          <a:xfrm>
            <a:off x="5299074" y="3930438"/>
            <a:ext cx="2003425" cy="1036320"/>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612000" tIns="108000" rIns="72000" bIns="108000" rtlCol="0" anchor="ctr"/>
          <a:lstStyle/>
          <a:p>
            <a:r>
              <a:rPr lang="en-US" sz="1600" b="1" dirty="0">
                <a:solidFill>
                  <a:schemeClr val="tx1"/>
                </a:solidFill>
                <a:latin typeface="Arial" panose="020B0604020202020204" pitchFamily="34" charset="0"/>
              </a:rPr>
              <a:t>Self-validating</a:t>
            </a:r>
          </a:p>
        </p:txBody>
      </p:sp>
      <p:sp>
        <p:nvSpPr>
          <p:cNvPr id="21" name="Rounded Rectangle 4">
            <a:extLst>
              <a:ext uri="{FF2B5EF4-FFF2-40B4-BE49-F238E27FC236}">
                <a16:creationId xmlns:a16="http://schemas.microsoft.com/office/drawing/2014/main" id="{B12BF8F6-A627-A398-6786-49C6A8E52DFA}"/>
              </a:ext>
            </a:extLst>
          </p:cNvPr>
          <p:cNvSpPr/>
          <p:nvPr/>
        </p:nvSpPr>
        <p:spPr>
          <a:xfrm>
            <a:off x="5299074" y="5232718"/>
            <a:ext cx="2003425" cy="1036320"/>
          </a:xfrm>
          <a:prstGeom prst="snip2DiagRect">
            <a:avLst>
              <a:gd name="adj1" fmla="val 0"/>
              <a:gd name="adj2" fmla="val 6557"/>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wrap="square" lIns="612000" tIns="108000" rIns="72000" bIns="108000" rtlCol="0" anchor="ctr"/>
          <a:lstStyle/>
          <a:p>
            <a:r>
              <a:rPr lang="en-US" sz="1600" b="1" dirty="0">
                <a:solidFill>
                  <a:schemeClr val="tx1"/>
                </a:solidFill>
                <a:latin typeface="Arial" panose="020B0604020202020204" pitchFamily="34" charset="0"/>
              </a:rPr>
              <a:t>Chainable</a:t>
            </a:r>
          </a:p>
        </p:txBody>
      </p:sp>
      <p:pic>
        <p:nvPicPr>
          <p:cNvPr id="26" name="Graphic 25">
            <a:extLst>
              <a:ext uri="{FF2B5EF4-FFF2-40B4-BE49-F238E27FC236}">
                <a16:creationId xmlns:a16="http://schemas.microsoft.com/office/drawing/2014/main" id="{FDBF4682-FE7E-52FB-320A-D8D2B60E76E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66770" y="2989819"/>
            <a:ext cx="313000" cy="313000"/>
          </a:xfrm>
          <a:prstGeom prst="rect">
            <a:avLst/>
          </a:prstGeom>
        </p:spPr>
      </p:pic>
      <p:pic>
        <p:nvPicPr>
          <p:cNvPr id="27" name="Graphic 26">
            <a:extLst>
              <a:ext uri="{FF2B5EF4-FFF2-40B4-BE49-F238E27FC236}">
                <a16:creationId xmlns:a16="http://schemas.microsoft.com/office/drawing/2014/main" id="{6E7347F1-D26B-5F3D-8B3E-DEEC61EB959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66770" y="1687540"/>
            <a:ext cx="313000" cy="313000"/>
          </a:xfrm>
          <a:prstGeom prst="rect">
            <a:avLst/>
          </a:prstGeom>
        </p:spPr>
      </p:pic>
      <p:pic>
        <p:nvPicPr>
          <p:cNvPr id="28" name="Graphic 27">
            <a:extLst>
              <a:ext uri="{FF2B5EF4-FFF2-40B4-BE49-F238E27FC236}">
                <a16:creationId xmlns:a16="http://schemas.microsoft.com/office/drawing/2014/main" id="{C81C4F61-F8FE-9355-56D2-7B0346F9F83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66770" y="5594378"/>
            <a:ext cx="313000" cy="313000"/>
          </a:xfrm>
          <a:prstGeom prst="rect">
            <a:avLst/>
          </a:prstGeom>
        </p:spPr>
      </p:pic>
      <p:pic>
        <p:nvPicPr>
          <p:cNvPr id="29" name="Graphic 28">
            <a:extLst>
              <a:ext uri="{FF2B5EF4-FFF2-40B4-BE49-F238E27FC236}">
                <a16:creationId xmlns:a16="http://schemas.microsoft.com/office/drawing/2014/main" id="{2F0FD5E7-08C1-A247-9A40-9AE66DB11A1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466770" y="4292098"/>
            <a:ext cx="313000" cy="313000"/>
          </a:xfrm>
          <a:prstGeom prst="rect">
            <a:avLst/>
          </a:prstGeom>
        </p:spPr>
      </p:pic>
    </p:spTree>
    <p:extLst>
      <p:ext uri="{BB962C8B-B14F-4D97-AF65-F5344CB8AC3E}">
        <p14:creationId xmlns:p14="http://schemas.microsoft.com/office/powerpoint/2010/main" val="116447088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think-cell data - do not delete" hidden="1">
            <a:extLst>
              <a:ext uri="{FF2B5EF4-FFF2-40B4-BE49-F238E27FC236}">
                <a16:creationId xmlns:a16="http://schemas.microsoft.com/office/drawing/2014/main" id="{635AD3FB-21C5-757D-495D-D8962CEAAB4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22" name="think-cell data - do not delete" hidden="1">
                        <a:extLst>
                          <a:ext uri="{FF2B5EF4-FFF2-40B4-BE49-F238E27FC236}">
                            <a16:creationId xmlns:a16="http://schemas.microsoft.com/office/drawing/2014/main" id="{635AD3FB-21C5-757D-495D-D8962CEAAB4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1" name="Rounded Rectangle 10">
            <a:extLst>
              <a:ext uri="{FF2B5EF4-FFF2-40B4-BE49-F238E27FC236}">
                <a16:creationId xmlns:a16="http://schemas.microsoft.com/office/drawing/2014/main" id="{093AAAE4-7664-D716-8F47-253AF5A64917}"/>
              </a:ext>
            </a:extLst>
          </p:cNvPr>
          <p:cNvSpPr/>
          <p:nvPr/>
        </p:nvSpPr>
        <p:spPr>
          <a:xfrm>
            <a:off x="590868" y="5670632"/>
            <a:ext cx="11010264" cy="5943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wrap="square" lIns="152400" tIns="50800" rtlCol="0" anchor="ctr"/>
          <a:lstStyle/>
          <a:p>
            <a:pPr algn="ctr"/>
            <a:r>
              <a:rPr sz="1200" b="1" dirty="0">
                <a:solidFill>
                  <a:schemeClr val="accent6">
                    <a:lumMod val="75000"/>
                  </a:schemeClr>
                </a:solidFill>
                <a:latin typeface="+mj-lt"/>
              </a:rPr>
              <a:t>AMD is developing high-value agent skills to strengthen the </a:t>
            </a:r>
            <a:r>
              <a:rPr lang="en-US" sz="1200" b="1" dirty="0">
                <a:solidFill>
                  <a:schemeClr val="accent6">
                    <a:lumMod val="75000"/>
                  </a:schemeClr>
                </a:solidFill>
                <a:latin typeface="+mj-lt"/>
              </a:rPr>
              <a:t>Vivado™</a:t>
            </a:r>
            <a:r>
              <a:rPr sz="1200" b="1" dirty="0">
                <a:solidFill>
                  <a:schemeClr val="accent6">
                    <a:lumMod val="75000"/>
                  </a:schemeClr>
                </a:solidFill>
                <a:latin typeface="+mj-lt"/>
              </a:rPr>
              <a:t> MCP value proposition</a:t>
            </a:r>
          </a:p>
          <a:p>
            <a:pPr algn="ctr">
              <a:spcBef>
                <a:spcPts val="200"/>
              </a:spcBef>
            </a:pPr>
            <a:r>
              <a:rPr sz="1200" dirty="0">
                <a:solidFill>
                  <a:schemeClr val="tx1"/>
                </a:solidFill>
                <a:latin typeface="+mj-lt"/>
              </a:rPr>
              <a:t>Work in progress—more skills will be available throughout the year  |  Users are free to create custom skills tailored to their own designs</a:t>
            </a:r>
          </a:p>
        </p:txBody>
      </p:sp>
      <p:sp>
        <p:nvSpPr>
          <p:cNvPr id="24" name="Rounded Rectangle 4">
            <a:extLst>
              <a:ext uri="{FF2B5EF4-FFF2-40B4-BE49-F238E27FC236}">
                <a16:creationId xmlns:a16="http://schemas.microsoft.com/office/drawing/2014/main" id="{A7FFBE93-B37A-B533-E80A-60B6D9969B85}"/>
              </a:ext>
            </a:extLst>
          </p:cNvPr>
          <p:cNvSpPr/>
          <p:nvPr/>
        </p:nvSpPr>
        <p:spPr>
          <a:xfrm>
            <a:off x="6243507" y="1325880"/>
            <a:ext cx="5363276" cy="430887"/>
          </a:xfrm>
          <a:prstGeom prst="snip2DiagRect">
            <a:avLst/>
          </a:prstGeom>
          <a:solidFill>
            <a:schemeClr val="accent6">
              <a:lumMod val="50000"/>
            </a:schemeClr>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r>
              <a:rPr lang="en-US" sz="1200" b="1" dirty="0">
                <a:solidFill>
                  <a:schemeClr val="bg1"/>
                </a:solidFill>
                <a:latin typeface="Arial" panose="020B0604020202020204" pitchFamily="34" charset="0"/>
              </a:rPr>
              <a:t>Design Analysis </a:t>
            </a:r>
          </a:p>
        </p:txBody>
      </p:sp>
      <p:sp>
        <p:nvSpPr>
          <p:cNvPr id="27" name="Rounded Rectangle 5">
            <a:extLst>
              <a:ext uri="{FF2B5EF4-FFF2-40B4-BE49-F238E27FC236}">
                <a16:creationId xmlns:a16="http://schemas.microsoft.com/office/drawing/2014/main" id="{C4AE0D31-02F5-1B2E-E1C8-EF591FFE1E4E}"/>
              </a:ext>
            </a:extLst>
          </p:cNvPr>
          <p:cNvSpPr/>
          <p:nvPr/>
        </p:nvSpPr>
        <p:spPr>
          <a:xfrm>
            <a:off x="6243507" y="1837792"/>
            <a:ext cx="5364000" cy="1831271"/>
          </a:xfrm>
          <a:prstGeom prst="rect">
            <a:avLst/>
          </a:prstGeom>
          <a:noFill/>
          <a:ln w="12700">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spAutoFit/>
          </a:bodyPr>
          <a:lstStyle/>
          <a:p>
            <a:pPr marL="180000" indent="-180000" algn="l">
              <a:spcBef>
                <a:spcPts val="300"/>
              </a:spcBef>
              <a:buFont typeface="Arial" panose="020B0604020202020204" pitchFamily="34" charset="0"/>
              <a:buChar char="•"/>
            </a:pPr>
            <a:r>
              <a:rPr sz="1100" b="1" dirty="0">
                <a:solidFill>
                  <a:schemeClr val="tx1"/>
                </a:solidFill>
                <a:latin typeface="+mj-lt"/>
              </a:rPr>
              <a:t>synth-design-analysis</a:t>
            </a:r>
            <a:r>
              <a:rPr sz="1100" b="0" dirty="0">
                <a:solidFill>
                  <a:srgbClr val="595959"/>
                </a:solidFill>
                <a:latin typeface="+mj-lt"/>
              </a:rPr>
              <a:t>—</a:t>
            </a:r>
            <a:r>
              <a:rPr sz="1100" b="0" dirty="0">
                <a:solidFill>
                  <a:srgbClr val="404040"/>
                </a:solidFill>
                <a:latin typeface="+mj-lt"/>
              </a:rPr>
              <a:t>Post-synthesis </a:t>
            </a:r>
            <a:r>
              <a:rPr sz="1100" b="0" dirty="0" err="1">
                <a:solidFill>
                  <a:srgbClr val="404040"/>
                </a:solidFill>
                <a:latin typeface="+mj-lt"/>
              </a:rPr>
              <a:t>QoR</a:t>
            </a:r>
            <a:r>
              <a:rPr sz="1100" b="0" dirty="0">
                <a:solidFill>
                  <a:srgbClr val="404040"/>
                </a:solidFill>
                <a:latin typeface="+mj-lt"/>
              </a:rPr>
              <a:t> &amp; resource assessment</a:t>
            </a:r>
          </a:p>
          <a:p>
            <a:pPr marL="180000" indent="-180000" algn="l">
              <a:spcBef>
                <a:spcPts val="300"/>
              </a:spcBef>
              <a:buFont typeface="Arial" panose="020B0604020202020204" pitchFamily="34" charset="0"/>
              <a:buChar char="•"/>
            </a:pPr>
            <a:r>
              <a:rPr sz="1100" b="1" dirty="0">
                <a:solidFill>
                  <a:schemeClr val="tx1"/>
                </a:solidFill>
                <a:latin typeface="+mj-lt"/>
              </a:rPr>
              <a:t>opt-design-analysis</a:t>
            </a:r>
            <a:r>
              <a:rPr sz="1100" b="0" dirty="0">
                <a:solidFill>
                  <a:srgbClr val="595959"/>
                </a:solidFill>
                <a:latin typeface="+mj-lt"/>
              </a:rPr>
              <a:t>—</a:t>
            </a:r>
            <a:r>
              <a:rPr sz="1100" b="0" dirty="0">
                <a:solidFill>
                  <a:srgbClr val="404040"/>
                </a:solidFill>
                <a:latin typeface="+mj-lt"/>
              </a:rPr>
              <a:t>Logic optimization effectiveness review</a:t>
            </a:r>
          </a:p>
          <a:p>
            <a:pPr marL="180000" indent="-180000" algn="l">
              <a:spcBef>
                <a:spcPts val="300"/>
              </a:spcBef>
              <a:buFont typeface="Arial" panose="020B0604020202020204" pitchFamily="34" charset="0"/>
              <a:buChar char="•"/>
            </a:pPr>
            <a:r>
              <a:rPr sz="1100" b="1" dirty="0" err="1">
                <a:solidFill>
                  <a:schemeClr val="tx1"/>
                </a:solidFill>
                <a:latin typeface="+mj-lt"/>
              </a:rPr>
              <a:t>phys</a:t>
            </a:r>
            <a:r>
              <a:rPr sz="1100" b="1" dirty="0">
                <a:solidFill>
                  <a:schemeClr val="tx1"/>
                </a:solidFill>
                <a:latin typeface="+mj-lt"/>
              </a:rPr>
              <a:t>-opt-design-analysis</a:t>
            </a:r>
            <a:r>
              <a:rPr sz="1100" b="0" dirty="0">
                <a:solidFill>
                  <a:srgbClr val="595959"/>
                </a:solidFill>
                <a:latin typeface="+mj-lt"/>
              </a:rPr>
              <a:t>—</a:t>
            </a:r>
            <a:r>
              <a:rPr sz="1100" b="0" dirty="0">
                <a:solidFill>
                  <a:srgbClr val="404040"/>
                </a:solidFill>
                <a:latin typeface="+mj-lt"/>
              </a:rPr>
              <a:t>Physical optimization analysis</a:t>
            </a:r>
          </a:p>
          <a:p>
            <a:pPr marL="180000" indent="-180000" algn="l">
              <a:spcBef>
                <a:spcPts val="300"/>
              </a:spcBef>
              <a:buFont typeface="Arial" panose="020B0604020202020204" pitchFamily="34" charset="0"/>
              <a:buChar char="•"/>
            </a:pPr>
            <a:r>
              <a:rPr sz="1100" b="1" dirty="0">
                <a:solidFill>
                  <a:schemeClr val="tx1"/>
                </a:solidFill>
                <a:latin typeface="+mj-lt"/>
              </a:rPr>
              <a:t>route-design-analysis</a:t>
            </a:r>
            <a:r>
              <a:rPr sz="1100" b="0" dirty="0">
                <a:solidFill>
                  <a:srgbClr val="595959"/>
                </a:solidFill>
                <a:latin typeface="+mj-lt"/>
              </a:rPr>
              <a:t>—</a:t>
            </a:r>
            <a:r>
              <a:rPr sz="1100" b="0" dirty="0">
                <a:solidFill>
                  <a:srgbClr val="404040"/>
                </a:solidFill>
                <a:latin typeface="+mj-lt"/>
              </a:rPr>
              <a:t>Routing congestion &amp; timing closure</a:t>
            </a:r>
          </a:p>
          <a:p>
            <a:pPr marL="180000" indent="-180000" algn="l">
              <a:spcBef>
                <a:spcPts val="300"/>
              </a:spcBef>
              <a:buFont typeface="Arial" panose="020B0604020202020204" pitchFamily="34" charset="0"/>
              <a:buChar char="•"/>
            </a:pPr>
            <a:r>
              <a:rPr sz="1100" b="1" dirty="0">
                <a:solidFill>
                  <a:schemeClr val="tx1"/>
                </a:solidFill>
                <a:latin typeface="+mj-lt"/>
              </a:rPr>
              <a:t>congestion-analysis</a:t>
            </a:r>
            <a:r>
              <a:rPr sz="1100" b="0" dirty="0">
                <a:solidFill>
                  <a:srgbClr val="595959"/>
                </a:solidFill>
                <a:latin typeface="+mj-lt"/>
              </a:rPr>
              <a:t>—</a:t>
            </a:r>
            <a:r>
              <a:rPr sz="1100" b="0" dirty="0">
                <a:solidFill>
                  <a:srgbClr val="404040"/>
                </a:solidFill>
                <a:latin typeface="+mj-lt"/>
              </a:rPr>
              <a:t>Routing congestion hotspot analysis</a:t>
            </a:r>
          </a:p>
          <a:p>
            <a:pPr marL="180000" indent="-180000" algn="l">
              <a:spcBef>
                <a:spcPts val="300"/>
              </a:spcBef>
              <a:buFont typeface="Arial" panose="020B0604020202020204" pitchFamily="34" charset="0"/>
              <a:buChar char="•"/>
            </a:pPr>
            <a:r>
              <a:rPr sz="1100" b="1" dirty="0">
                <a:solidFill>
                  <a:schemeClr val="tx1"/>
                </a:solidFill>
                <a:latin typeface="+mj-lt"/>
              </a:rPr>
              <a:t>fanout-opt</a:t>
            </a:r>
            <a:r>
              <a:rPr sz="1100" b="0" dirty="0">
                <a:solidFill>
                  <a:srgbClr val="595959"/>
                </a:solidFill>
                <a:latin typeface="+mj-lt"/>
              </a:rPr>
              <a:t>—</a:t>
            </a:r>
            <a:r>
              <a:rPr sz="1100" b="0" dirty="0">
                <a:solidFill>
                  <a:srgbClr val="404040"/>
                </a:solidFill>
                <a:latin typeface="+mj-lt"/>
              </a:rPr>
              <a:t>High-fanout net optimization &amp; replication</a:t>
            </a:r>
          </a:p>
          <a:p>
            <a:pPr marL="180000" indent="-180000" algn="l">
              <a:spcBef>
                <a:spcPts val="300"/>
              </a:spcBef>
              <a:buFont typeface="Arial" panose="020B0604020202020204" pitchFamily="34" charset="0"/>
              <a:buChar char="•"/>
            </a:pPr>
            <a:r>
              <a:rPr sz="1100" b="1" dirty="0">
                <a:solidFill>
                  <a:schemeClr val="tx1"/>
                </a:solidFill>
                <a:latin typeface="+mj-lt"/>
              </a:rPr>
              <a:t>reset-architecture-review</a:t>
            </a:r>
            <a:r>
              <a:rPr sz="1100" b="0" dirty="0">
                <a:solidFill>
                  <a:srgbClr val="595959"/>
                </a:solidFill>
                <a:latin typeface="+mj-lt"/>
              </a:rPr>
              <a:t>—</a:t>
            </a:r>
            <a:r>
              <a:rPr sz="1100" b="0" dirty="0">
                <a:solidFill>
                  <a:srgbClr val="404040"/>
                </a:solidFill>
                <a:latin typeface="+mj-lt"/>
              </a:rPr>
              <a:t>Reset tree &amp; async reset verification</a:t>
            </a:r>
          </a:p>
          <a:p>
            <a:pPr marL="180000" indent="-180000" algn="l">
              <a:spcBef>
                <a:spcPts val="300"/>
              </a:spcBef>
              <a:buFont typeface="Arial" panose="020B0604020202020204" pitchFamily="34" charset="0"/>
              <a:buChar char="•"/>
            </a:pPr>
            <a:r>
              <a:rPr sz="1100" b="1" dirty="0" err="1">
                <a:solidFill>
                  <a:schemeClr val="tx1"/>
                </a:solidFill>
                <a:latin typeface="+mj-lt"/>
              </a:rPr>
              <a:t>dfx</a:t>
            </a:r>
            <a:r>
              <a:rPr sz="1100" b="1" dirty="0">
                <a:solidFill>
                  <a:schemeClr val="tx1"/>
                </a:solidFill>
                <a:latin typeface="+mj-lt"/>
              </a:rPr>
              <a:t>-floorplan-review</a:t>
            </a:r>
            <a:r>
              <a:rPr sz="1100" b="0" dirty="0">
                <a:solidFill>
                  <a:srgbClr val="595959"/>
                </a:solidFill>
                <a:latin typeface="+mj-lt"/>
              </a:rPr>
              <a:t>—</a:t>
            </a:r>
            <a:r>
              <a:rPr sz="1100" b="0" dirty="0">
                <a:solidFill>
                  <a:srgbClr val="404040"/>
                </a:solidFill>
                <a:latin typeface="+mj-lt"/>
              </a:rPr>
              <a:t>DFX partition floorplan validation</a:t>
            </a:r>
          </a:p>
          <a:p>
            <a:pPr marL="180000" indent="-180000" algn="l">
              <a:spcBef>
                <a:spcPts val="300"/>
              </a:spcBef>
              <a:buFont typeface="Arial" panose="020B0604020202020204" pitchFamily="34" charset="0"/>
              <a:buChar char="•"/>
            </a:pPr>
            <a:r>
              <a:rPr sz="1100" b="1" dirty="0">
                <a:solidFill>
                  <a:schemeClr val="tx1"/>
                </a:solidFill>
                <a:latin typeface="+mj-lt"/>
              </a:rPr>
              <a:t>custom-</a:t>
            </a:r>
            <a:r>
              <a:rPr sz="1100" b="1" dirty="0" err="1">
                <a:solidFill>
                  <a:schemeClr val="tx1"/>
                </a:solidFill>
                <a:latin typeface="+mj-lt"/>
              </a:rPr>
              <a:t>drc</a:t>
            </a:r>
            <a:r>
              <a:rPr sz="1100" b="1" dirty="0">
                <a:solidFill>
                  <a:schemeClr val="tx1"/>
                </a:solidFill>
                <a:latin typeface="+mj-lt"/>
              </a:rPr>
              <a:t>-ep</a:t>
            </a:r>
            <a:r>
              <a:rPr sz="1100" b="0" dirty="0">
                <a:solidFill>
                  <a:srgbClr val="595959"/>
                </a:solidFill>
                <a:latin typeface="+mj-lt"/>
              </a:rPr>
              <a:t>—</a:t>
            </a:r>
            <a:r>
              <a:rPr sz="1100" b="0" dirty="0">
                <a:solidFill>
                  <a:srgbClr val="404040"/>
                </a:solidFill>
                <a:latin typeface="+mj-lt"/>
              </a:rPr>
              <a:t>Custom design rule checks</a:t>
            </a:r>
          </a:p>
        </p:txBody>
      </p:sp>
      <p:sp>
        <p:nvSpPr>
          <p:cNvPr id="2" name="Title 1">
            <a:extLst>
              <a:ext uri="{FF2B5EF4-FFF2-40B4-BE49-F238E27FC236}">
                <a16:creationId xmlns:a16="http://schemas.microsoft.com/office/drawing/2014/main" id="{5AE1A95D-F56D-230F-7401-6F1D4E9FA6C9}"/>
              </a:ext>
            </a:extLst>
          </p:cNvPr>
          <p:cNvSpPr>
            <a:spLocks noGrp="1"/>
          </p:cNvSpPr>
          <p:nvPr>
            <p:ph type="title"/>
          </p:nvPr>
        </p:nvSpPr>
        <p:spPr>
          <a:xfrm>
            <a:off x="588263" y="591790"/>
            <a:ext cx="11531850" cy="430887"/>
          </a:xfrm>
        </p:spPr>
        <p:txBody>
          <a:bodyPr vert="horz" wrap="square" rIns="0">
            <a:spAutoFit/>
          </a:bodyPr>
          <a:lstStyle/>
          <a:p>
            <a:r>
              <a:rPr lang="en-US" dirty="0">
                <a:latin typeface="Arial Bold" panose="020B0704020202020204" pitchFamily="34" charset="0"/>
              </a:rPr>
              <a:t>AMD Vivado IDE Agent Skills—Continued Support</a:t>
            </a:r>
            <a:endParaRPr lang="en-ID" dirty="0">
              <a:latin typeface="Arial Bold" panose="020B0704020202020204" pitchFamily="34" charset="0"/>
            </a:endParaRPr>
          </a:p>
        </p:txBody>
      </p:sp>
      <p:sp>
        <p:nvSpPr>
          <p:cNvPr id="23" name="Rounded Rectangle 4">
            <a:extLst>
              <a:ext uri="{FF2B5EF4-FFF2-40B4-BE49-F238E27FC236}">
                <a16:creationId xmlns:a16="http://schemas.microsoft.com/office/drawing/2014/main" id="{14A0011C-8806-F74A-C114-2DBC92699FCB}"/>
              </a:ext>
            </a:extLst>
          </p:cNvPr>
          <p:cNvSpPr/>
          <p:nvPr/>
        </p:nvSpPr>
        <p:spPr>
          <a:xfrm>
            <a:off x="588263" y="1325880"/>
            <a:ext cx="5363276" cy="430887"/>
          </a:xfrm>
          <a:prstGeom prst="snip2DiagRect">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r>
              <a:rPr lang="en-US" sz="1200" b="1">
                <a:solidFill>
                  <a:schemeClr val="tx1"/>
                </a:solidFill>
                <a:latin typeface="Arial" panose="020B0604020202020204" pitchFamily="34" charset="0"/>
              </a:rPr>
              <a:t>Clock &amp; Timing </a:t>
            </a:r>
          </a:p>
        </p:txBody>
      </p:sp>
      <p:sp>
        <p:nvSpPr>
          <p:cNvPr id="26" name="Rounded Rectangle 3">
            <a:extLst>
              <a:ext uri="{FF2B5EF4-FFF2-40B4-BE49-F238E27FC236}">
                <a16:creationId xmlns:a16="http://schemas.microsoft.com/office/drawing/2014/main" id="{819D30F0-0552-850D-7E67-AE86EC6F67D6}"/>
              </a:ext>
            </a:extLst>
          </p:cNvPr>
          <p:cNvSpPr/>
          <p:nvPr/>
        </p:nvSpPr>
        <p:spPr>
          <a:xfrm>
            <a:off x="588263" y="1837792"/>
            <a:ext cx="5279137" cy="1169551"/>
          </a:xfrm>
          <a:prstGeom prst="rect">
            <a:avLst/>
          </a:prstGeom>
          <a:noFill/>
          <a:ln w="12700">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spAutoFit/>
          </a:bodyPr>
          <a:lstStyle/>
          <a:p>
            <a:pPr marL="180000" indent="-180000" algn="l">
              <a:spcBef>
                <a:spcPts val="300"/>
              </a:spcBef>
              <a:buFont typeface="Arial" panose="020B0604020202020204" pitchFamily="34" charset="0"/>
              <a:buChar char="•"/>
            </a:pPr>
            <a:r>
              <a:rPr sz="1100" b="1" dirty="0">
                <a:solidFill>
                  <a:schemeClr val="tx1"/>
                </a:solidFill>
                <a:latin typeface="+mj-lt"/>
              </a:rPr>
              <a:t>clock-domain-crossing-review</a:t>
            </a:r>
            <a:r>
              <a:rPr lang="en-US" sz="1100" b="0">
                <a:solidFill>
                  <a:srgbClr val="595959"/>
                </a:solidFill>
                <a:latin typeface="+mj-lt"/>
              </a:rPr>
              <a:t>—</a:t>
            </a:r>
            <a:r>
              <a:rPr sz="1100" b="0" dirty="0">
                <a:solidFill>
                  <a:srgbClr val="404040"/>
                </a:solidFill>
                <a:latin typeface="+mj-lt"/>
              </a:rPr>
              <a:t>CDC path analysis &amp; XPM_CDC recommendations</a:t>
            </a:r>
          </a:p>
          <a:p>
            <a:pPr marL="180000" indent="-180000" algn="l">
              <a:spcBef>
                <a:spcPts val="300"/>
              </a:spcBef>
              <a:buFont typeface="Arial" panose="020B0604020202020204" pitchFamily="34" charset="0"/>
              <a:buChar char="•"/>
            </a:pPr>
            <a:r>
              <a:rPr sz="1100" b="1" dirty="0">
                <a:solidFill>
                  <a:schemeClr val="tx1"/>
                </a:solidFill>
                <a:latin typeface="+mj-lt"/>
              </a:rPr>
              <a:t>clock-tree-topology-review</a:t>
            </a:r>
            <a:r>
              <a:rPr lang="en-US" sz="1100" b="0">
                <a:solidFill>
                  <a:srgbClr val="595959"/>
                </a:solidFill>
                <a:latin typeface="+mj-lt"/>
              </a:rPr>
              <a:t>—</a:t>
            </a:r>
            <a:r>
              <a:rPr sz="1100" b="0" dirty="0">
                <a:solidFill>
                  <a:srgbClr val="404040"/>
                </a:solidFill>
                <a:latin typeface="+mj-lt"/>
              </a:rPr>
              <a:t>Clock architecture &amp; MMCM/PLL topology</a:t>
            </a:r>
          </a:p>
          <a:p>
            <a:pPr marL="180000" indent="-180000">
              <a:spcBef>
                <a:spcPts val="300"/>
              </a:spcBef>
              <a:buFont typeface="Arial" panose="020B0604020202020204" pitchFamily="34" charset="0"/>
              <a:buChar char="•"/>
            </a:pPr>
            <a:r>
              <a:rPr sz="1100" b="1" dirty="0">
                <a:solidFill>
                  <a:schemeClr val="tx1"/>
                </a:solidFill>
                <a:latin typeface="+mj-lt"/>
              </a:rPr>
              <a:t>clock-skew-uncertainty-optimization</a:t>
            </a:r>
            <a:r>
              <a:rPr lang="en-US" sz="1100">
                <a:solidFill>
                  <a:srgbClr val="595959"/>
                </a:solidFill>
              </a:rPr>
              <a:t>—</a:t>
            </a:r>
            <a:r>
              <a:rPr sz="1100" b="0" dirty="0">
                <a:solidFill>
                  <a:srgbClr val="404040"/>
                </a:solidFill>
                <a:latin typeface="+mj-lt"/>
              </a:rPr>
              <a:t>Skew &amp; uncertainty budget optimization</a:t>
            </a:r>
            <a:endParaRPr lang="en-US" sz="1100" b="0">
              <a:solidFill>
                <a:srgbClr val="404040"/>
              </a:solidFill>
              <a:latin typeface="+mj-lt"/>
            </a:endParaRPr>
          </a:p>
          <a:p>
            <a:pPr marL="180000" indent="-180000">
              <a:spcBef>
                <a:spcPts val="300"/>
              </a:spcBef>
              <a:buFont typeface="Arial" panose="020B0604020202020204" pitchFamily="34" charset="0"/>
              <a:buChar char="•"/>
            </a:pPr>
            <a:r>
              <a:rPr sz="1100" b="1" dirty="0">
                <a:solidFill>
                  <a:schemeClr val="tx1"/>
                </a:solidFill>
                <a:latin typeface="+mj-lt"/>
              </a:rPr>
              <a:t>clock-placer-failure-debug</a:t>
            </a:r>
            <a:r>
              <a:rPr lang="en-US" sz="1100">
                <a:solidFill>
                  <a:srgbClr val="595959"/>
                </a:solidFill>
              </a:rPr>
              <a:t>—</a:t>
            </a:r>
            <a:r>
              <a:rPr sz="1100" b="0" dirty="0">
                <a:solidFill>
                  <a:srgbClr val="404040"/>
                </a:solidFill>
                <a:latin typeface="+mj-lt"/>
              </a:rPr>
              <a:t>Debug clock placement failures</a:t>
            </a:r>
            <a:endParaRPr lang="en-US" sz="1100" b="0">
              <a:solidFill>
                <a:srgbClr val="404040"/>
              </a:solidFill>
              <a:latin typeface="+mj-lt"/>
            </a:endParaRPr>
          </a:p>
          <a:p>
            <a:pPr marL="180000" indent="-180000" algn="l">
              <a:spcBef>
                <a:spcPts val="300"/>
              </a:spcBef>
              <a:buFont typeface="Arial" panose="020B0604020202020204" pitchFamily="34" charset="0"/>
              <a:buChar char="•"/>
            </a:pPr>
            <a:r>
              <a:rPr sz="1100" b="1" dirty="0">
                <a:solidFill>
                  <a:schemeClr val="tx1"/>
                </a:solidFill>
                <a:latin typeface="+mj-lt"/>
              </a:rPr>
              <a:t>clock-region-placer-failure-ep</a:t>
            </a:r>
            <a:r>
              <a:rPr lang="en-US" sz="1100" b="0">
                <a:solidFill>
                  <a:srgbClr val="595959"/>
                </a:solidFill>
                <a:latin typeface="+mj-lt"/>
              </a:rPr>
              <a:t>—</a:t>
            </a:r>
            <a:r>
              <a:rPr sz="1100" b="0" dirty="0">
                <a:solidFill>
                  <a:srgbClr val="404040"/>
                </a:solidFill>
                <a:latin typeface="+mj-lt"/>
              </a:rPr>
              <a:t>Clock region resource exhaustion</a:t>
            </a:r>
          </a:p>
        </p:txBody>
      </p:sp>
      <p:sp>
        <p:nvSpPr>
          <p:cNvPr id="29" name="Rounded Rectangle 9">
            <a:extLst>
              <a:ext uri="{FF2B5EF4-FFF2-40B4-BE49-F238E27FC236}">
                <a16:creationId xmlns:a16="http://schemas.microsoft.com/office/drawing/2014/main" id="{7EA6EEB0-6A6E-8E0F-6A7D-420075AAD40D}"/>
              </a:ext>
            </a:extLst>
          </p:cNvPr>
          <p:cNvSpPr/>
          <p:nvPr/>
        </p:nvSpPr>
        <p:spPr>
          <a:xfrm>
            <a:off x="6243507" y="4442713"/>
            <a:ext cx="5364000" cy="546303"/>
          </a:xfrm>
          <a:prstGeom prst="rect">
            <a:avLst/>
          </a:prstGeom>
          <a:noFill/>
          <a:ln w="12700">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spAutoFit/>
          </a:bodyPr>
          <a:lstStyle/>
          <a:p>
            <a:pPr marL="180000" indent="-180000" algn="l">
              <a:spcBef>
                <a:spcPts val="300"/>
              </a:spcBef>
              <a:buFont typeface="Arial" panose="020B0604020202020204" pitchFamily="34" charset="0"/>
              <a:buChar char="•"/>
            </a:pPr>
            <a:r>
              <a:rPr sz="1100" b="1" dirty="0">
                <a:solidFill>
                  <a:schemeClr val="tx1"/>
                </a:solidFill>
                <a:latin typeface="+mj-lt"/>
              </a:rPr>
              <a:t>versal-timing-closure-methodology</a:t>
            </a:r>
            <a:r>
              <a:rPr lang="en-US" sz="1100" b="0" dirty="0">
                <a:solidFill>
                  <a:schemeClr val="tx1"/>
                </a:solidFill>
                <a:latin typeface="+mj-lt"/>
              </a:rPr>
              <a:t> </a:t>
            </a:r>
            <a:r>
              <a:rPr lang="en-US" sz="1100" b="0" dirty="0">
                <a:solidFill>
                  <a:srgbClr val="595959"/>
                </a:solidFill>
                <a:latin typeface="+mj-lt"/>
              </a:rPr>
              <a:t> —  </a:t>
            </a:r>
            <a:r>
              <a:rPr sz="1100" b="0" dirty="0">
                <a:solidFill>
                  <a:srgbClr val="404040"/>
                </a:solidFill>
                <a:latin typeface="+mj-lt"/>
              </a:rPr>
              <a:t>Versal</a:t>
            </a:r>
            <a:r>
              <a:rPr lang="en-US" sz="1100" b="0" dirty="0">
                <a:solidFill>
                  <a:srgbClr val="404040"/>
                </a:solidFill>
                <a:latin typeface="+mj-lt"/>
              </a:rPr>
              <a:t>™ adaptive SoC</a:t>
            </a:r>
            <a:r>
              <a:rPr sz="1100" b="0" dirty="0">
                <a:solidFill>
                  <a:srgbClr val="404040"/>
                </a:solidFill>
                <a:latin typeface="+mj-lt"/>
              </a:rPr>
              <a:t> timing closure best practices</a:t>
            </a:r>
          </a:p>
          <a:p>
            <a:pPr marL="180000" indent="-180000" algn="l">
              <a:spcBef>
                <a:spcPts val="300"/>
              </a:spcBef>
              <a:buFont typeface="Arial" panose="020B0604020202020204" pitchFamily="34" charset="0"/>
              <a:buChar char="•"/>
            </a:pPr>
            <a:r>
              <a:rPr sz="1100" b="1" dirty="0">
                <a:solidFill>
                  <a:schemeClr val="tx1"/>
                </a:solidFill>
                <a:latin typeface="+mj-lt"/>
              </a:rPr>
              <a:t>versal-multi-run-analysis</a:t>
            </a:r>
            <a:r>
              <a:rPr lang="en-US" sz="1100" b="0" dirty="0">
                <a:solidFill>
                  <a:schemeClr val="tx1"/>
                </a:solidFill>
                <a:latin typeface="+mj-lt"/>
              </a:rPr>
              <a:t>  </a:t>
            </a:r>
            <a:r>
              <a:rPr lang="en-US" sz="1100" b="0" dirty="0">
                <a:solidFill>
                  <a:srgbClr val="595959"/>
                </a:solidFill>
                <a:latin typeface="+mj-lt"/>
              </a:rPr>
              <a:t>—  </a:t>
            </a:r>
            <a:r>
              <a:rPr sz="1100" b="0" dirty="0">
                <a:solidFill>
                  <a:srgbClr val="404040"/>
                </a:solidFill>
                <a:latin typeface="+mj-lt"/>
              </a:rPr>
              <a:t>Multi-strategy run comparison &amp; selection</a:t>
            </a:r>
          </a:p>
        </p:txBody>
      </p:sp>
      <p:sp>
        <p:nvSpPr>
          <p:cNvPr id="28" name="Rounded Rectangle 7">
            <a:extLst>
              <a:ext uri="{FF2B5EF4-FFF2-40B4-BE49-F238E27FC236}">
                <a16:creationId xmlns:a16="http://schemas.microsoft.com/office/drawing/2014/main" id="{CE700418-EA5F-293B-1B28-ECF9275D2BE0}"/>
              </a:ext>
            </a:extLst>
          </p:cNvPr>
          <p:cNvSpPr/>
          <p:nvPr/>
        </p:nvSpPr>
        <p:spPr>
          <a:xfrm>
            <a:off x="588263" y="4442713"/>
            <a:ext cx="5364000" cy="1000274"/>
          </a:xfrm>
          <a:prstGeom prst="rect">
            <a:avLst/>
          </a:prstGeom>
          <a:noFill/>
          <a:ln w="12700">
            <a:noFill/>
          </a:ln>
        </p:spPr>
        <p:style>
          <a:lnRef idx="1">
            <a:schemeClr val="accent1"/>
          </a:lnRef>
          <a:fillRef idx="3">
            <a:schemeClr val="accent1"/>
          </a:fillRef>
          <a:effectRef idx="2">
            <a:schemeClr val="accent1"/>
          </a:effectRef>
          <a:fontRef idx="minor">
            <a:schemeClr val="lt1"/>
          </a:fontRef>
        </p:style>
        <p:txBody>
          <a:bodyPr wrap="square" lIns="0" tIns="0" rIns="0" bIns="0" rtlCol="0" anchor="t">
            <a:spAutoFit/>
          </a:bodyPr>
          <a:lstStyle/>
          <a:p>
            <a:pPr marL="180000" indent="-180000" algn="l">
              <a:spcBef>
                <a:spcPts val="300"/>
              </a:spcBef>
              <a:buFont typeface="Arial" panose="020B0604020202020204" pitchFamily="34" charset="0"/>
              <a:buChar char="•"/>
            </a:pPr>
            <a:r>
              <a:rPr lang="en-US" sz="1100" b="1" dirty="0">
                <a:solidFill>
                  <a:schemeClr val="tx1"/>
                </a:solidFill>
                <a:latin typeface="+mj-lt"/>
              </a:rPr>
              <a:t>bd-</a:t>
            </a:r>
            <a:r>
              <a:rPr lang="en-US" sz="1100" b="1" dirty="0" err="1">
                <a:solidFill>
                  <a:schemeClr val="tx1"/>
                </a:solidFill>
                <a:latin typeface="+mj-lt"/>
              </a:rPr>
              <a:t>ila</a:t>
            </a:r>
            <a:r>
              <a:rPr lang="en-US" sz="1100" b="1" dirty="0">
                <a:solidFill>
                  <a:schemeClr val="tx1"/>
                </a:solidFill>
                <a:latin typeface="+mj-lt"/>
              </a:rPr>
              <a:t>-insertion</a:t>
            </a:r>
            <a:r>
              <a:rPr lang="en-US" sz="1100" b="0" dirty="0">
                <a:solidFill>
                  <a:srgbClr val="595959"/>
                </a:solidFill>
                <a:latin typeface="+mj-lt"/>
              </a:rPr>
              <a:t>—</a:t>
            </a:r>
            <a:r>
              <a:rPr lang="en-US" sz="1100" b="0" dirty="0">
                <a:solidFill>
                  <a:srgbClr val="404040"/>
                </a:solidFill>
                <a:latin typeface="+mj-lt"/>
              </a:rPr>
              <a:t>Block design ILA probe insertion</a:t>
            </a:r>
          </a:p>
          <a:p>
            <a:pPr marL="180000" indent="-180000" algn="l">
              <a:spcBef>
                <a:spcPts val="300"/>
              </a:spcBef>
              <a:buFont typeface="Arial" panose="020B0604020202020204" pitchFamily="34" charset="0"/>
              <a:buChar char="•"/>
            </a:pPr>
            <a:r>
              <a:rPr lang="en-US" sz="1100" b="1" dirty="0" err="1">
                <a:solidFill>
                  <a:schemeClr val="tx1"/>
                </a:solidFill>
                <a:latin typeface="+mj-lt"/>
              </a:rPr>
              <a:t>noc</a:t>
            </a:r>
            <a:r>
              <a:rPr lang="en-US" sz="1100" b="1" dirty="0">
                <a:solidFill>
                  <a:schemeClr val="tx1"/>
                </a:solidFill>
                <a:latin typeface="+mj-lt"/>
              </a:rPr>
              <a:t>-compiler-failure-analysis</a:t>
            </a:r>
            <a:r>
              <a:rPr lang="en-US" sz="1100" b="0" dirty="0">
                <a:solidFill>
                  <a:srgbClr val="595959"/>
                </a:solidFill>
                <a:latin typeface="+mj-lt"/>
              </a:rPr>
              <a:t>—</a:t>
            </a:r>
            <a:r>
              <a:rPr lang="en-US" sz="1100" b="0" dirty="0">
                <a:solidFill>
                  <a:srgbClr val="404040"/>
                </a:solidFill>
                <a:latin typeface="+mj-lt"/>
              </a:rPr>
              <a:t>NoC compiler failure root-cause debug</a:t>
            </a:r>
          </a:p>
          <a:p>
            <a:pPr marL="180000" indent="-180000" algn="l">
              <a:spcBef>
                <a:spcPts val="300"/>
              </a:spcBef>
              <a:buFont typeface="Arial" panose="020B0604020202020204" pitchFamily="34" charset="0"/>
              <a:buChar char="•"/>
            </a:pPr>
            <a:r>
              <a:rPr lang="en-US" sz="1100" b="1" dirty="0" err="1">
                <a:solidFill>
                  <a:schemeClr val="tx1"/>
                </a:solidFill>
                <a:latin typeface="+mj-lt"/>
              </a:rPr>
              <a:t>noc</a:t>
            </a:r>
            <a:r>
              <a:rPr lang="en-US" sz="1100" b="1" dirty="0">
                <a:solidFill>
                  <a:schemeClr val="tx1"/>
                </a:solidFill>
                <a:latin typeface="+mj-lt"/>
              </a:rPr>
              <a:t>-performance-monitoring</a:t>
            </a:r>
            <a:r>
              <a:rPr lang="en-US" sz="1100" b="0" dirty="0">
                <a:solidFill>
                  <a:srgbClr val="595959"/>
                </a:solidFill>
                <a:latin typeface="+mj-lt"/>
              </a:rPr>
              <a:t>—</a:t>
            </a:r>
            <a:r>
              <a:rPr lang="en-US" sz="1100" b="0" dirty="0">
                <a:solidFill>
                  <a:srgbClr val="404040"/>
                </a:solidFill>
                <a:latin typeface="+mj-lt"/>
              </a:rPr>
              <a:t>NoC traffic analysis &amp; bandwidth tuning</a:t>
            </a:r>
          </a:p>
          <a:p>
            <a:pPr marL="180000" indent="-180000" algn="l">
              <a:spcBef>
                <a:spcPts val="300"/>
              </a:spcBef>
              <a:buFont typeface="Arial" panose="020B0604020202020204" pitchFamily="34" charset="0"/>
              <a:buChar char="•"/>
            </a:pPr>
            <a:r>
              <a:rPr lang="en-US" sz="1100" b="1" dirty="0" err="1">
                <a:solidFill>
                  <a:schemeClr val="tx1"/>
                </a:solidFill>
                <a:latin typeface="+mj-lt"/>
              </a:rPr>
              <a:t>pcie</a:t>
            </a:r>
            <a:r>
              <a:rPr lang="en-US" sz="1100" b="1" dirty="0">
                <a:solidFill>
                  <a:schemeClr val="tx1"/>
                </a:solidFill>
                <a:latin typeface="+mj-lt"/>
              </a:rPr>
              <a:t>-link-analysis</a:t>
            </a:r>
            <a:r>
              <a:rPr lang="en-US" sz="1100" b="0" dirty="0">
                <a:solidFill>
                  <a:srgbClr val="595959"/>
                </a:solidFill>
                <a:latin typeface="+mj-lt"/>
              </a:rPr>
              <a:t>—</a:t>
            </a:r>
            <a:r>
              <a:rPr lang="en-US" sz="1100" b="0" dirty="0">
                <a:solidFill>
                  <a:srgbClr val="404040"/>
                </a:solidFill>
                <a:latin typeface="+mj-lt"/>
              </a:rPr>
              <a:t>PCIe® link training &amp; LTSSM debug</a:t>
            </a:r>
          </a:p>
          <a:p>
            <a:pPr marL="180000" indent="-180000" algn="l">
              <a:spcBef>
                <a:spcPts val="300"/>
              </a:spcBef>
              <a:buFont typeface="Arial" panose="020B0604020202020204" pitchFamily="34" charset="0"/>
              <a:buChar char="•"/>
            </a:pPr>
            <a:r>
              <a:rPr lang="en-US" sz="1100" b="1" dirty="0" err="1">
                <a:solidFill>
                  <a:schemeClr val="tx1"/>
                </a:solidFill>
                <a:latin typeface="+mj-lt"/>
              </a:rPr>
              <a:t>ddr</a:t>
            </a:r>
            <a:r>
              <a:rPr lang="en-US" sz="1100" b="1" dirty="0">
                <a:solidFill>
                  <a:schemeClr val="tx1"/>
                </a:solidFill>
                <a:latin typeface="+mj-lt"/>
              </a:rPr>
              <a:t>-calibration-debug</a:t>
            </a:r>
            <a:r>
              <a:rPr lang="en-US" sz="1100" b="0" dirty="0">
                <a:solidFill>
                  <a:srgbClr val="595959"/>
                </a:solidFill>
                <a:latin typeface="+mj-lt"/>
              </a:rPr>
              <a:t>—</a:t>
            </a:r>
            <a:r>
              <a:rPr lang="en-US" sz="1100" b="0" dirty="0">
                <a:solidFill>
                  <a:srgbClr val="404040"/>
                </a:solidFill>
                <a:latin typeface="+mj-lt"/>
              </a:rPr>
              <a:t>DDR4/5 calibration failure analysis</a:t>
            </a:r>
          </a:p>
        </p:txBody>
      </p:sp>
      <p:sp>
        <p:nvSpPr>
          <p:cNvPr id="30" name="Rounded Rectangle 4">
            <a:extLst>
              <a:ext uri="{FF2B5EF4-FFF2-40B4-BE49-F238E27FC236}">
                <a16:creationId xmlns:a16="http://schemas.microsoft.com/office/drawing/2014/main" id="{2C365712-5F1F-18C8-2FE0-A33E2A66BEDD}"/>
              </a:ext>
            </a:extLst>
          </p:cNvPr>
          <p:cNvSpPr/>
          <p:nvPr/>
        </p:nvSpPr>
        <p:spPr>
          <a:xfrm>
            <a:off x="6243507" y="3930801"/>
            <a:ext cx="5363276" cy="430887"/>
          </a:xfrm>
          <a:prstGeom prst="snip2DiagRect">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r>
              <a:rPr lang="en-US" sz="1200" b="1">
                <a:solidFill>
                  <a:schemeClr val="bg1"/>
                </a:solidFill>
                <a:latin typeface="Arial" panose="020B0604020202020204" pitchFamily="34" charset="0"/>
              </a:rPr>
              <a:t>Platform Specific </a:t>
            </a:r>
          </a:p>
        </p:txBody>
      </p:sp>
      <p:sp>
        <p:nvSpPr>
          <p:cNvPr id="31" name="Rounded Rectangle 4">
            <a:extLst>
              <a:ext uri="{FF2B5EF4-FFF2-40B4-BE49-F238E27FC236}">
                <a16:creationId xmlns:a16="http://schemas.microsoft.com/office/drawing/2014/main" id="{BCCB3203-0F7F-DF43-7839-A399BDA8AC4D}"/>
              </a:ext>
            </a:extLst>
          </p:cNvPr>
          <p:cNvSpPr/>
          <p:nvPr/>
        </p:nvSpPr>
        <p:spPr>
          <a:xfrm>
            <a:off x="588263" y="3930801"/>
            <a:ext cx="5363276" cy="430887"/>
          </a:xfrm>
          <a:prstGeom prst="snip2DiagRect">
            <a:avLst/>
          </a:prstGeom>
          <a:solidFill>
            <a:schemeClr val="accent4"/>
          </a:solidFill>
          <a:ln>
            <a:noFill/>
          </a:ln>
        </p:spPr>
        <p:style>
          <a:lnRef idx="1">
            <a:schemeClr val="accent1"/>
          </a:lnRef>
          <a:fillRef idx="3">
            <a:schemeClr val="accent1"/>
          </a:fillRef>
          <a:effectRef idx="2">
            <a:schemeClr val="accent1"/>
          </a:effectRef>
          <a:fontRef idx="minor">
            <a:schemeClr val="lt1"/>
          </a:fontRef>
        </p:style>
        <p:txBody>
          <a:bodyPr wrap="square" lIns="180000" tIns="108000" rIns="180000" bIns="108000" rtlCol="0" anchor="ctr"/>
          <a:lstStyle/>
          <a:p>
            <a:r>
              <a:rPr lang="en-US" sz="1200" b="1">
                <a:solidFill>
                  <a:schemeClr val="bg1"/>
                </a:solidFill>
                <a:latin typeface="Arial" panose="020B0604020202020204" pitchFamily="34" charset="0"/>
              </a:rPr>
              <a:t>Hardware Debug </a:t>
            </a:r>
          </a:p>
        </p:txBody>
      </p:sp>
      <p:pic>
        <p:nvPicPr>
          <p:cNvPr id="34" name="Graphic 33">
            <a:extLst>
              <a:ext uri="{FF2B5EF4-FFF2-40B4-BE49-F238E27FC236}">
                <a16:creationId xmlns:a16="http://schemas.microsoft.com/office/drawing/2014/main" id="{60F9C002-B6E4-D008-54A3-F447590DB7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53802" y="1433323"/>
            <a:ext cx="216000" cy="216000"/>
          </a:xfrm>
          <a:prstGeom prst="rect">
            <a:avLst/>
          </a:prstGeom>
        </p:spPr>
      </p:pic>
      <p:pic>
        <p:nvPicPr>
          <p:cNvPr id="35" name="Graphic 34">
            <a:extLst>
              <a:ext uri="{FF2B5EF4-FFF2-40B4-BE49-F238E27FC236}">
                <a16:creationId xmlns:a16="http://schemas.microsoft.com/office/drawing/2014/main" id="{C44FF3CB-FF0F-7B97-0678-EEF614D0D6A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53802" y="4038244"/>
            <a:ext cx="216000" cy="216000"/>
          </a:xfrm>
          <a:prstGeom prst="rect">
            <a:avLst/>
          </a:prstGeom>
        </p:spPr>
      </p:pic>
      <p:pic>
        <p:nvPicPr>
          <p:cNvPr id="36" name="Graphic 35">
            <a:extLst>
              <a:ext uri="{FF2B5EF4-FFF2-40B4-BE49-F238E27FC236}">
                <a16:creationId xmlns:a16="http://schemas.microsoft.com/office/drawing/2014/main" id="{50A68D24-5C22-405E-93B5-A62E2CA52A7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1209046" y="1433323"/>
            <a:ext cx="216000" cy="216000"/>
          </a:xfrm>
          <a:prstGeom prst="rect">
            <a:avLst/>
          </a:prstGeom>
        </p:spPr>
      </p:pic>
      <p:pic>
        <p:nvPicPr>
          <p:cNvPr id="37" name="Graphic 36">
            <a:extLst>
              <a:ext uri="{FF2B5EF4-FFF2-40B4-BE49-F238E27FC236}">
                <a16:creationId xmlns:a16="http://schemas.microsoft.com/office/drawing/2014/main" id="{3A1160EC-8CF0-8FE1-EE5D-3B33E35FE2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09046" y="4038244"/>
            <a:ext cx="216000" cy="216000"/>
          </a:xfrm>
          <a:prstGeom prst="rect">
            <a:avLst/>
          </a:prstGeom>
        </p:spPr>
      </p:pic>
    </p:spTree>
    <p:extLst>
      <p:ext uri="{BB962C8B-B14F-4D97-AF65-F5344CB8AC3E}">
        <p14:creationId xmlns:p14="http://schemas.microsoft.com/office/powerpoint/2010/main" val="427655225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9F72C-4D98-C50F-AB97-716053E93807}"/>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6D3ACCC-7026-1A0D-A7C5-5039116A6473}"/>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4" name="think-cell data - do not delete" hidden="1">
                        <a:extLst>
                          <a:ext uri="{FF2B5EF4-FFF2-40B4-BE49-F238E27FC236}">
                            <a16:creationId xmlns:a16="http://schemas.microsoft.com/office/drawing/2014/main" id="{06D3ACCC-7026-1A0D-A7C5-5039116A647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F6C7086-777F-16C9-1BD0-D201A513E4D5}"/>
              </a:ext>
            </a:extLst>
          </p:cNvPr>
          <p:cNvSpPr>
            <a:spLocks noGrp="1"/>
          </p:cNvSpPr>
          <p:nvPr>
            <p:ph type="title"/>
          </p:nvPr>
        </p:nvSpPr>
        <p:spPr/>
        <p:txBody>
          <a:bodyPr vert="horz" wrap="square" anchor="t">
            <a:normAutofit/>
          </a:bodyPr>
          <a:lstStyle/>
          <a:p>
            <a:r>
              <a:rPr lang="en-US">
                <a:latin typeface="Arial Bold" panose="020B0704020202020204" pitchFamily="34" charset="0"/>
              </a:rPr>
              <a:t>Agenda</a:t>
            </a:r>
          </a:p>
        </p:txBody>
      </p:sp>
      <p:sp>
        <p:nvSpPr>
          <p:cNvPr id="3" name="Rectangle: Diagonal Corners Snipped 2">
            <a:extLst>
              <a:ext uri="{FF2B5EF4-FFF2-40B4-BE49-F238E27FC236}">
                <a16:creationId xmlns:a16="http://schemas.microsoft.com/office/drawing/2014/main" id="{34BB336C-A29E-65BD-2257-DBC5910E9F04}"/>
              </a:ext>
            </a:extLst>
          </p:cNvPr>
          <p:cNvSpPr/>
          <p:nvPr/>
        </p:nvSpPr>
        <p:spPr bwMode="auto">
          <a:xfrm>
            <a:off x="4648200" y="2131029"/>
            <a:ext cx="288000" cy="288000"/>
          </a:xfrm>
          <a:prstGeom prst="snip2Diag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a:solidFill>
                  <a:schemeClr val="bg1"/>
                </a:solidFill>
                <a:latin typeface="+mj-lt"/>
                <a:ea typeface="Segoe UI" pitchFamily="34" charset="0"/>
                <a:cs typeface="Segoe UI" pitchFamily="34" charset="0"/>
              </a:rPr>
              <a:t>1</a:t>
            </a:r>
          </a:p>
        </p:txBody>
      </p:sp>
      <p:cxnSp>
        <p:nvCxnSpPr>
          <p:cNvPr id="11" name="Straight Connector 10">
            <a:extLst>
              <a:ext uri="{FF2B5EF4-FFF2-40B4-BE49-F238E27FC236}">
                <a16:creationId xmlns:a16="http://schemas.microsoft.com/office/drawing/2014/main" id="{FCDCD9AA-35AD-F668-0270-FF7E22745F43}"/>
              </a:ext>
            </a:extLst>
          </p:cNvPr>
          <p:cNvCxnSpPr>
            <a:cxnSpLocks/>
          </p:cNvCxnSpPr>
          <p:nvPr/>
        </p:nvCxnSpPr>
        <p:spPr>
          <a:xfrm>
            <a:off x="5140960" y="3479691"/>
            <a:ext cx="6466841" cy="0"/>
          </a:xfrm>
          <a:prstGeom prst="line">
            <a:avLst/>
          </a:prstGeom>
          <a:ln w="6350">
            <a:solidFill>
              <a:schemeClr val="bg1">
                <a:lumMod val="85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Diagonal Corners Snipped 11">
            <a:extLst>
              <a:ext uri="{FF2B5EF4-FFF2-40B4-BE49-F238E27FC236}">
                <a16:creationId xmlns:a16="http://schemas.microsoft.com/office/drawing/2014/main" id="{878407B2-F1E9-4EDD-14BF-8C35344F754A}"/>
              </a:ext>
            </a:extLst>
          </p:cNvPr>
          <p:cNvSpPr/>
          <p:nvPr/>
        </p:nvSpPr>
        <p:spPr bwMode="auto">
          <a:xfrm>
            <a:off x="4648200" y="3648956"/>
            <a:ext cx="288000" cy="288000"/>
          </a:xfrm>
          <a:prstGeom prst="snip2Diag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600" b="1">
                <a:solidFill>
                  <a:schemeClr val="bg1"/>
                </a:solidFill>
                <a:latin typeface="+mj-lt"/>
                <a:ea typeface="Segoe UI" pitchFamily="34" charset="0"/>
                <a:cs typeface="Segoe UI" pitchFamily="34" charset="0"/>
              </a:rPr>
              <a:t>2</a:t>
            </a:r>
          </a:p>
        </p:txBody>
      </p:sp>
      <p:sp>
        <p:nvSpPr>
          <p:cNvPr id="9" name="TextBox 8">
            <a:extLst>
              <a:ext uri="{FF2B5EF4-FFF2-40B4-BE49-F238E27FC236}">
                <a16:creationId xmlns:a16="http://schemas.microsoft.com/office/drawing/2014/main" id="{83A54DF8-37B2-39F3-495B-F944A33EFF2A}"/>
              </a:ext>
            </a:extLst>
          </p:cNvPr>
          <p:cNvSpPr txBox="1"/>
          <p:nvPr/>
        </p:nvSpPr>
        <p:spPr>
          <a:xfrm>
            <a:off x="5140960" y="2167307"/>
            <a:ext cx="6466841" cy="1046440"/>
          </a:xfrm>
          <a:prstGeom prst="rect">
            <a:avLst/>
          </a:prstGeom>
          <a:noFill/>
        </p:spPr>
        <p:txBody>
          <a:bodyPr wrap="square" lIns="0" tIns="0" rIns="0" bIns="0" anchor="t">
            <a:spAutoFit/>
          </a:bodyPr>
          <a:lstStyle/>
          <a:p>
            <a:pPr>
              <a:spcBef>
                <a:spcPts val="600"/>
              </a:spcBef>
              <a:spcAft>
                <a:spcPts val="600"/>
              </a:spcAft>
            </a:pPr>
            <a:r>
              <a:rPr lang="en-US" sz="1600" b="1" dirty="0">
                <a:latin typeface="+mj-lt"/>
              </a:rPr>
              <a:t>Execution &amp; Workflows</a:t>
            </a:r>
          </a:p>
          <a:p>
            <a:pPr marL="285750" lvl="0" indent="-285750">
              <a:spcBef>
                <a:spcPts val="600"/>
              </a:spcBef>
              <a:spcAft>
                <a:spcPts val="600"/>
              </a:spcAft>
              <a:buFont typeface="Arial" panose="020B0604020202020204" pitchFamily="34" charset="0"/>
              <a:buChar char="•"/>
            </a:pPr>
            <a:r>
              <a:rPr lang="en-US" sz="1600" dirty="0">
                <a:latin typeface="+mj-lt"/>
              </a:rPr>
              <a:t>Vivado™ Execute: Closed-loop workflows (batch + </a:t>
            </a:r>
            <a:r>
              <a:rPr lang="en-US" sz="1600" dirty="0"/>
              <a:t>GUI</a:t>
            </a:r>
            <a:r>
              <a:rPr lang="en-US" sz="1600" dirty="0">
                <a:latin typeface="+mj-lt"/>
              </a:rPr>
              <a:t>)</a:t>
            </a:r>
          </a:p>
          <a:p>
            <a:pPr marL="285750" lvl="0" indent="-285750">
              <a:spcBef>
                <a:spcPts val="600"/>
              </a:spcBef>
              <a:spcAft>
                <a:spcPts val="600"/>
              </a:spcAft>
              <a:buFont typeface="Arial" panose="020B0604020202020204" pitchFamily="34" charset="0"/>
              <a:buChar char="•"/>
            </a:pPr>
            <a:r>
              <a:rPr lang="en-US" sz="1600" dirty="0">
                <a:latin typeface="+mj-lt"/>
              </a:rPr>
              <a:t>Agent Skills: Repeatable, deterministic workflows</a:t>
            </a:r>
          </a:p>
        </p:txBody>
      </p:sp>
      <p:sp>
        <p:nvSpPr>
          <p:cNvPr id="10" name="TextBox 9">
            <a:extLst>
              <a:ext uri="{FF2B5EF4-FFF2-40B4-BE49-F238E27FC236}">
                <a16:creationId xmlns:a16="http://schemas.microsoft.com/office/drawing/2014/main" id="{3D664F2F-7A73-9F3B-A2A7-B37A9173BCB0}"/>
              </a:ext>
            </a:extLst>
          </p:cNvPr>
          <p:cNvSpPr txBox="1"/>
          <p:nvPr/>
        </p:nvSpPr>
        <p:spPr>
          <a:xfrm>
            <a:off x="5140960" y="3685234"/>
            <a:ext cx="5755640" cy="1692771"/>
          </a:xfrm>
          <a:prstGeom prst="rect">
            <a:avLst/>
          </a:prstGeom>
          <a:noFill/>
        </p:spPr>
        <p:txBody>
          <a:bodyPr wrap="square" lIns="0" tIns="0" rIns="0" bIns="0" anchor="t">
            <a:spAutoFit/>
          </a:bodyPr>
          <a:lstStyle/>
          <a:p>
            <a:pPr>
              <a:spcBef>
                <a:spcPts val="600"/>
              </a:spcBef>
              <a:spcAft>
                <a:spcPts val="600"/>
              </a:spcAft>
            </a:pPr>
            <a:r>
              <a:rPr lang="en-US" sz="1600" b="1" dirty="0">
                <a:latin typeface="+mj-lt"/>
              </a:rPr>
              <a:t>Deployment &amp; Ecosystem</a:t>
            </a:r>
          </a:p>
          <a:p>
            <a:pPr marL="285750" lvl="0" indent="-285750">
              <a:spcBef>
                <a:spcPts val="600"/>
              </a:spcBef>
              <a:spcAft>
                <a:spcPts val="600"/>
              </a:spcAft>
              <a:buFont typeface="Arial" panose="020B0604020202020204" pitchFamily="34" charset="0"/>
              <a:buChar char="•"/>
            </a:pPr>
            <a:r>
              <a:rPr lang="en-US" sz="1600" dirty="0">
                <a:latin typeface="+mj-lt"/>
              </a:rPr>
              <a:t>Reduce OPEX: Local models, local knowledge base (KB), air-gapped solution</a:t>
            </a:r>
          </a:p>
          <a:p>
            <a:pPr marL="285750" lvl="0" indent="-285750">
              <a:spcBef>
                <a:spcPts val="600"/>
              </a:spcBef>
              <a:spcAft>
                <a:spcPts val="600"/>
              </a:spcAft>
              <a:buFont typeface="Arial" panose="020B0604020202020204" pitchFamily="34" charset="0"/>
              <a:buChar char="•"/>
            </a:pPr>
            <a:r>
              <a:rPr lang="en-US" sz="1600" dirty="0">
                <a:latin typeface="+mj-lt"/>
              </a:rPr>
              <a:t>Vivado IDE extension in VS Code</a:t>
            </a:r>
          </a:p>
          <a:p>
            <a:pPr marL="285750" lvl="0" indent="-285750">
              <a:spcBef>
                <a:spcPts val="600"/>
              </a:spcBef>
              <a:spcAft>
                <a:spcPts val="600"/>
              </a:spcAft>
              <a:buFont typeface="Arial" panose="020B0604020202020204" pitchFamily="34" charset="0"/>
              <a:buChar char="•"/>
            </a:pPr>
            <a:r>
              <a:rPr lang="en-US" sz="1600" dirty="0">
                <a:latin typeface="+mj-lt"/>
              </a:rPr>
              <a:t>How to get started + resources</a:t>
            </a:r>
          </a:p>
        </p:txBody>
      </p:sp>
    </p:spTree>
    <p:extLst>
      <p:ext uri="{BB962C8B-B14F-4D97-AF65-F5344CB8AC3E}">
        <p14:creationId xmlns:p14="http://schemas.microsoft.com/office/powerpoint/2010/main" val="107600017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 name="think-cell data - do not delete" hidden="1">
            <a:extLst>
              <a:ext uri="{FF2B5EF4-FFF2-40B4-BE49-F238E27FC236}">
                <a16:creationId xmlns:a16="http://schemas.microsoft.com/office/drawing/2014/main" id="{7104E677-DEF4-A564-7B83-3B785DA082C1}"/>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38" name="think-cell data - do not delete" hidden="1">
                        <a:extLst>
                          <a:ext uri="{FF2B5EF4-FFF2-40B4-BE49-F238E27FC236}">
                            <a16:creationId xmlns:a16="http://schemas.microsoft.com/office/drawing/2014/main" id="{7104E677-DEF4-A564-7B83-3B785DA082C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EC14C9-0A89-7201-F806-86BD3A03020A}"/>
              </a:ext>
            </a:extLst>
          </p:cNvPr>
          <p:cNvSpPr>
            <a:spLocks noGrp="1"/>
          </p:cNvSpPr>
          <p:nvPr>
            <p:ph type="title"/>
          </p:nvPr>
        </p:nvSpPr>
        <p:spPr>
          <a:xfrm>
            <a:off x="588263" y="591790"/>
            <a:ext cx="11018520" cy="430887"/>
          </a:xfrm>
        </p:spPr>
        <p:txBody>
          <a:bodyPr vert="horz" rIns="0">
            <a:spAutoFit/>
          </a:bodyPr>
          <a:lstStyle/>
          <a:p>
            <a:r>
              <a:rPr lang="en-US" dirty="0">
                <a:latin typeface="Arial Bold" panose="020B0704020202020204" pitchFamily="34" charset="0"/>
              </a:rPr>
              <a:t>Recognizing the Importance of Reducing OPEX</a:t>
            </a:r>
            <a:endParaRPr lang="en-ID" dirty="0">
              <a:latin typeface="Arial Bold" panose="020B0704020202020204" pitchFamily="34" charset="0"/>
            </a:endParaRPr>
          </a:p>
        </p:txBody>
      </p:sp>
      <p:grpSp>
        <p:nvGrpSpPr>
          <p:cNvPr id="3" name="Group 2">
            <a:extLst>
              <a:ext uri="{FF2B5EF4-FFF2-40B4-BE49-F238E27FC236}">
                <a16:creationId xmlns:a16="http://schemas.microsoft.com/office/drawing/2014/main" id="{84A32CAE-C371-CB8C-65C4-57A32A24412F}"/>
              </a:ext>
            </a:extLst>
          </p:cNvPr>
          <p:cNvGrpSpPr/>
          <p:nvPr/>
        </p:nvGrpSpPr>
        <p:grpSpPr>
          <a:xfrm>
            <a:off x="588263" y="1796996"/>
            <a:ext cx="11021125" cy="3264008"/>
            <a:chOff x="588263" y="1428612"/>
            <a:chExt cx="11021125" cy="3264008"/>
          </a:xfrm>
        </p:grpSpPr>
        <p:sp>
          <p:nvSpPr>
            <p:cNvPr id="21" name="Rounded Rectangle 2">
              <a:extLst>
                <a:ext uri="{FF2B5EF4-FFF2-40B4-BE49-F238E27FC236}">
                  <a16:creationId xmlns:a16="http://schemas.microsoft.com/office/drawing/2014/main" id="{0ECEE2EF-2AA8-4842-0765-641C9887F665}"/>
                </a:ext>
              </a:extLst>
            </p:cNvPr>
            <p:cNvSpPr/>
            <p:nvPr/>
          </p:nvSpPr>
          <p:spPr>
            <a:xfrm>
              <a:off x="588263" y="1428612"/>
              <a:ext cx="6055605" cy="3264008"/>
            </a:xfrm>
            <a:prstGeom prst="rect">
              <a:avLst/>
            </a:prstGeom>
            <a:solidFill>
              <a:schemeClr val="bg1"/>
            </a:solidFill>
            <a:ln w="6350">
              <a:solidFill>
                <a:schemeClr val="bg1">
                  <a:lumMod val="8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344645B3-C28D-AE62-C839-D9E131ABA0BE}"/>
                </a:ext>
              </a:extLst>
            </p:cNvPr>
            <p:cNvSpPr txBox="1"/>
            <p:nvPr/>
          </p:nvSpPr>
          <p:spPr>
            <a:xfrm>
              <a:off x="802493" y="1605197"/>
              <a:ext cx="2944403" cy="204926"/>
            </a:xfrm>
            <a:prstGeom prst="rect">
              <a:avLst/>
            </a:prstGeom>
            <a:noFill/>
          </p:spPr>
          <p:txBody>
            <a:bodyPr wrap="none" lIns="0" tIns="0" rIns="0" bIns="0">
              <a:noAutofit/>
            </a:bodyPr>
            <a:lstStyle/>
            <a:p>
              <a:pPr algn="l"/>
              <a:r>
                <a:rPr sz="1200" b="1" dirty="0">
                  <a:solidFill>
                    <a:schemeClr val="accent1"/>
                  </a:solidFill>
                  <a:latin typeface="Arial Bold" panose="020B0704020202020204" pitchFamily="34" charset="0"/>
                </a:rPr>
                <a:t>AMD Strix Halo Mini PC</a:t>
              </a:r>
              <a:r>
                <a:rPr sz="1100" dirty="0">
                  <a:solidFill>
                    <a:srgbClr val="595959"/>
                  </a:solidFill>
                  <a:latin typeface="Arial" panose="020B0604020202020204" pitchFamily="34" charset="0"/>
                </a:rPr>
                <a:t>—Fully Local, Zero Cloud</a:t>
              </a:r>
            </a:p>
          </p:txBody>
        </p:sp>
        <p:sp>
          <p:nvSpPr>
            <p:cNvPr id="23" name="Rounded Rectangle 4">
              <a:extLst>
                <a:ext uri="{FF2B5EF4-FFF2-40B4-BE49-F238E27FC236}">
                  <a16:creationId xmlns:a16="http://schemas.microsoft.com/office/drawing/2014/main" id="{BAC54DE1-736F-DEBC-C43D-DF920FA1723C}"/>
                </a:ext>
              </a:extLst>
            </p:cNvPr>
            <p:cNvSpPr/>
            <p:nvPr/>
          </p:nvSpPr>
          <p:spPr>
            <a:xfrm>
              <a:off x="802493" y="1986706"/>
              <a:ext cx="1456773" cy="998738"/>
            </a:xfrm>
            <a:prstGeom prst="rect">
              <a:avLst/>
            </a:prstGeom>
            <a:solidFill>
              <a:srgbClr val="F2F2F2"/>
            </a:solidFill>
            <a:ln w="6350">
              <a:solidFill>
                <a:schemeClr val="accent6"/>
              </a:solid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sz="1400" b="1" dirty="0" err="1">
                  <a:solidFill>
                    <a:srgbClr val="000000"/>
                  </a:solidFill>
                  <a:latin typeface="Arial Bold" panose="020B0704020202020204" pitchFamily="34" charset="0"/>
                </a:rPr>
                <a:t>OpenCode</a:t>
              </a:r>
              <a:r>
                <a:rPr sz="1400" b="1" dirty="0">
                  <a:solidFill>
                    <a:srgbClr val="000000"/>
                  </a:solidFill>
                  <a:latin typeface="Arial Bold" panose="020B0704020202020204" pitchFamily="34" charset="0"/>
                </a:rPr>
                <a:t> CLI</a:t>
              </a:r>
            </a:p>
            <a:p>
              <a:pPr algn="ctr">
                <a:spcBef>
                  <a:spcPts val="200"/>
                </a:spcBef>
              </a:pPr>
              <a:r>
                <a:rPr sz="1000" dirty="0">
                  <a:solidFill>
                    <a:srgbClr val="404040"/>
                  </a:solidFill>
                  <a:latin typeface="Arial" panose="020B0604020202020204" pitchFamily="34" charset="0"/>
                </a:rPr>
                <a:t>User Interface</a:t>
              </a:r>
            </a:p>
          </p:txBody>
        </p:sp>
        <p:sp>
          <p:nvSpPr>
            <p:cNvPr id="24" name="Rounded Rectangle 5">
              <a:extLst>
                <a:ext uri="{FF2B5EF4-FFF2-40B4-BE49-F238E27FC236}">
                  <a16:creationId xmlns:a16="http://schemas.microsoft.com/office/drawing/2014/main" id="{CB72E15A-4F1E-DF58-0568-CA3B89E49E0D}"/>
                </a:ext>
              </a:extLst>
            </p:cNvPr>
            <p:cNvSpPr/>
            <p:nvPr/>
          </p:nvSpPr>
          <p:spPr>
            <a:xfrm>
              <a:off x="2516344" y="1986706"/>
              <a:ext cx="1885236" cy="998738"/>
            </a:xfrm>
            <a:prstGeom prst="rect">
              <a:avLst/>
            </a:prstGeom>
            <a:solidFill>
              <a:srgbClr val="F2F2F2"/>
            </a:solidFill>
            <a:ln w="6350">
              <a:solidFill>
                <a:schemeClr val="accent6"/>
              </a:solid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sz="1400" b="1" dirty="0">
                  <a:solidFill>
                    <a:srgbClr val="000000"/>
                  </a:solidFill>
                  <a:latin typeface="Arial Bold" panose="020B0704020202020204" pitchFamily="34" charset="0"/>
                </a:rPr>
                <a:t>Qwen 3.5 35B</a:t>
              </a:r>
            </a:p>
            <a:p>
              <a:pPr algn="ctr">
                <a:spcBef>
                  <a:spcPts val="200"/>
                </a:spcBef>
              </a:pPr>
              <a:r>
                <a:rPr sz="1000" dirty="0">
                  <a:solidFill>
                    <a:srgbClr val="404040"/>
                  </a:solidFill>
                  <a:latin typeface="Arial" panose="020B0604020202020204" pitchFamily="34" charset="0"/>
                </a:rPr>
                <a:t>Lemonade Server
Local Inference</a:t>
              </a:r>
            </a:p>
          </p:txBody>
        </p:sp>
        <p:sp>
          <p:nvSpPr>
            <p:cNvPr id="25" name="Rounded Rectangle 6">
              <a:extLst>
                <a:ext uri="{FF2B5EF4-FFF2-40B4-BE49-F238E27FC236}">
                  <a16:creationId xmlns:a16="http://schemas.microsoft.com/office/drawing/2014/main" id="{C383C793-2F76-234E-339C-2303A5D9C6BF}"/>
                </a:ext>
              </a:extLst>
            </p:cNvPr>
            <p:cNvSpPr/>
            <p:nvPr/>
          </p:nvSpPr>
          <p:spPr>
            <a:xfrm>
              <a:off x="4658658" y="1986706"/>
              <a:ext cx="1713851" cy="998738"/>
            </a:xfrm>
            <a:prstGeom prst="rect">
              <a:avLst/>
            </a:prstGeom>
            <a:solidFill>
              <a:srgbClr val="F2F2F2"/>
            </a:solidFill>
            <a:ln w="6350">
              <a:solidFill>
                <a:schemeClr val="accent4"/>
              </a:solid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lang="en-US" sz="1400" b="1" dirty="0">
                  <a:solidFill>
                    <a:srgbClr val="000000"/>
                  </a:solidFill>
                  <a:latin typeface="Arial Bold" panose="020B0704020202020204" pitchFamily="34" charset="0"/>
                </a:rPr>
                <a:t>AMD Vivado™</a:t>
              </a:r>
              <a:r>
                <a:rPr sz="1400" b="1" dirty="0">
                  <a:solidFill>
                    <a:srgbClr val="000000"/>
                  </a:solidFill>
                  <a:latin typeface="Arial Bold" panose="020B0704020202020204" pitchFamily="34" charset="0"/>
                </a:rPr>
                <a:t> MCP</a:t>
              </a:r>
              <a:r>
                <a:rPr lang="en-US" sz="1400" b="1" dirty="0">
                  <a:solidFill>
                    <a:srgbClr val="000000"/>
                  </a:solidFill>
                  <a:latin typeface="Arial Bold" panose="020B0704020202020204" pitchFamily="34" charset="0"/>
                </a:rPr>
                <a:t> Server</a:t>
              </a:r>
              <a:endParaRPr sz="1400" b="1" dirty="0">
                <a:solidFill>
                  <a:srgbClr val="000000"/>
                </a:solidFill>
                <a:latin typeface="Arial Bold" panose="020B0704020202020204" pitchFamily="34" charset="0"/>
              </a:endParaRPr>
            </a:p>
            <a:p>
              <a:pPr algn="ctr">
                <a:spcBef>
                  <a:spcPts val="200"/>
                </a:spcBef>
              </a:pPr>
              <a:r>
                <a:rPr sz="1000" dirty="0">
                  <a:solidFill>
                    <a:srgbClr val="404040"/>
                  </a:solidFill>
                  <a:latin typeface="Arial" panose="020B0604020202020204" pitchFamily="34" charset="0"/>
                </a:rPr>
                <a:t>19 Tools
Local Deployment</a:t>
              </a:r>
            </a:p>
          </p:txBody>
        </p:sp>
        <p:sp>
          <p:nvSpPr>
            <p:cNvPr id="26" name="Rounded Rectangle 7">
              <a:extLst>
                <a:ext uri="{FF2B5EF4-FFF2-40B4-BE49-F238E27FC236}">
                  <a16:creationId xmlns:a16="http://schemas.microsoft.com/office/drawing/2014/main" id="{8D37C8DA-A467-9EAB-2C1D-7F561AC9EED3}"/>
                </a:ext>
              </a:extLst>
            </p:cNvPr>
            <p:cNvSpPr/>
            <p:nvPr/>
          </p:nvSpPr>
          <p:spPr>
            <a:xfrm>
              <a:off x="4658658" y="3407311"/>
              <a:ext cx="1713851" cy="998738"/>
            </a:xfrm>
            <a:prstGeom prst="rect">
              <a:avLst/>
            </a:prstGeom>
            <a:solidFill>
              <a:srgbClr val="F2F2F2"/>
            </a:solidFill>
            <a:ln w="6350">
              <a:solidFill>
                <a:schemeClr val="accent6"/>
              </a:solid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sz="1400" b="1">
                  <a:solidFill>
                    <a:srgbClr val="000000"/>
                  </a:solidFill>
                  <a:latin typeface="Arial Bold" panose="020B0704020202020204" pitchFamily="34" charset="0"/>
                </a:rPr>
                <a:t>Knowledge Base</a:t>
              </a:r>
            </a:p>
            <a:p>
              <a:pPr algn="ctr">
                <a:spcBef>
                  <a:spcPts val="200"/>
                </a:spcBef>
              </a:pPr>
              <a:r>
                <a:rPr sz="1000">
                  <a:solidFill>
                    <a:srgbClr val="404040"/>
                  </a:solidFill>
                  <a:latin typeface="Arial" panose="020B0604020202020204" pitchFamily="34" charset="0"/>
                </a:rPr>
                <a:t>Docker • localhost</a:t>
              </a:r>
            </a:p>
          </p:txBody>
        </p:sp>
        <p:sp>
          <p:nvSpPr>
            <p:cNvPr id="27" name="Rounded Rectangle 8">
              <a:extLst>
                <a:ext uri="{FF2B5EF4-FFF2-40B4-BE49-F238E27FC236}">
                  <a16:creationId xmlns:a16="http://schemas.microsoft.com/office/drawing/2014/main" id="{7B35C1E6-262D-60DE-A155-F0F35339FC39}"/>
                </a:ext>
              </a:extLst>
            </p:cNvPr>
            <p:cNvSpPr/>
            <p:nvPr/>
          </p:nvSpPr>
          <p:spPr>
            <a:xfrm>
              <a:off x="2516344" y="3407311"/>
              <a:ext cx="1885236" cy="998738"/>
            </a:xfrm>
            <a:prstGeom prst="rect">
              <a:avLst/>
            </a:prstGeom>
            <a:solidFill>
              <a:srgbClr val="F2F2F2"/>
            </a:solidFill>
            <a:ln w="6350">
              <a:solidFill>
                <a:schemeClr val="accent6"/>
              </a:solid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lang="en-US" sz="1400" b="1" dirty="0">
                  <a:solidFill>
                    <a:srgbClr val="000000"/>
                  </a:solidFill>
                  <a:latin typeface="Arial Bold" panose="020B0704020202020204" pitchFamily="34" charset="0"/>
                </a:rPr>
                <a:t>Vivado</a:t>
              </a:r>
              <a:r>
                <a:rPr sz="1400" b="1" dirty="0">
                  <a:solidFill>
                    <a:srgbClr val="000000"/>
                  </a:solidFill>
                  <a:latin typeface="Arial Bold" panose="020B0704020202020204" pitchFamily="34" charset="0"/>
                </a:rPr>
                <a:t> </a:t>
              </a:r>
              <a:r>
                <a:rPr lang="en-US" sz="1400" b="1" dirty="0">
                  <a:solidFill>
                    <a:srgbClr val="000000"/>
                  </a:solidFill>
                  <a:latin typeface="Arial Bold" panose="020B0704020202020204" pitchFamily="34" charset="0"/>
                </a:rPr>
                <a:t>IDE </a:t>
              </a:r>
              <a:r>
                <a:rPr sz="1400" b="1" dirty="0">
                  <a:solidFill>
                    <a:srgbClr val="000000"/>
                  </a:solidFill>
                  <a:latin typeface="Arial Bold" panose="020B0704020202020204" pitchFamily="34" charset="0"/>
                </a:rPr>
                <a:t>2025.2</a:t>
              </a:r>
            </a:p>
            <a:p>
              <a:pPr algn="ctr">
                <a:spcBef>
                  <a:spcPts val="200"/>
                </a:spcBef>
              </a:pPr>
              <a:r>
                <a:rPr sz="1000" dirty="0">
                  <a:solidFill>
                    <a:srgbClr val="404040"/>
                  </a:solidFill>
                  <a:latin typeface="Arial" panose="020B0604020202020204" pitchFamily="34" charset="0"/>
                </a:rPr>
                <a:t>Local Installation</a:t>
              </a:r>
            </a:p>
          </p:txBody>
        </p:sp>
        <p:cxnSp>
          <p:nvCxnSpPr>
            <p:cNvPr id="28" name="Connector 9">
              <a:extLst>
                <a:ext uri="{FF2B5EF4-FFF2-40B4-BE49-F238E27FC236}">
                  <a16:creationId xmlns:a16="http://schemas.microsoft.com/office/drawing/2014/main" id="{C2A9B192-5994-07B3-1B50-2A40DFFC33A8}"/>
                </a:ext>
              </a:extLst>
            </p:cNvPr>
            <p:cNvCxnSpPr>
              <a:cxnSpLocks/>
            </p:cNvCxnSpPr>
            <p:nvPr/>
          </p:nvCxnSpPr>
          <p:spPr>
            <a:xfrm>
              <a:off x="2259267" y="2486075"/>
              <a:ext cx="257078" cy="0"/>
            </a:xfrm>
            <a:prstGeom prst="line">
              <a:avLst/>
            </a:prstGeom>
            <a:ln w="635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10">
              <a:extLst>
                <a:ext uri="{FF2B5EF4-FFF2-40B4-BE49-F238E27FC236}">
                  <a16:creationId xmlns:a16="http://schemas.microsoft.com/office/drawing/2014/main" id="{83ED81F9-1D6D-DB27-E53C-9D20BFEEBDA4}"/>
                </a:ext>
              </a:extLst>
            </p:cNvPr>
            <p:cNvCxnSpPr>
              <a:cxnSpLocks/>
            </p:cNvCxnSpPr>
            <p:nvPr/>
          </p:nvCxnSpPr>
          <p:spPr>
            <a:xfrm>
              <a:off x="4401581" y="2486075"/>
              <a:ext cx="257078" cy="0"/>
            </a:xfrm>
            <a:prstGeom prst="line">
              <a:avLst/>
            </a:prstGeom>
            <a:ln w="635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11">
              <a:extLst>
                <a:ext uri="{FF2B5EF4-FFF2-40B4-BE49-F238E27FC236}">
                  <a16:creationId xmlns:a16="http://schemas.microsoft.com/office/drawing/2014/main" id="{FBC94214-577F-4D94-99D7-54F83520A1D5}"/>
                </a:ext>
              </a:extLst>
            </p:cNvPr>
            <p:cNvCxnSpPr>
              <a:cxnSpLocks/>
              <a:stCxn id="25" idx="2"/>
              <a:endCxn id="26" idx="0"/>
            </p:cNvCxnSpPr>
            <p:nvPr/>
          </p:nvCxnSpPr>
          <p:spPr>
            <a:xfrm>
              <a:off x="5515584" y="2985444"/>
              <a:ext cx="0" cy="421867"/>
            </a:xfrm>
            <a:prstGeom prst="line">
              <a:avLst/>
            </a:prstGeom>
            <a:ln w="6350">
              <a:solidFill>
                <a:srgbClr val="00C2D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12">
              <a:extLst>
                <a:ext uri="{FF2B5EF4-FFF2-40B4-BE49-F238E27FC236}">
                  <a16:creationId xmlns:a16="http://schemas.microsoft.com/office/drawing/2014/main" id="{04AC65A0-EB42-DF06-1392-849527B05E49}"/>
                </a:ext>
              </a:extLst>
            </p:cNvPr>
            <p:cNvCxnSpPr>
              <a:cxnSpLocks/>
            </p:cNvCxnSpPr>
            <p:nvPr/>
          </p:nvCxnSpPr>
          <p:spPr>
            <a:xfrm flipH="1">
              <a:off x="4401580" y="2985444"/>
              <a:ext cx="257078" cy="421866"/>
            </a:xfrm>
            <a:prstGeom prst="line">
              <a:avLst/>
            </a:prstGeom>
            <a:ln w="6350">
              <a:solidFill>
                <a:srgbClr val="F2652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13">
              <a:extLst>
                <a:ext uri="{FF2B5EF4-FFF2-40B4-BE49-F238E27FC236}">
                  <a16:creationId xmlns:a16="http://schemas.microsoft.com/office/drawing/2014/main" id="{11929F0C-7696-2B6E-9CFA-A47DC8942951}"/>
                </a:ext>
              </a:extLst>
            </p:cNvPr>
            <p:cNvSpPr/>
            <p:nvPr/>
          </p:nvSpPr>
          <p:spPr>
            <a:xfrm>
              <a:off x="802493" y="3407311"/>
              <a:ext cx="1456773" cy="998738"/>
            </a:xfrm>
            <a:prstGeom prst="rect">
              <a:avLst/>
            </a:prstGeom>
            <a:solidFill>
              <a:srgbClr val="F2F2F2"/>
            </a:solidFill>
            <a:ln w="635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marL="171450" indent="-171450">
                <a:buFont typeface="Arial" panose="020B0604020202020204" pitchFamily="34" charset="0"/>
                <a:buChar char="•"/>
              </a:pPr>
              <a:r>
                <a:rPr sz="1100" b="1">
                  <a:solidFill>
                    <a:schemeClr val="accent6">
                      <a:lumMod val="75000"/>
                    </a:schemeClr>
                  </a:solidFill>
                  <a:latin typeface="Arial Bold" panose="020B0704020202020204" pitchFamily="34" charset="0"/>
                </a:rPr>
                <a:t>Zero Cloud Cost
Air-Gap Capable</a:t>
              </a:r>
            </a:p>
          </p:txBody>
        </p:sp>
        <p:sp>
          <p:nvSpPr>
            <p:cNvPr id="58" name="Rounded Rectangle 4">
              <a:extLst>
                <a:ext uri="{FF2B5EF4-FFF2-40B4-BE49-F238E27FC236}">
                  <a16:creationId xmlns:a16="http://schemas.microsoft.com/office/drawing/2014/main" id="{F1592471-7D19-81E1-56EB-E33CD660AF41}"/>
                </a:ext>
              </a:extLst>
            </p:cNvPr>
            <p:cNvSpPr/>
            <p:nvPr/>
          </p:nvSpPr>
          <p:spPr>
            <a:xfrm>
              <a:off x="8315709" y="1428613"/>
              <a:ext cx="3293679" cy="71806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360000" tIns="108000" rIns="108000" bIns="108000" rtlCol="0" anchor="ctr"/>
            <a:lstStyle/>
            <a:p>
              <a:r>
                <a:rPr lang="en-US" sz="1200" dirty="0">
                  <a:solidFill>
                    <a:schemeClr val="tx1"/>
                  </a:solidFill>
                  <a:latin typeface="Arial" panose="020B0604020202020204" pitchFamily="34" charset="0"/>
                </a:rPr>
                <a:t>Qwen 3.5 35B on AMD silicon via </a:t>
              </a:r>
              <a:r>
                <a:rPr lang="en-US" sz="1200" b="1" dirty="0">
                  <a:solidFill>
                    <a:schemeClr val="tx1"/>
                  </a:solidFill>
                  <a:latin typeface="Arial" panose="020B0604020202020204" pitchFamily="34" charset="0"/>
                </a:rPr>
                <a:t>Lemonade Server</a:t>
              </a:r>
              <a:r>
                <a:rPr lang="en-US" sz="1600" b="1" baseline="30000" dirty="0">
                  <a:solidFill>
                    <a:schemeClr val="tx1"/>
                  </a:solidFill>
                  <a:latin typeface="Arial" panose="020B0604020202020204" pitchFamily="34" charset="0"/>
                </a:rPr>
                <a:t>1</a:t>
              </a:r>
              <a:r>
                <a:rPr lang="en-US" sz="1200" dirty="0">
                  <a:solidFill>
                    <a:schemeClr val="tx1"/>
                  </a:solidFill>
                  <a:latin typeface="Arial" panose="020B0604020202020204" pitchFamily="34" charset="0"/>
                </a:rPr>
                <a:t>—no API keys, no subscriptions</a:t>
              </a:r>
            </a:p>
          </p:txBody>
        </p:sp>
        <p:sp>
          <p:nvSpPr>
            <p:cNvPr id="59" name="Rounded Rectangle 4">
              <a:extLst>
                <a:ext uri="{FF2B5EF4-FFF2-40B4-BE49-F238E27FC236}">
                  <a16:creationId xmlns:a16="http://schemas.microsoft.com/office/drawing/2014/main" id="{4CCF929F-2DC4-3668-A35A-A7C6E8CC1B09}"/>
                </a:ext>
              </a:extLst>
            </p:cNvPr>
            <p:cNvSpPr/>
            <p:nvPr/>
          </p:nvSpPr>
          <p:spPr>
            <a:xfrm>
              <a:off x="6800972" y="1428613"/>
              <a:ext cx="1687592" cy="718062"/>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504000" tIns="108000" rIns="72000" bIns="108000" rtlCol="0" anchor="ctr"/>
            <a:lstStyle/>
            <a:p>
              <a:r>
                <a:rPr lang="en-US" sz="1400" b="1">
                  <a:solidFill>
                    <a:schemeClr val="tx1"/>
                  </a:solidFill>
                  <a:latin typeface="Arial" panose="020B0604020202020204" pitchFamily="34" charset="0"/>
                </a:rPr>
                <a:t>Full Local Inference</a:t>
              </a:r>
            </a:p>
          </p:txBody>
        </p:sp>
        <p:sp>
          <p:nvSpPr>
            <p:cNvPr id="61" name="Rounded Rectangle 4">
              <a:extLst>
                <a:ext uri="{FF2B5EF4-FFF2-40B4-BE49-F238E27FC236}">
                  <a16:creationId xmlns:a16="http://schemas.microsoft.com/office/drawing/2014/main" id="{9772FB6D-D85E-D13C-2565-4C63524AF22E}"/>
                </a:ext>
              </a:extLst>
            </p:cNvPr>
            <p:cNvSpPr/>
            <p:nvPr/>
          </p:nvSpPr>
          <p:spPr>
            <a:xfrm>
              <a:off x="8315709" y="2277261"/>
              <a:ext cx="3293679" cy="71806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360000" tIns="108000" rIns="108000" bIns="108000" rtlCol="0" anchor="ctr"/>
            <a:lstStyle/>
            <a:p>
              <a:r>
                <a:rPr lang="en-US" sz="1200" dirty="0">
                  <a:solidFill>
                    <a:schemeClr val="tx1"/>
                  </a:solidFill>
                  <a:latin typeface="Arial" panose="020B0604020202020204" pitchFamily="34" charset="0"/>
                </a:rPr>
                <a:t>The Vivado MCP toolset interface remains consistent across local and cloud deployments</a:t>
              </a:r>
            </a:p>
          </p:txBody>
        </p:sp>
        <p:sp>
          <p:nvSpPr>
            <p:cNvPr id="62" name="Rounded Rectangle 4">
              <a:extLst>
                <a:ext uri="{FF2B5EF4-FFF2-40B4-BE49-F238E27FC236}">
                  <a16:creationId xmlns:a16="http://schemas.microsoft.com/office/drawing/2014/main" id="{288DEF9C-D44A-9F42-0981-7EB0E8BC8614}"/>
                </a:ext>
              </a:extLst>
            </p:cNvPr>
            <p:cNvSpPr/>
            <p:nvPr/>
          </p:nvSpPr>
          <p:spPr>
            <a:xfrm>
              <a:off x="6800972" y="2277261"/>
              <a:ext cx="1687592" cy="718062"/>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504000" tIns="108000" rIns="72000" bIns="108000" rtlCol="0" anchor="ctr"/>
            <a:lstStyle/>
            <a:p>
              <a:r>
                <a:rPr lang="en-US" sz="1400" b="1">
                  <a:solidFill>
                    <a:schemeClr val="tx1"/>
                  </a:solidFill>
                  <a:latin typeface="Arial" panose="020B0604020202020204" pitchFamily="34" charset="0"/>
                </a:rPr>
                <a:t>Same MCP Tools</a:t>
              </a:r>
            </a:p>
          </p:txBody>
        </p:sp>
        <p:sp>
          <p:nvSpPr>
            <p:cNvPr id="64" name="Rounded Rectangle 4">
              <a:extLst>
                <a:ext uri="{FF2B5EF4-FFF2-40B4-BE49-F238E27FC236}">
                  <a16:creationId xmlns:a16="http://schemas.microsoft.com/office/drawing/2014/main" id="{958D9D35-8404-337C-8718-9EEF9912C9E7}"/>
                </a:ext>
              </a:extLst>
            </p:cNvPr>
            <p:cNvSpPr/>
            <p:nvPr/>
          </p:nvSpPr>
          <p:spPr>
            <a:xfrm>
              <a:off x="8315709" y="3125909"/>
              <a:ext cx="3293679" cy="71806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360000" tIns="108000" rIns="108000" bIns="108000" rtlCol="0" anchor="ctr"/>
            <a:lstStyle/>
            <a:p>
              <a:r>
                <a:rPr lang="en-US" sz="1200" dirty="0">
                  <a:solidFill>
                    <a:schemeClr val="tx1"/>
                  </a:solidFill>
                  <a:latin typeface="Arial" panose="020B0604020202020204" pitchFamily="34" charset="0"/>
                </a:rPr>
                <a:t>Each component independently deployable—swap LLM, upgrade KB, or scale as needed</a:t>
              </a:r>
            </a:p>
          </p:txBody>
        </p:sp>
        <p:sp>
          <p:nvSpPr>
            <p:cNvPr id="65" name="Rounded Rectangle 4">
              <a:extLst>
                <a:ext uri="{FF2B5EF4-FFF2-40B4-BE49-F238E27FC236}">
                  <a16:creationId xmlns:a16="http://schemas.microsoft.com/office/drawing/2014/main" id="{B686FEB7-89B9-161C-345F-B5AFB9D2E89C}"/>
                </a:ext>
              </a:extLst>
            </p:cNvPr>
            <p:cNvSpPr/>
            <p:nvPr/>
          </p:nvSpPr>
          <p:spPr>
            <a:xfrm>
              <a:off x="6800972" y="3125909"/>
              <a:ext cx="1687592" cy="718062"/>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504000" tIns="108000" rIns="72000" bIns="108000" rtlCol="0" anchor="ctr"/>
            <a:lstStyle/>
            <a:p>
              <a:r>
                <a:rPr lang="en-US" sz="1400" b="1">
                  <a:solidFill>
                    <a:schemeClr val="tx1"/>
                  </a:solidFill>
                  <a:latin typeface="Arial" panose="020B0604020202020204" pitchFamily="34" charset="0"/>
                </a:rPr>
                <a:t>Modular Stack</a:t>
              </a:r>
            </a:p>
          </p:txBody>
        </p:sp>
        <p:sp>
          <p:nvSpPr>
            <p:cNvPr id="67" name="Rounded Rectangle 4">
              <a:extLst>
                <a:ext uri="{FF2B5EF4-FFF2-40B4-BE49-F238E27FC236}">
                  <a16:creationId xmlns:a16="http://schemas.microsoft.com/office/drawing/2014/main" id="{BE8FC426-72F9-9F48-94AD-A90EF2829FA4}"/>
                </a:ext>
              </a:extLst>
            </p:cNvPr>
            <p:cNvSpPr/>
            <p:nvPr/>
          </p:nvSpPr>
          <p:spPr>
            <a:xfrm>
              <a:off x="8315709" y="3974558"/>
              <a:ext cx="3293679" cy="71806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360000" tIns="108000" rIns="108000" bIns="108000" rtlCol="0" anchor="ctr"/>
            <a:lstStyle/>
            <a:p>
              <a:r>
                <a:rPr lang="en-US" sz="1200">
                  <a:solidFill>
                    <a:schemeClr val="tx1"/>
                  </a:solidFill>
                  <a:latin typeface="Arial" panose="020B0604020202020204" pitchFamily="34" charset="0"/>
                </a:rPr>
                <a:t>All data stays on-premises—ideal for defense, government, and IP-sensitive environments</a:t>
              </a:r>
            </a:p>
          </p:txBody>
        </p:sp>
        <p:sp>
          <p:nvSpPr>
            <p:cNvPr id="68" name="Rounded Rectangle 4">
              <a:extLst>
                <a:ext uri="{FF2B5EF4-FFF2-40B4-BE49-F238E27FC236}">
                  <a16:creationId xmlns:a16="http://schemas.microsoft.com/office/drawing/2014/main" id="{8E86719C-EF7A-6B23-A9BE-0C0C5E677B39}"/>
                </a:ext>
              </a:extLst>
            </p:cNvPr>
            <p:cNvSpPr/>
            <p:nvPr/>
          </p:nvSpPr>
          <p:spPr>
            <a:xfrm>
              <a:off x="6800972" y="3974558"/>
              <a:ext cx="1687592" cy="718062"/>
            </a:xfrm>
            <a:prstGeom prst="snip2DiagRect">
              <a:avLst>
                <a:gd name="adj1" fmla="val 0"/>
                <a:gd name="adj2" fmla="val 6557"/>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504000" tIns="108000" rIns="72000" bIns="108000" rtlCol="0" anchor="ctr"/>
            <a:lstStyle/>
            <a:p>
              <a:r>
                <a:rPr lang="en-US" sz="1400" b="1">
                  <a:solidFill>
                    <a:schemeClr val="tx1"/>
                  </a:solidFill>
                  <a:latin typeface="Arial" panose="020B0604020202020204" pitchFamily="34" charset="0"/>
                </a:rPr>
                <a:t>Secure by Design</a:t>
              </a:r>
            </a:p>
          </p:txBody>
        </p:sp>
        <p:pic>
          <p:nvPicPr>
            <p:cNvPr id="70" name="Graphic 69">
              <a:extLst>
                <a:ext uri="{FF2B5EF4-FFF2-40B4-BE49-F238E27FC236}">
                  <a16:creationId xmlns:a16="http://schemas.microsoft.com/office/drawing/2014/main" id="{C1E2ED3F-8F16-6BEA-483F-74ED69078B1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947754" y="1666786"/>
              <a:ext cx="241716" cy="241716"/>
            </a:xfrm>
            <a:prstGeom prst="rect">
              <a:avLst/>
            </a:prstGeom>
          </p:spPr>
        </p:pic>
        <p:pic>
          <p:nvPicPr>
            <p:cNvPr id="71" name="Graphic 70">
              <a:extLst>
                <a:ext uri="{FF2B5EF4-FFF2-40B4-BE49-F238E27FC236}">
                  <a16:creationId xmlns:a16="http://schemas.microsoft.com/office/drawing/2014/main" id="{E0499FD6-41A8-C2AA-00EA-2DED0A1684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47754" y="2515434"/>
              <a:ext cx="241716" cy="241716"/>
            </a:xfrm>
            <a:prstGeom prst="rect">
              <a:avLst/>
            </a:prstGeom>
          </p:spPr>
        </p:pic>
        <p:pic>
          <p:nvPicPr>
            <p:cNvPr id="72" name="Graphic 71">
              <a:extLst>
                <a:ext uri="{FF2B5EF4-FFF2-40B4-BE49-F238E27FC236}">
                  <a16:creationId xmlns:a16="http://schemas.microsoft.com/office/drawing/2014/main" id="{20993C9B-1E29-DC3F-CD7E-C9873277EDD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947754" y="3364082"/>
              <a:ext cx="241716" cy="241716"/>
            </a:xfrm>
            <a:prstGeom prst="rect">
              <a:avLst/>
            </a:prstGeom>
          </p:spPr>
        </p:pic>
        <p:pic>
          <p:nvPicPr>
            <p:cNvPr id="73" name="Graphic 72">
              <a:extLst>
                <a:ext uri="{FF2B5EF4-FFF2-40B4-BE49-F238E27FC236}">
                  <a16:creationId xmlns:a16="http://schemas.microsoft.com/office/drawing/2014/main" id="{5EB1F0CC-279E-9F74-9BD1-4F739B9EE8C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947754" y="4212731"/>
              <a:ext cx="241716" cy="241716"/>
            </a:xfrm>
            <a:prstGeom prst="rect">
              <a:avLst/>
            </a:prstGeom>
          </p:spPr>
        </p:pic>
      </p:grpSp>
      <p:sp>
        <p:nvSpPr>
          <p:cNvPr id="4" name="TextBox 3">
            <a:extLst>
              <a:ext uri="{FF2B5EF4-FFF2-40B4-BE49-F238E27FC236}">
                <a16:creationId xmlns:a16="http://schemas.microsoft.com/office/drawing/2014/main" id="{E28CD2C1-75B6-033A-328F-84D64FF175BC}"/>
              </a:ext>
            </a:extLst>
          </p:cNvPr>
          <p:cNvSpPr txBox="1"/>
          <p:nvPr/>
        </p:nvSpPr>
        <p:spPr>
          <a:xfrm>
            <a:off x="294131" y="5712065"/>
            <a:ext cx="11603737" cy="492443"/>
          </a:xfrm>
          <a:prstGeom prst="rect">
            <a:avLst/>
          </a:prstGeom>
          <a:noFill/>
        </p:spPr>
        <p:txBody>
          <a:bodyPr wrap="square" lIns="0" tIns="0" rIns="0" bIns="0" rtlCol="0">
            <a:spAutoFit/>
          </a:bodyPr>
          <a:lstStyle/>
          <a:p>
            <a:pPr>
              <a:buClr>
                <a:schemeClr val="accent1"/>
              </a:buClr>
              <a:buSzPct val="60000"/>
            </a:pPr>
            <a:r>
              <a:rPr lang="en-US" sz="1400" dirty="0"/>
              <a:t>1. </a:t>
            </a:r>
            <a:r>
              <a:rPr lang="en-US" sz="1400" dirty="0">
                <a:latin typeface="Arial" panose="020B0604020202020204" pitchFamily="34" charset="0"/>
                <a:cs typeface="Arial" panose="020B0604020202020204" pitchFamily="34" charset="0"/>
              </a:rPr>
              <a:t>Lemonade is a </a:t>
            </a:r>
            <a:r>
              <a:rPr lang="en-US" sz="1400" b="1" dirty="0">
                <a:latin typeface="Arial" panose="020B0604020202020204" pitchFamily="34" charset="0"/>
                <a:cs typeface="Arial" panose="020B0604020202020204" pitchFamily="34" charset="0"/>
              </a:rPr>
              <a:t>local AI server</a:t>
            </a:r>
            <a:r>
              <a:rPr lang="en-US" sz="1400" dirty="0">
                <a:latin typeface="Arial" panose="020B0604020202020204" pitchFamily="34" charset="0"/>
                <a:cs typeface="Arial" panose="020B0604020202020204" pitchFamily="34" charset="0"/>
              </a:rPr>
              <a:t> that runs models on your own hardware and exposes an </a:t>
            </a:r>
            <a:r>
              <a:rPr lang="en-US" sz="1400" b="1" dirty="0">
                <a:latin typeface="Arial" panose="020B0604020202020204" pitchFamily="34" charset="0"/>
                <a:cs typeface="Arial" panose="020B0604020202020204" pitchFamily="34" charset="0"/>
              </a:rPr>
              <a:t>OpenAI-compatible API</a:t>
            </a:r>
            <a:endParaRPr lang="en-US" sz="1400" dirty="0">
              <a:latin typeface="Arial" panose="020B0604020202020204" pitchFamily="34" charset="0"/>
              <a:cs typeface="Arial" panose="020B0604020202020204" pitchFamily="34" charset="0"/>
            </a:endParaRPr>
          </a:p>
          <a:p>
            <a:pPr algn="l">
              <a:buClr>
                <a:schemeClr val="accent1"/>
              </a:buClr>
              <a:buSzPct val="60000"/>
            </a:pPr>
            <a:r>
              <a:rPr lang="en-US" sz="1800" dirty="0"/>
              <a:t> </a:t>
            </a:r>
          </a:p>
        </p:txBody>
      </p:sp>
    </p:spTree>
    <p:extLst>
      <p:ext uri="{BB962C8B-B14F-4D97-AF65-F5344CB8AC3E}">
        <p14:creationId xmlns:p14="http://schemas.microsoft.com/office/powerpoint/2010/main" val="15206266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8C8F458-72C5-2785-2EEB-97B22A7F5B9A}"/>
              </a:ext>
            </a:extLst>
          </p:cNvPr>
          <p:cNvSpPr>
            <a:spLocks noGrp="1"/>
          </p:cNvSpPr>
          <p:nvPr>
            <p:ph type="title"/>
          </p:nvPr>
        </p:nvSpPr>
        <p:spPr>
          <a:xfrm>
            <a:off x="588263" y="591790"/>
            <a:ext cx="11018520" cy="430887"/>
          </a:xfrm>
        </p:spPr>
        <p:txBody>
          <a:bodyPr wrap="square" anchor="t">
            <a:normAutofit/>
          </a:bodyPr>
          <a:lstStyle/>
          <a:p>
            <a:r>
              <a:rPr lang="en-US" dirty="0"/>
              <a:t>Setting Expectations: Local LLM vs. Frontier Models</a:t>
            </a:r>
          </a:p>
        </p:txBody>
      </p:sp>
      <p:graphicFrame>
        <p:nvGraphicFramePr>
          <p:cNvPr id="7" name="Content Placeholder 4">
            <a:extLst>
              <a:ext uri="{FF2B5EF4-FFF2-40B4-BE49-F238E27FC236}">
                <a16:creationId xmlns:a16="http://schemas.microsoft.com/office/drawing/2014/main" id="{B006D970-A831-09BD-04F9-2324FB598910}"/>
              </a:ext>
            </a:extLst>
          </p:cNvPr>
          <p:cNvGraphicFramePr>
            <a:graphicFrameLocks/>
          </p:cNvGraphicFramePr>
          <p:nvPr>
            <p:extLst>
              <p:ext uri="{D42A27DB-BD31-4B8C-83A1-F6EECF244321}">
                <p14:modId xmlns:p14="http://schemas.microsoft.com/office/powerpoint/2010/main" val="3096932936"/>
              </p:ext>
            </p:extLst>
          </p:nvPr>
        </p:nvGraphicFramePr>
        <p:xfrm>
          <a:off x="588263" y="1472038"/>
          <a:ext cx="11018839" cy="3913923"/>
        </p:xfrm>
        <a:graphic>
          <a:graphicData uri="http://schemas.openxmlformats.org/drawingml/2006/table">
            <a:tbl>
              <a:tblPr firstRow="1" bandRow="1"/>
              <a:tblGrid>
                <a:gridCol w="2857268">
                  <a:extLst>
                    <a:ext uri="{9D8B030D-6E8A-4147-A177-3AD203B41FA5}">
                      <a16:colId xmlns:a16="http://schemas.microsoft.com/office/drawing/2014/main" val="1043375412"/>
                    </a:ext>
                  </a:extLst>
                </a:gridCol>
                <a:gridCol w="4048068">
                  <a:extLst>
                    <a:ext uri="{9D8B030D-6E8A-4147-A177-3AD203B41FA5}">
                      <a16:colId xmlns:a16="http://schemas.microsoft.com/office/drawing/2014/main" val="4202097350"/>
                    </a:ext>
                  </a:extLst>
                </a:gridCol>
                <a:gridCol w="4113503">
                  <a:extLst>
                    <a:ext uri="{9D8B030D-6E8A-4147-A177-3AD203B41FA5}">
                      <a16:colId xmlns:a16="http://schemas.microsoft.com/office/drawing/2014/main" val="1623312051"/>
                    </a:ext>
                  </a:extLst>
                </a:gridCol>
              </a:tblGrid>
              <a:tr h="405410">
                <a:tc>
                  <a:txBody>
                    <a:bodyPr/>
                    <a:lstStyle>
                      <a:lvl1pPr marL="0" algn="l" defTabSz="932742" rtl="0" eaLnBrk="1" latinLnBrk="0" hangingPunct="1">
                        <a:defRPr sz="1800" b="1" kern="1200">
                          <a:solidFill>
                            <a:schemeClr val="lt1"/>
                          </a:solidFill>
                          <a:latin typeface="Neue Haas Grotesk Text Pro"/>
                        </a:defRPr>
                      </a:lvl1pPr>
                      <a:lvl2pPr marL="466371" algn="l" defTabSz="932742" rtl="0" eaLnBrk="1" latinLnBrk="0" hangingPunct="1">
                        <a:defRPr sz="1800" b="1" kern="1200">
                          <a:solidFill>
                            <a:schemeClr val="lt1"/>
                          </a:solidFill>
                          <a:latin typeface="Neue Haas Grotesk Text Pro"/>
                        </a:defRPr>
                      </a:lvl2pPr>
                      <a:lvl3pPr marL="932742" algn="l" defTabSz="932742" rtl="0" eaLnBrk="1" latinLnBrk="0" hangingPunct="1">
                        <a:defRPr sz="1800" b="1" kern="1200">
                          <a:solidFill>
                            <a:schemeClr val="lt1"/>
                          </a:solidFill>
                          <a:latin typeface="Neue Haas Grotesk Text Pro"/>
                        </a:defRPr>
                      </a:lvl3pPr>
                      <a:lvl4pPr marL="1399113" algn="l" defTabSz="932742" rtl="0" eaLnBrk="1" latinLnBrk="0" hangingPunct="1">
                        <a:defRPr sz="1800" b="1" kern="1200">
                          <a:solidFill>
                            <a:schemeClr val="lt1"/>
                          </a:solidFill>
                          <a:latin typeface="Neue Haas Grotesk Text Pro"/>
                        </a:defRPr>
                      </a:lvl4pPr>
                      <a:lvl5pPr marL="1865484" algn="l" defTabSz="932742" rtl="0" eaLnBrk="1" latinLnBrk="0" hangingPunct="1">
                        <a:defRPr sz="1800" b="1" kern="1200">
                          <a:solidFill>
                            <a:schemeClr val="lt1"/>
                          </a:solidFill>
                          <a:latin typeface="Neue Haas Grotesk Text Pro"/>
                        </a:defRPr>
                      </a:lvl5pPr>
                      <a:lvl6pPr marL="2331856" algn="l" defTabSz="932742" rtl="0" eaLnBrk="1" latinLnBrk="0" hangingPunct="1">
                        <a:defRPr sz="1800" b="1" kern="1200">
                          <a:solidFill>
                            <a:schemeClr val="lt1"/>
                          </a:solidFill>
                          <a:latin typeface="Neue Haas Grotesk Text Pro"/>
                        </a:defRPr>
                      </a:lvl6pPr>
                      <a:lvl7pPr marL="2798226" algn="l" defTabSz="932742" rtl="0" eaLnBrk="1" latinLnBrk="0" hangingPunct="1">
                        <a:defRPr sz="1800" b="1" kern="1200">
                          <a:solidFill>
                            <a:schemeClr val="lt1"/>
                          </a:solidFill>
                          <a:latin typeface="Neue Haas Grotesk Text Pro"/>
                        </a:defRPr>
                      </a:lvl7pPr>
                      <a:lvl8pPr marL="3264597" algn="l" defTabSz="932742" rtl="0" eaLnBrk="1" latinLnBrk="0" hangingPunct="1">
                        <a:defRPr sz="1800" b="1" kern="1200">
                          <a:solidFill>
                            <a:schemeClr val="lt1"/>
                          </a:solidFill>
                          <a:latin typeface="Neue Haas Grotesk Text Pro"/>
                        </a:defRPr>
                      </a:lvl8pPr>
                      <a:lvl9pPr marL="3730969" algn="l" defTabSz="932742" rtl="0" eaLnBrk="1" latinLnBrk="0" hangingPunct="1">
                        <a:defRPr sz="1800" b="1" kern="1200">
                          <a:solidFill>
                            <a:schemeClr val="lt1"/>
                          </a:solidFill>
                          <a:latin typeface="Neue Haas Grotesk Text Pro"/>
                        </a:defRPr>
                      </a:lvl9pPr>
                    </a:lstStyle>
                    <a:p>
                      <a:pPr algn="ctr">
                        <a:buNone/>
                      </a:pPr>
                      <a:r>
                        <a:rPr lang="en-US" sz="1800" dirty="0">
                          <a:solidFill>
                            <a:schemeClr val="tx1"/>
                          </a:solidFill>
                          <a:latin typeface="+mj-lt"/>
                        </a:rPr>
                        <a:t>Dimension</a:t>
                      </a:r>
                    </a:p>
                  </a:txBody>
                  <a:tcPr marL="92780" marR="92780" marT="46391" marB="46391"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C2DE"/>
                    </a:solidFill>
                  </a:tcPr>
                </a:tc>
                <a:tc>
                  <a:txBody>
                    <a:bodyPr/>
                    <a:lstStyle>
                      <a:lvl1pPr marL="0" algn="l" defTabSz="932742" rtl="0" eaLnBrk="1" latinLnBrk="0" hangingPunct="1">
                        <a:defRPr sz="1800" b="1" kern="1200">
                          <a:solidFill>
                            <a:schemeClr val="lt1"/>
                          </a:solidFill>
                          <a:latin typeface="Neue Haas Grotesk Text Pro"/>
                        </a:defRPr>
                      </a:lvl1pPr>
                      <a:lvl2pPr marL="466371" algn="l" defTabSz="932742" rtl="0" eaLnBrk="1" latinLnBrk="0" hangingPunct="1">
                        <a:defRPr sz="1800" b="1" kern="1200">
                          <a:solidFill>
                            <a:schemeClr val="lt1"/>
                          </a:solidFill>
                          <a:latin typeface="Neue Haas Grotesk Text Pro"/>
                        </a:defRPr>
                      </a:lvl2pPr>
                      <a:lvl3pPr marL="932742" algn="l" defTabSz="932742" rtl="0" eaLnBrk="1" latinLnBrk="0" hangingPunct="1">
                        <a:defRPr sz="1800" b="1" kern="1200">
                          <a:solidFill>
                            <a:schemeClr val="lt1"/>
                          </a:solidFill>
                          <a:latin typeface="Neue Haas Grotesk Text Pro"/>
                        </a:defRPr>
                      </a:lvl3pPr>
                      <a:lvl4pPr marL="1399113" algn="l" defTabSz="932742" rtl="0" eaLnBrk="1" latinLnBrk="0" hangingPunct="1">
                        <a:defRPr sz="1800" b="1" kern="1200">
                          <a:solidFill>
                            <a:schemeClr val="lt1"/>
                          </a:solidFill>
                          <a:latin typeface="Neue Haas Grotesk Text Pro"/>
                        </a:defRPr>
                      </a:lvl4pPr>
                      <a:lvl5pPr marL="1865484" algn="l" defTabSz="932742" rtl="0" eaLnBrk="1" latinLnBrk="0" hangingPunct="1">
                        <a:defRPr sz="1800" b="1" kern="1200">
                          <a:solidFill>
                            <a:schemeClr val="lt1"/>
                          </a:solidFill>
                          <a:latin typeface="Neue Haas Grotesk Text Pro"/>
                        </a:defRPr>
                      </a:lvl5pPr>
                      <a:lvl6pPr marL="2331856" algn="l" defTabSz="932742" rtl="0" eaLnBrk="1" latinLnBrk="0" hangingPunct="1">
                        <a:defRPr sz="1800" b="1" kern="1200">
                          <a:solidFill>
                            <a:schemeClr val="lt1"/>
                          </a:solidFill>
                          <a:latin typeface="Neue Haas Grotesk Text Pro"/>
                        </a:defRPr>
                      </a:lvl6pPr>
                      <a:lvl7pPr marL="2798226" algn="l" defTabSz="932742" rtl="0" eaLnBrk="1" latinLnBrk="0" hangingPunct="1">
                        <a:defRPr sz="1800" b="1" kern="1200">
                          <a:solidFill>
                            <a:schemeClr val="lt1"/>
                          </a:solidFill>
                          <a:latin typeface="Neue Haas Grotesk Text Pro"/>
                        </a:defRPr>
                      </a:lvl7pPr>
                      <a:lvl8pPr marL="3264597" algn="l" defTabSz="932742" rtl="0" eaLnBrk="1" latinLnBrk="0" hangingPunct="1">
                        <a:defRPr sz="1800" b="1" kern="1200">
                          <a:solidFill>
                            <a:schemeClr val="lt1"/>
                          </a:solidFill>
                          <a:latin typeface="Neue Haas Grotesk Text Pro"/>
                        </a:defRPr>
                      </a:lvl8pPr>
                      <a:lvl9pPr marL="3730969" algn="l" defTabSz="932742" rtl="0" eaLnBrk="1" latinLnBrk="0" hangingPunct="1">
                        <a:defRPr sz="1800" b="1" kern="1200">
                          <a:solidFill>
                            <a:schemeClr val="lt1"/>
                          </a:solidFill>
                          <a:latin typeface="Neue Haas Grotesk Text Pro"/>
                        </a:defRPr>
                      </a:lvl9pPr>
                    </a:lstStyle>
                    <a:p>
                      <a:pPr algn="ctr">
                        <a:buNone/>
                      </a:pPr>
                      <a:r>
                        <a:rPr lang="en-US" sz="1800" dirty="0">
                          <a:solidFill>
                            <a:schemeClr val="tx1"/>
                          </a:solidFill>
                          <a:latin typeface="+mj-lt"/>
                        </a:rPr>
                        <a:t>Local LLM (On-Prem)</a:t>
                      </a:r>
                    </a:p>
                  </a:txBody>
                  <a:tcPr marL="92780" marR="92780" marT="46391" marB="46391"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C2DE"/>
                    </a:solidFill>
                  </a:tcPr>
                </a:tc>
                <a:tc>
                  <a:txBody>
                    <a:bodyPr/>
                    <a:lstStyle>
                      <a:lvl1pPr marL="0" algn="l" defTabSz="932742" rtl="0" eaLnBrk="1" latinLnBrk="0" hangingPunct="1">
                        <a:defRPr sz="1800" b="1" kern="1200">
                          <a:solidFill>
                            <a:schemeClr val="lt1"/>
                          </a:solidFill>
                          <a:latin typeface="Neue Haas Grotesk Text Pro"/>
                        </a:defRPr>
                      </a:lvl1pPr>
                      <a:lvl2pPr marL="466371" algn="l" defTabSz="932742" rtl="0" eaLnBrk="1" latinLnBrk="0" hangingPunct="1">
                        <a:defRPr sz="1800" b="1" kern="1200">
                          <a:solidFill>
                            <a:schemeClr val="lt1"/>
                          </a:solidFill>
                          <a:latin typeface="Neue Haas Grotesk Text Pro"/>
                        </a:defRPr>
                      </a:lvl2pPr>
                      <a:lvl3pPr marL="932742" algn="l" defTabSz="932742" rtl="0" eaLnBrk="1" latinLnBrk="0" hangingPunct="1">
                        <a:defRPr sz="1800" b="1" kern="1200">
                          <a:solidFill>
                            <a:schemeClr val="lt1"/>
                          </a:solidFill>
                          <a:latin typeface="Neue Haas Grotesk Text Pro"/>
                        </a:defRPr>
                      </a:lvl3pPr>
                      <a:lvl4pPr marL="1399113" algn="l" defTabSz="932742" rtl="0" eaLnBrk="1" latinLnBrk="0" hangingPunct="1">
                        <a:defRPr sz="1800" b="1" kern="1200">
                          <a:solidFill>
                            <a:schemeClr val="lt1"/>
                          </a:solidFill>
                          <a:latin typeface="Neue Haas Grotesk Text Pro"/>
                        </a:defRPr>
                      </a:lvl4pPr>
                      <a:lvl5pPr marL="1865484" algn="l" defTabSz="932742" rtl="0" eaLnBrk="1" latinLnBrk="0" hangingPunct="1">
                        <a:defRPr sz="1800" b="1" kern="1200">
                          <a:solidFill>
                            <a:schemeClr val="lt1"/>
                          </a:solidFill>
                          <a:latin typeface="Neue Haas Grotesk Text Pro"/>
                        </a:defRPr>
                      </a:lvl5pPr>
                      <a:lvl6pPr marL="2331856" algn="l" defTabSz="932742" rtl="0" eaLnBrk="1" latinLnBrk="0" hangingPunct="1">
                        <a:defRPr sz="1800" b="1" kern="1200">
                          <a:solidFill>
                            <a:schemeClr val="lt1"/>
                          </a:solidFill>
                          <a:latin typeface="Neue Haas Grotesk Text Pro"/>
                        </a:defRPr>
                      </a:lvl6pPr>
                      <a:lvl7pPr marL="2798226" algn="l" defTabSz="932742" rtl="0" eaLnBrk="1" latinLnBrk="0" hangingPunct="1">
                        <a:defRPr sz="1800" b="1" kern="1200">
                          <a:solidFill>
                            <a:schemeClr val="lt1"/>
                          </a:solidFill>
                          <a:latin typeface="Neue Haas Grotesk Text Pro"/>
                        </a:defRPr>
                      </a:lvl7pPr>
                      <a:lvl8pPr marL="3264597" algn="l" defTabSz="932742" rtl="0" eaLnBrk="1" latinLnBrk="0" hangingPunct="1">
                        <a:defRPr sz="1800" b="1" kern="1200">
                          <a:solidFill>
                            <a:schemeClr val="lt1"/>
                          </a:solidFill>
                          <a:latin typeface="Neue Haas Grotesk Text Pro"/>
                        </a:defRPr>
                      </a:lvl8pPr>
                      <a:lvl9pPr marL="3730969" algn="l" defTabSz="932742" rtl="0" eaLnBrk="1" latinLnBrk="0" hangingPunct="1">
                        <a:defRPr sz="1800" b="1" kern="1200">
                          <a:solidFill>
                            <a:schemeClr val="lt1"/>
                          </a:solidFill>
                          <a:latin typeface="Neue Haas Grotesk Text Pro"/>
                        </a:defRPr>
                      </a:lvl9pPr>
                    </a:lstStyle>
                    <a:p>
                      <a:pPr algn="ctr">
                        <a:buNone/>
                      </a:pPr>
                      <a:r>
                        <a:rPr lang="en-US" sz="1800" dirty="0">
                          <a:solidFill>
                            <a:schemeClr val="tx1"/>
                          </a:solidFill>
                          <a:latin typeface="+mj-lt"/>
                        </a:rPr>
                        <a:t>Frontier Model (Cloud)</a:t>
                      </a:r>
                    </a:p>
                  </a:txBody>
                  <a:tcPr marL="92780" marR="92780" marT="46391" marB="46391"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00C2DE"/>
                    </a:solidFill>
                  </a:tcPr>
                </a:tc>
                <a:extLst>
                  <a:ext uri="{0D108BD9-81ED-4DB2-BD59-A6C34878D82A}">
                    <a16:rowId xmlns:a16="http://schemas.microsoft.com/office/drawing/2014/main" val="580484677"/>
                  </a:ext>
                </a:extLst>
              </a:tr>
              <a:tr h="682977">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dirty="0">
                          <a:latin typeface="+mn-lt"/>
                        </a:rPr>
                        <a:t>Strength</a:t>
                      </a:r>
                    </a:p>
                  </a:txBody>
                  <a:tcPr marL="92780" marR="92780" marT="46391" marB="46391"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dirty="0">
                          <a:latin typeface="+mn-lt"/>
                        </a:rPr>
                        <a:t>Great for documentation Q&amp;A, tool execution, repeatable workflows</a:t>
                      </a:r>
                    </a:p>
                  </a:txBody>
                  <a:tcPr marL="92780" marR="92780" marT="46391" marB="46391"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156082">
                        <a:tint val="40000"/>
                      </a:srgbClr>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dirty="0">
                          <a:latin typeface="+mn-lt"/>
                        </a:rPr>
                        <a:t>Best for deep reasoning, longer code generation, fewer iterations</a:t>
                      </a:r>
                    </a:p>
                  </a:txBody>
                  <a:tcPr marL="92780" marR="92780" marT="46391" marB="46391"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CCD2D8"/>
                    </a:solidFill>
                  </a:tcPr>
                </a:tc>
                <a:extLst>
                  <a:ext uri="{0D108BD9-81ED-4DB2-BD59-A6C34878D82A}">
                    <a16:rowId xmlns:a16="http://schemas.microsoft.com/office/drawing/2014/main" val="3668705634"/>
                  </a:ext>
                </a:extLst>
              </a:tr>
              <a:tr h="1054172">
                <a:tc>
                  <a:txBody>
                    <a:bodyPr/>
                    <a:lstStyle/>
                    <a:p>
                      <a:pPr>
                        <a:buNone/>
                      </a:pPr>
                      <a:r>
                        <a:rPr lang="en-US" sz="1800" dirty="0">
                          <a:latin typeface="+mn-lt"/>
                        </a:rPr>
                        <a:t>Tunning for Vivado™ MCP Parameters</a:t>
                      </a:r>
                    </a:p>
                  </a:txBody>
                  <a:tcPr marL="92780" marR="92780" marT="46391" marB="46391"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tc>
                  <a:txBody>
                    <a:bodyPr/>
                    <a:lstStyle/>
                    <a:p>
                      <a:pPr>
                        <a:buNone/>
                      </a:pPr>
                      <a:r>
                        <a:rPr lang="en-US" sz="1800" dirty="0">
                          <a:latin typeface="+mn-lt"/>
                        </a:rPr>
                        <a:t>Needed for context window management, token consumption, and prompt sizing</a:t>
                      </a:r>
                    </a:p>
                  </a:txBody>
                  <a:tcPr marL="92780" marR="92780" marT="46391" marB="46391"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tc>
                  <a:txBody>
                    <a:bodyPr/>
                    <a:lstStyle/>
                    <a:p>
                      <a:pPr>
                        <a:buNone/>
                      </a:pPr>
                      <a:r>
                        <a:rPr lang="en-US" sz="1800" dirty="0">
                          <a:latin typeface="+mn-lt"/>
                        </a:rPr>
                        <a:t>Not needed</a:t>
                      </a:r>
                    </a:p>
                  </a:txBody>
                  <a:tcPr marL="92780" marR="92780" marT="46391" marB="46391"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4169093619"/>
                  </a:ext>
                </a:extLst>
              </a:tr>
              <a:tr h="682977">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a:latin typeface="+mn-lt"/>
                        </a:rPr>
                        <a:t>Cost</a:t>
                      </a:r>
                    </a:p>
                  </a:txBody>
                  <a:tcPr marL="92780" marR="92780" marT="46391" marB="46391"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D2D8"/>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dirty="0">
                          <a:latin typeface="+mn-lt"/>
                        </a:rPr>
                        <a:t>Fixed infrastructure cost; no per-token/API fees</a:t>
                      </a:r>
                    </a:p>
                  </a:txBody>
                  <a:tcPr marL="92780" marR="92780" marT="46391" marB="46391"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D2D8"/>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a:latin typeface="+mn-lt"/>
                        </a:rPr>
                        <a:t>Usage-based (tokens, requests, subscriptions)</a:t>
                      </a:r>
                    </a:p>
                  </a:txBody>
                  <a:tcPr marL="92780" marR="92780" marT="46391" marB="46391"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D2D8"/>
                    </a:solidFill>
                  </a:tcPr>
                </a:tc>
                <a:extLst>
                  <a:ext uri="{0D108BD9-81ED-4DB2-BD59-A6C34878D82A}">
                    <a16:rowId xmlns:a16="http://schemas.microsoft.com/office/drawing/2014/main" val="3079703225"/>
                  </a:ext>
                </a:extLst>
              </a:tr>
              <a:tr h="682977">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a:latin typeface="+mn-lt"/>
                        </a:rPr>
                        <a:t>Data &amp; Privacy</a:t>
                      </a:r>
                    </a:p>
                  </a:txBody>
                  <a:tcPr marL="92780" marR="92780" marT="46391" marB="46391"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a:latin typeface="+mn-lt"/>
                        </a:rPr>
                        <a:t>Prompts, designs, and logs stay on-prem</a:t>
                      </a:r>
                    </a:p>
                  </a:txBody>
                  <a:tcPr marL="92780" marR="92780" marT="46391" marB="46391"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a:latin typeface="+mn-lt"/>
                        </a:rPr>
                        <a:t>Data leaves the network (subject to provider policies)</a:t>
                      </a:r>
                    </a:p>
                  </a:txBody>
                  <a:tcPr marL="92780" marR="92780" marT="46391" marB="46391"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56082">
                        <a:tint val="20000"/>
                      </a:srgbClr>
                    </a:solidFill>
                  </a:tcPr>
                </a:tc>
                <a:extLst>
                  <a:ext uri="{0D108BD9-81ED-4DB2-BD59-A6C34878D82A}">
                    <a16:rowId xmlns:a16="http://schemas.microsoft.com/office/drawing/2014/main" val="1662721092"/>
                  </a:ext>
                </a:extLst>
              </a:tr>
              <a:tr h="405410">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a:latin typeface="+mn-lt"/>
                        </a:rPr>
                        <a:t>Deployment</a:t>
                      </a:r>
                    </a:p>
                  </a:txBody>
                  <a:tcPr marL="92780" marR="92780" marT="46391" marB="46391"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D2D8"/>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dirty="0">
                          <a:latin typeface="+mn-lt"/>
                        </a:rPr>
                        <a:t>Can run offline/air-gapped</a:t>
                      </a:r>
                    </a:p>
                  </a:txBody>
                  <a:tcPr marL="92780" marR="92780" marT="46391" marB="46391"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D2D8"/>
                    </a:solidFill>
                  </a:tcPr>
                </a:tc>
                <a:tc>
                  <a:txBody>
                    <a:bodyPr/>
                    <a:lstStyle>
                      <a:lvl1pPr marL="0" algn="l" defTabSz="932742" rtl="0" eaLnBrk="1" latinLnBrk="0" hangingPunct="1">
                        <a:defRPr sz="1800" kern="1200">
                          <a:solidFill>
                            <a:schemeClr val="dk1"/>
                          </a:solidFill>
                          <a:latin typeface="Neue Haas Grotesk Text Pro"/>
                        </a:defRPr>
                      </a:lvl1pPr>
                      <a:lvl2pPr marL="466371" algn="l" defTabSz="932742" rtl="0" eaLnBrk="1" latinLnBrk="0" hangingPunct="1">
                        <a:defRPr sz="1800" kern="1200">
                          <a:solidFill>
                            <a:schemeClr val="dk1"/>
                          </a:solidFill>
                          <a:latin typeface="Neue Haas Grotesk Text Pro"/>
                        </a:defRPr>
                      </a:lvl2pPr>
                      <a:lvl3pPr marL="932742" algn="l" defTabSz="932742" rtl="0" eaLnBrk="1" latinLnBrk="0" hangingPunct="1">
                        <a:defRPr sz="1800" kern="1200">
                          <a:solidFill>
                            <a:schemeClr val="dk1"/>
                          </a:solidFill>
                          <a:latin typeface="Neue Haas Grotesk Text Pro"/>
                        </a:defRPr>
                      </a:lvl3pPr>
                      <a:lvl4pPr marL="1399113" algn="l" defTabSz="932742" rtl="0" eaLnBrk="1" latinLnBrk="0" hangingPunct="1">
                        <a:defRPr sz="1800" kern="1200">
                          <a:solidFill>
                            <a:schemeClr val="dk1"/>
                          </a:solidFill>
                          <a:latin typeface="Neue Haas Grotesk Text Pro"/>
                        </a:defRPr>
                      </a:lvl4pPr>
                      <a:lvl5pPr marL="1865484" algn="l" defTabSz="932742" rtl="0" eaLnBrk="1" latinLnBrk="0" hangingPunct="1">
                        <a:defRPr sz="1800" kern="1200">
                          <a:solidFill>
                            <a:schemeClr val="dk1"/>
                          </a:solidFill>
                          <a:latin typeface="Neue Haas Grotesk Text Pro"/>
                        </a:defRPr>
                      </a:lvl5pPr>
                      <a:lvl6pPr marL="2331856" algn="l" defTabSz="932742" rtl="0" eaLnBrk="1" latinLnBrk="0" hangingPunct="1">
                        <a:defRPr sz="1800" kern="1200">
                          <a:solidFill>
                            <a:schemeClr val="dk1"/>
                          </a:solidFill>
                          <a:latin typeface="Neue Haas Grotesk Text Pro"/>
                        </a:defRPr>
                      </a:lvl6pPr>
                      <a:lvl7pPr marL="2798226" algn="l" defTabSz="932742" rtl="0" eaLnBrk="1" latinLnBrk="0" hangingPunct="1">
                        <a:defRPr sz="1800" kern="1200">
                          <a:solidFill>
                            <a:schemeClr val="dk1"/>
                          </a:solidFill>
                          <a:latin typeface="Neue Haas Grotesk Text Pro"/>
                        </a:defRPr>
                      </a:lvl7pPr>
                      <a:lvl8pPr marL="3264597" algn="l" defTabSz="932742" rtl="0" eaLnBrk="1" latinLnBrk="0" hangingPunct="1">
                        <a:defRPr sz="1800" kern="1200">
                          <a:solidFill>
                            <a:schemeClr val="dk1"/>
                          </a:solidFill>
                          <a:latin typeface="Neue Haas Grotesk Text Pro"/>
                        </a:defRPr>
                      </a:lvl8pPr>
                      <a:lvl9pPr marL="3730969" algn="l" defTabSz="932742" rtl="0" eaLnBrk="1" latinLnBrk="0" hangingPunct="1">
                        <a:defRPr sz="1800" kern="1200">
                          <a:solidFill>
                            <a:schemeClr val="dk1"/>
                          </a:solidFill>
                          <a:latin typeface="Neue Haas Grotesk Text Pro"/>
                        </a:defRPr>
                      </a:lvl9pPr>
                    </a:lstStyle>
                    <a:p>
                      <a:pPr>
                        <a:buNone/>
                      </a:pPr>
                      <a:r>
                        <a:rPr lang="en-US" sz="1800" dirty="0">
                          <a:latin typeface="+mn-lt"/>
                        </a:rPr>
                        <a:t>Requires network/service access</a:t>
                      </a:r>
                    </a:p>
                  </a:txBody>
                  <a:tcPr marL="92780" marR="92780" marT="46391" marB="46391"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CD2D8"/>
                    </a:solidFill>
                  </a:tcPr>
                </a:tc>
                <a:extLst>
                  <a:ext uri="{0D108BD9-81ED-4DB2-BD59-A6C34878D82A}">
                    <a16:rowId xmlns:a16="http://schemas.microsoft.com/office/drawing/2014/main" val="577974184"/>
                  </a:ext>
                </a:extLst>
              </a:tr>
            </a:tbl>
          </a:graphicData>
        </a:graphic>
      </p:graphicFrame>
      <p:sp>
        <p:nvSpPr>
          <p:cNvPr id="10" name="TextBox 9">
            <a:extLst>
              <a:ext uri="{FF2B5EF4-FFF2-40B4-BE49-F238E27FC236}">
                <a16:creationId xmlns:a16="http://schemas.microsoft.com/office/drawing/2014/main" id="{8BADD6AD-688F-4116-42ED-A541626F0A0C}"/>
              </a:ext>
            </a:extLst>
          </p:cNvPr>
          <p:cNvSpPr txBox="1"/>
          <p:nvPr/>
        </p:nvSpPr>
        <p:spPr>
          <a:xfrm>
            <a:off x="587945" y="5495583"/>
            <a:ext cx="11018838" cy="684803"/>
          </a:xfrm>
          <a:prstGeom prst="rect">
            <a:avLst/>
          </a:prstGeom>
          <a:solidFill>
            <a:srgbClr val="F26522"/>
          </a:solidFill>
        </p:spPr>
        <p:txBody>
          <a:bodyPr wrap="square">
            <a:spAutoFit/>
          </a:bodyPr>
          <a:lstStyle/>
          <a:p>
            <a:pPr marL="285750" indent="-285750">
              <a:spcBef>
                <a:spcPts val="300"/>
              </a:spcBef>
              <a:buFont typeface="Arial" panose="020B0604020202020204" pitchFamily="34" charset="0"/>
              <a:buChar char="•"/>
            </a:pPr>
            <a:r>
              <a:rPr lang="en-US" sz="1800" dirty="0">
                <a:solidFill>
                  <a:schemeClr val="bg1"/>
                </a:solidFill>
                <a:latin typeface="Arial" panose="020B0604020202020204" pitchFamily="34" charset="0"/>
              </a:rPr>
              <a:t>MCP architecture is LLM-agnostic</a:t>
            </a:r>
          </a:p>
          <a:p>
            <a:pPr marL="285750" indent="-285750">
              <a:spcBef>
                <a:spcPts val="300"/>
              </a:spcBef>
              <a:buFont typeface="Arial" panose="020B0604020202020204" pitchFamily="34" charset="0"/>
              <a:buChar char="•"/>
            </a:pPr>
            <a:r>
              <a:rPr lang="en-US" sz="1800" dirty="0">
                <a:solidFill>
                  <a:schemeClr val="bg1"/>
                </a:solidFill>
                <a:latin typeface="Arial" panose="020B0604020202020204" pitchFamily="34" charset="0"/>
              </a:rPr>
              <a:t>Ensuring the stack works today with local models and improves as open-source LLMs advance</a:t>
            </a:r>
          </a:p>
        </p:txBody>
      </p:sp>
    </p:spTree>
    <p:extLst>
      <p:ext uri="{BB962C8B-B14F-4D97-AF65-F5344CB8AC3E}">
        <p14:creationId xmlns:p14="http://schemas.microsoft.com/office/powerpoint/2010/main" val="244910497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 name="think-cell data - do not delete" hidden="1">
            <a:extLst>
              <a:ext uri="{FF2B5EF4-FFF2-40B4-BE49-F238E27FC236}">
                <a16:creationId xmlns:a16="http://schemas.microsoft.com/office/drawing/2014/main" id="{4CA570FB-8EB1-AE05-03D1-17A6186169B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34" name="think-cell data - do not delete" hidden="1">
                        <a:extLst>
                          <a:ext uri="{FF2B5EF4-FFF2-40B4-BE49-F238E27FC236}">
                            <a16:creationId xmlns:a16="http://schemas.microsoft.com/office/drawing/2014/main" id="{4CA570FB-8EB1-AE05-03D1-17A6186169B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5BC1507-FDEE-2D13-B1A1-42866DF2A96F}"/>
              </a:ext>
            </a:extLst>
          </p:cNvPr>
          <p:cNvSpPr>
            <a:spLocks noGrp="1"/>
          </p:cNvSpPr>
          <p:nvPr>
            <p:ph type="title"/>
          </p:nvPr>
        </p:nvSpPr>
        <p:spPr>
          <a:xfrm>
            <a:off x="588263" y="591790"/>
            <a:ext cx="11018520" cy="738664"/>
          </a:xfrm>
        </p:spPr>
        <p:txBody>
          <a:bodyPr vert="horz" rIns="0">
            <a:spAutoFit/>
          </a:bodyPr>
          <a:lstStyle/>
          <a:p>
            <a:r>
              <a:rPr lang="en-ID" dirty="0">
                <a:latin typeface="Arial Bold" panose="020B0704020202020204" pitchFamily="34" charset="0"/>
              </a:rPr>
              <a:t>AMD Vivado Design Suite Extension for VS Code</a:t>
            </a:r>
            <a:br>
              <a:rPr lang="en-ID" dirty="0">
                <a:latin typeface="Arial Bold" panose="020B0704020202020204" pitchFamily="34" charset="0"/>
              </a:rPr>
            </a:br>
            <a:r>
              <a:rPr lang="en-US" sz="2000" b="0" dirty="0">
                <a:latin typeface="Arial" panose="020B0604020202020204" pitchFamily="34" charset="0"/>
              </a:rPr>
              <a:t>Vivado™ Tool Experience Inside Your IDE</a:t>
            </a:r>
            <a:endParaRPr lang="en-ID" sz="2000" b="0" dirty="0">
              <a:latin typeface="Arial" panose="020B0604020202020204" pitchFamily="34" charset="0"/>
            </a:endParaRPr>
          </a:p>
        </p:txBody>
      </p:sp>
      <p:pic>
        <p:nvPicPr>
          <p:cNvPr id="33" name="Picture 32" descr="A screenshot of a computer  AI-generated content may be incorrect.">
            <a:extLst>
              <a:ext uri="{FF2B5EF4-FFF2-40B4-BE49-F238E27FC236}">
                <a16:creationId xmlns:a16="http://schemas.microsoft.com/office/drawing/2014/main" id="{60C225F2-F427-0F50-7DF6-877A572FC295}"/>
              </a:ext>
            </a:extLst>
          </p:cNvPr>
          <p:cNvPicPr>
            <a:picLocks noChangeAspect="1"/>
          </p:cNvPicPr>
          <p:nvPr/>
        </p:nvPicPr>
        <p:blipFill>
          <a:blip r:embed="rId6"/>
          <a:stretch>
            <a:fillRect/>
          </a:stretch>
        </p:blipFill>
        <p:spPr>
          <a:xfrm>
            <a:off x="4784683" y="1623391"/>
            <a:ext cx="7179174" cy="3821781"/>
          </a:xfrm>
          <a:prstGeom prst="rect">
            <a:avLst/>
          </a:prstGeom>
        </p:spPr>
      </p:pic>
      <p:sp>
        <p:nvSpPr>
          <p:cNvPr id="35" name="Rounded Rectangle 4">
            <a:extLst>
              <a:ext uri="{FF2B5EF4-FFF2-40B4-BE49-F238E27FC236}">
                <a16:creationId xmlns:a16="http://schemas.microsoft.com/office/drawing/2014/main" id="{1D6E3F6C-E105-9FDA-9761-C46961ACEC21}"/>
              </a:ext>
            </a:extLst>
          </p:cNvPr>
          <p:cNvSpPr/>
          <p:nvPr/>
        </p:nvSpPr>
        <p:spPr>
          <a:xfrm>
            <a:off x="1836420" y="5697506"/>
            <a:ext cx="10127437" cy="571532"/>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360000" tIns="108000" rIns="108000" bIns="108000" rtlCol="0" anchor="ctr"/>
          <a:lstStyle/>
          <a:p>
            <a:pPr marL="171450" indent="-171450">
              <a:spcBef>
                <a:spcPts val="300"/>
              </a:spcBef>
              <a:buFont typeface="Arial" panose="020B0604020202020204" pitchFamily="34" charset="0"/>
              <a:buChar char="•"/>
            </a:pPr>
            <a:r>
              <a:rPr lang="en-US" sz="1200" dirty="0">
                <a:solidFill>
                  <a:schemeClr val="tx1"/>
                </a:solidFill>
                <a:latin typeface="Arial" panose="020B0604020202020204" pitchFamily="34" charset="0"/>
              </a:rPr>
              <a:t>The Vivado IDE Extension for VS Code is currently available to early access customers only</a:t>
            </a:r>
            <a:endParaRPr lang="en-US" sz="1200" strike="sngStrike" dirty="0">
              <a:solidFill>
                <a:schemeClr val="tx1"/>
              </a:solidFill>
              <a:latin typeface="Arial" panose="020B0604020202020204" pitchFamily="34" charset="0"/>
            </a:endParaRPr>
          </a:p>
        </p:txBody>
      </p:sp>
      <p:sp>
        <p:nvSpPr>
          <p:cNvPr id="36" name="Rounded Rectangle 4">
            <a:extLst>
              <a:ext uri="{FF2B5EF4-FFF2-40B4-BE49-F238E27FC236}">
                <a16:creationId xmlns:a16="http://schemas.microsoft.com/office/drawing/2014/main" id="{5B0A885C-236F-7B18-6382-8853BD024096}"/>
              </a:ext>
            </a:extLst>
          </p:cNvPr>
          <p:cNvSpPr/>
          <p:nvPr/>
        </p:nvSpPr>
        <p:spPr>
          <a:xfrm>
            <a:off x="588264" y="5697506"/>
            <a:ext cx="1447800" cy="571532"/>
          </a:xfrm>
          <a:prstGeom prst="snip2DiagRect">
            <a:avLst>
              <a:gd name="adj1" fmla="val 0"/>
              <a:gd name="adj2" fmla="val 6557"/>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wrap="square" lIns="432000" tIns="108000" rIns="72000" bIns="108000" rtlCol="0" anchor="ctr"/>
          <a:lstStyle/>
          <a:p>
            <a:r>
              <a:rPr lang="en-US" sz="1200" dirty="0">
                <a:solidFill>
                  <a:schemeClr val="tx1"/>
                </a:solidFill>
                <a:latin typeface="Arial" panose="020B0604020202020204" pitchFamily="34" charset="0"/>
              </a:rPr>
              <a:t>Early Access (EA): </a:t>
            </a:r>
          </a:p>
        </p:txBody>
      </p:sp>
      <p:pic>
        <p:nvPicPr>
          <p:cNvPr id="37" name="Graphic 36">
            <a:extLst>
              <a:ext uri="{FF2B5EF4-FFF2-40B4-BE49-F238E27FC236}">
                <a16:creationId xmlns:a16="http://schemas.microsoft.com/office/drawing/2014/main" id="{EA53DA99-1933-27C4-008E-0D788A6B5B0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6470" y="5862413"/>
            <a:ext cx="241716" cy="241716"/>
          </a:xfrm>
          <a:prstGeom prst="rect">
            <a:avLst/>
          </a:prstGeom>
        </p:spPr>
      </p:pic>
      <p:sp>
        <p:nvSpPr>
          <p:cNvPr id="38" name="Rounded Rectangle 4">
            <a:extLst>
              <a:ext uri="{FF2B5EF4-FFF2-40B4-BE49-F238E27FC236}">
                <a16:creationId xmlns:a16="http://schemas.microsoft.com/office/drawing/2014/main" id="{40D2875B-B69D-88DD-868E-AE7344397CF5}"/>
              </a:ext>
            </a:extLst>
          </p:cNvPr>
          <p:cNvSpPr/>
          <p:nvPr/>
        </p:nvSpPr>
        <p:spPr>
          <a:xfrm>
            <a:off x="588262" y="1563019"/>
            <a:ext cx="1447799" cy="864346"/>
          </a:xfrm>
          <a:prstGeom prst="snip2DiagRect">
            <a:avLst>
              <a:gd name="adj1" fmla="val 0"/>
              <a:gd name="adj2" fmla="val 6970"/>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200" b="1" dirty="0">
                <a:solidFill>
                  <a:schemeClr val="tx1"/>
                </a:solidFill>
                <a:latin typeface="Arial" panose="020B0604020202020204" pitchFamily="34" charset="0"/>
              </a:rPr>
              <a:t>Design Entry &amp; Management</a:t>
            </a:r>
          </a:p>
        </p:txBody>
      </p:sp>
      <p:sp>
        <p:nvSpPr>
          <p:cNvPr id="39" name="TextBox 38">
            <a:extLst>
              <a:ext uri="{FF2B5EF4-FFF2-40B4-BE49-F238E27FC236}">
                <a16:creationId xmlns:a16="http://schemas.microsoft.com/office/drawing/2014/main" id="{A604E88D-A309-D593-7201-263E6142191B}"/>
              </a:ext>
            </a:extLst>
          </p:cNvPr>
          <p:cNvSpPr txBox="1"/>
          <p:nvPr/>
        </p:nvSpPr>
        <p:spPr>
          <a:xfrm>
            <a:off x="2125577" y="1674592"/>
            <a:ext cx="2370218" cy="641201"/>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US" sz="1000" dirty="0">
                <a:latin typeface="Arial" panose="020B0604020202020204" pitchFamily="34" charset="0"/>
              </a:rPr>
              <a:t>IP Catalog browser—search, configure, generate</a:t>
            </a:r>
          </a:p>
          <a:p>
            <a:pPr marL="171450" indent="-171450">
              <a:spcAft>
                <a:spcPts val="100"/>
              </a:spcAft>
              <a:buFont typeface="Arial" panose="020B0604020202020204" pitchFamily="34" charset="0"/>
              <a:buChar char="•"/>
            </a:pPr>
            <a:r>
              <a:rPr lang="en-US" sz="1000" dirty="0">
                <a:latin typeface="Arial" panose="020B0604020202020204" pitchFamily="34" charset="0"/>
              </a:rPr>
              <a:t>IP Integrator block design visualization</a:t>
            </a:r>
          </a:p>
          <a:p>
            <a:pPr marL="171450" indent="-171450">
              <a:spcAft>
                <a:spcPts val="100"/>
              </a:spcAft>
              <a:buFont typeface="Arial" panose="020B0604020202020204" pitchFamily="34" charset="0"/>
              <a:buChar char="•"/>
            </a:pPr>
            <a:r>
              <a:rPr lang="en-US" sz="1000" dirty="0">
                <a:latin typeface="Arial" panose="020B0604020202020204" pitchFamily="34" charset="0"/>
              </a:rPr>
              <a:t>Project and non-project mode support</a:t>
            </a:r>
          </a:p>
        </p:txBody>
      </p:sp>
      <p:sp>
        <p:nvSpPr>
          <p:cNvPr id="43" name="TextBox 42">
            <a:extLst>
              <a:ext uri="{FF2B5EF4-FFF2-40B4-BE49-F238E27FC236}">
                <a16:creationId xmlns:a16="http://schemas.microsoft.com/office/drawing/2014/main" id="{603AA4F6-9478-C283-ECC5-32D5050D63F1}"/>
              </a:ext>
            </a:extLst>
          </p:cNvPr>
          <p:cNvSpPr txBox="1"/>
          <p:nvPr/>
        </p:nvSpPr>
        <p:spPr>
          <a:xfrm>
            <a:off x="2125577" y="2708214"/>
            <a:ext cx="2492590" cy="641201"/>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US" sz="1000" dirty="0">
                <a:latin typeface="Arial" panose="020B0604020202020204" pitchFamily="34" charset="0"/>
              </a:rPr>
              <a:t>Schematic viewer for RTL &amp; synthesized netlists</a:t>
            </a:r>
          </a:p>
          <a:p>
            <a:pPr marL="171450" indent="-171450">
              <a:spcAft>
                <a:spcPts val="100"/>
              </a:spcAft>
              <a:buFont typeface="Arial" panose="020B0604020202020204" pitchFamily="34" charset="0"/>
              <a:buChar char="•"/>
            </a:pPr>
            <a:r>
              <a:rPr lang="en-US" sz="1000" dirty="0">
                <a:latin typeface="Arial" panose="020B0604020202020204" pitchFamily="34" charset="0"/>
              </a:rPr>
              <a:t>Device view with </a:t>
            </a:r>
            <a:r>
              <a:rPr lang="en-US" sz="1000" dirty="0" err="1">
                <a:latin typeface="Arial" panose="020B0604020202020204" pitchFamily="34" charset="0"/>
              </a:rPr>
              <a:t>floorplanning</a:t>
            </a:r>
            <a:endParaRPr lang="en-US" sz="1000" dirty="0">
              <a:latin typeface="Arial" panose="020B0604020202020204" pitchFamily="34" charset="0"/>
            </a:endParaRPr>
          </a:p>
          <a:p>
            <a:pPr marL="171450" indent="-171450">
              <a:spcAft>
                <a:spcPts val="100"/>
              </a:spcAft>
              <a:buFont typeface="Arial" panose="020B0604020202020204" pitchFamily="34" charset="0"/>
              <a:buChar char="•"/>
            </a:pPr>
            <a:r>
              <a:rPr lang="en-US" sz="1000" dirty="0">
                <a:latin typeface="Arial" panose="020B0604020202020204" pitchFamily="34" charset="0"/>
              </a:rPr>
              <a:t>Interactive signal tracing &amp; cross-probing</a:t>
            </a:r>
          </a:p>
        </p:txBody>
      </p:sp>
      <p:sp>
        <p:nvSpPr>
          <p:cNvPr id="49" name="TextBox 48">
            <a:extLst>
              <a:ext uri="{FF2B5EF4-FFF2-40B4-BE49-F238E27FC236}">
                <a16:creationId xmlns:a16="http://schemas.microsoft.com/office/drawing/2014/main" id="{2F58F707-BFA7-52F5-051F-54BE68D6CAA9}"/>
              </a:ext>
            </a:extLst>
          </p:cNvPr>
          <p:cNvSpPr txBox="1"/>
          <p:nvPr/>
        </p:nvSpPr>
        <p:spPr>
          <a:xfrm>
            <a:off x="2125577" y="3664892"/>
            <a:ext cx="2620606" cy="795089"/>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US" sz="1000" dirty="0">
                <a:latin typeface="Arial" panose="020B0604020202020204" pitchFamily="34" charset="0"/>
              </a:rPr>
              <a:t>Ask AI—natural language design queries</a:t>
            </a:r>
          </a:p>
          <a:p>
            <a:pPr marL="171450" indent="-171450">
              <a:spcAft>
                <a:spcPts val="100"/>
              </a:spcAft>
              <a:buFont typeface="Arial" panose="020B0604020202020204" pitchFamily="34" charset="0"/>
              <a:buChar char="•"/>
            </a:pPr>
            <a:r>
              <a:rPr lang="en-US" sz="1000" dirty="0">
                <a:latin typeface="Arial" panose="020B0604020202020204" pitchFamily="34" charset="0"/>
              </a:rPr>
              <a:t>MCP-backed Tcl terminal for smart execution</a:t>
            </a:r>
          </a:p>
          <a:p>
            <a:pPr marL="171450" indent="-171450">
              <a:spcAft>
                <a:spcPts val="100"/>
              </a:spcAft>
              <a:buFont typeface="Arial" panose="020B0604020202020204" pitchFamily="34" charset="0"/>
              <a:buChar char="•"/>
            </a:pPr>
            <a:r>
              <a:rPr lang="en-US" sz="1000" dirty="0">
                <a:latin typeface="Arial" panose="020B0604020202020204" pitchFamily="34" charset="0"/>
              </a:rPr>
              <a:t>Context-aware suggestions from open design</a:t>
            </a:r>
          </a:p>
        </p:txBody>
      </p:sp>
      <p:sp>
        <p:nvSpPr>
          <p:cNvPr id="52" name="TextBox 51">
            <a:extLst>
              <a:ext uri="{FF2B5EF4-FFF2-40B4-BE49-F238E27FC236}">
                <a16:creationId xmlns:a16="http://schemas.microsoft.com/office/drawing/2014/main" id="{8FE85F4B-96DB-0AC5-D4DE-9E529F80E121}"/>
              </a:ext>
            </a:extLst>
          </p:cNvPr>
          <p:cNvSpPr txBox="1"/>
          <p:nvPr/>
        </p:nvSpPr>
        <p:spPr>
          <a:xfrm>
            <a:off x="2125577" y="4775458"/>
            <a:ext cx="2492590" cy="641201"/>
          </a:xfrm>
          <a:prstGeom prst="rect">
            <a:avLst/>
          </a:prstGeom>
          <a:noFill/>
        </p:spPr>
        <p:txBody>
          <a:bodyPr wrap="square" lIns="0" tIns="0" rIns="0" bIns="0">
            <a:spAutoFit/>
          </a:bodyPr>
          <a:lstStyle/>
          <a:p>
            <a:pPr marL="171450" indent="-171450">
              <a:spcAft>
                <a:spcPts val="100"/>
              </a:spcAft>
              <a:buFont typeface="Arial" panose="020B0604020202020204" pitchFamily="34" charset="0"/>
              <a:buChar char="•"/>
            </a:pPr>
            <a:r>
              <a:rPr lang="en-US" sz="1000" dirty="0">
                <a:latin typeface="Arial" panose="020B0604020202020204" pitchFamily="34" charset="0"/>
              </a:rPr>
              <a:t>Synthesis &amp; implementation run management</a:t>
            </a:r>
          </a:p>
          <a:p>
            <a:pPr marL="171450" indent="-171450">
              <a:spcAft>
                <a:spcPts val="100"/>
              </a:spcAft>
              <a:buFont typeface="Arial" panose="020B0604020202020204" pitchFamily="34" charset="0"/>
              <a:buChar char="•"/>
            </a:pPr>
            <a:r>
              <a:rPr lang="en-US" sz="1000" dirty="0">
                <a:latin typeface="Arial" panose="020B0604020202020204" pitchFamily="34" charset="0"/>
              </a:rPr>
              <a:t>Real-time progress and log monitoring</a:t>
            </a:r>
          </a:p>
          <a:p>
            <a:pPr marL="171450" indent="-171450">
              <a:spcAft>
                <a:spcPts val="100"/>
              </a:spcAft>
              <a:buFont typeface="Arial" panose="020B0604020202020204" pitchFamily="34" charset="0"/>
              <a:buChar char="•"/>
            </a:pPr>
            <a:r>
              <a:rPr lang="en-US" sz="1000" dirty="0">
                <a:latin typeface="Arial" panose="020B0604020202020204" pitchFamily="34" charset="0"/>
              </a:rPr>
              <a:t>Timing summary &amp; utilization at a glance</a:t>
            </a:r>
          </a:p>
        </p:txBody>
      </p:sp>
      <p:sp>
        <p:nvSpPr>
          <p:cNvPr id="53" name="Rounded Rectangle 4">
            <a:extLst>
              <a:ext uri="{FF2B5EF4-FFF2-40B4-BE49-F238E27FC236}">
                <a16:creationId xmlns:a16="http://schemas.microsoft.com/office/drawing/2014/main" id="{B4DEF1D1-BEDE-9A81-9FCB-08177ECD77CF}"/>
              </a:ext>
            </a:extLst>
          </p:cNvPr>
          <p:cNvSpPr/>
          <p:nvPr/>
        </p:nvSpPr>
        <p:spPr>
          <a:xfrm>
            <a:off x="588262" y="2596641"/>
            <a:ext cx="1447799" cy="864346"/>
          </a:xfrm>
          <a:prstGeom prst="snip2DiagRect">
            <a:avLst>
              <a:gd name="adj1" fmla="val 0"/>
              <a:gd name="adj2" fmla="val 6970"/>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200" b="1" dirty="0">
                <a:solidFill>
                  <a:schemeClr val="tx1"/>
                </a:solidFill>
                <a:latin typeface="Arial" panose="020B0604020202020204" pitchFamily="34" charset="0"/>
              </a:rPr>
              <a:t>Design Visualization</a:t>
            </a:r>
          </a:p>
        </p:txBody>
      </p:sp>
      <p:sp>
        <p:nvSpPr>
          <p:cNvPr id="54" name="Rounded Rectangle 4">
            <a:extLst>
              <a:ext uri="{FF2B5EF4-FFF2-40B4-BE49-F238E27FC236}">
                <a16:creationId xmlns:a16="http://schemas.microsoft.com/office/drawing/2014/main" id="{DD9E9FD2-2FDA-21CA-6853-8CA25204AD9B}"/>
              </a:ext>
            </a:extLst>
          </p:cNvPr>
          <p:cNvSpPr/>
          <p:nvPr/>
        </p:nvSpPr>
        <p:spPr>
          <a:xfrm>
            <a:off x="588262" y="3630263"/>
            <a:ext cx="1447799" cy="864346"/>
          </a:xfrm>
          <a:prstGeom prst="snip2DiagRect">
            <a:avLst>
              <a:gd name="adj1" fmla="val 0"/>
              <a:gd name="adj2" fmla="val 6970"/>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200" b="1" dirty="0">
                <a:solidFill>
                  <a:schemeClr val="tx1"/>
                </a:solidFill>
                <a:latin typeface="Arial" panose="020B0604020202020204" pitchFamily="34" charset="0"/>
              </a:rPr>
              <a:t>AI-powered Features</a:t>
            </a:r>
          </a:p>
        </p:txBody>
      </p:sp>
      <p:sp>
        <p:nvSpPr>
          <p:cNvPr id="55" name="Rounded Rectangle 4">
            <a:extLst>
              <a:ext uri="{FF2B5EF4-FFF2-40B4-BE49-F238E27FC236}">
                <a16:creationId xmlns:a16="http://schemas.microsoft.com/office/drawing/2014/main" id="{2CEDB68A-3F4E-CBBA-6B39-67BE7EEE8D6E}"/>
              </a:ext>
            </a:extLst>
          </p:cNvPr>
          <p:cNvSpPr/>
          <p:nvPr/>
        </p:nvSpPr>
        <p:spPr>
          <a:xfrm>
            <a:off x="588262" y="4663885"/>
            <a:ext cx="1447799" cy="864346"/>
          </a:xfrm>
          <a:prstGeom prst="snip2DiagRect">
            <a:avLst>
              <a:gd name="adj1" fmla="val 0"/>
              <a:gd name="adj2" fmla="val 6970"/>
            </a:avLst>
          </a:prstGeom>
          <a:solidFill>
            <a:srgbClr val="00C2DE"/>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r>
              <a:rPr lang="en-US" sz="1200" b="1">
                <a:solidFill>
                  <a:schemeClr val="tx1"/>
                </a:solidFill>
                <a:latin typeface="Arial" panose="020B0604020202020204" pitchFamily="34" charset="0"/>
              </a:rPr>
              <a:t>Build &amp; Run</a:t>
            </a:r>
          </a:p>
        </p:txBody>
      </p:sp>
    </p:spTree>
    <p:extLst>
      <p:ext uri="{BB962C8B-B14F-4D97-AF65-F5344CB8AC3E}">
        <p14:creationId xmlns:p14="http://schemas.microsoft.com/office/powerpoint/2010/main" val="54483568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2B9909C-83AC-FF36-9FB1-D4E65EA31F7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5" name="think-cell data - do not delete" hidden="1">
                        <a:extLst>
                          <a:ext uri="{FF2B5EF4-FFF2-40B4-BE49-F238E27FC236}">
                            <a16:creationId xmlns:a16="http://schemas.microsoft.com/office/drawing/2014/main" id="{A2B9909C-83AC-FF36-9FB1-D4E65EA31F7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94FCD46-854F-48DC-05B1-0897738E521C}"/>
              </a:ext>
            </a:extLst>
          </p:cNvPr>
          <p:cNvSpPr>
            <a:spLocks noGrp="1"/>
          </p:cNvSpPr>
          <p:nvPr>
            <p:ph type="title"/>
          </p:nvPr>
        </p:nvSpPr>
        <p:spPr>
          <a:xfrm>
            <a:off x="588263" y="591790"/>
            <a:ext cx="11018520" cy="430887"/>
          </a:xfrm>
        </p:spPr>
        <p:txBody>
          <a:bodyPr vert="horz" rIns="0">
            <a:spAutoFit/>
          </a:bodyPr>
          <a:lstStyle/>
          <a:p>
            <a:r>
              <a:rPr lang="en-US" dirty="0">
                <a:latin typeface="Arial Bold" panose="020B0704020202020204" pitchFamily="34" charset="0"/>
              </a:rPr>
              <a:t>A One-Stop Shop for AMD Vivado IDE Queries</a:t>
            </a:r>
          </a:p>
        </p:txBody>
      </p:sp>
      <p:pic>
        <p:nvPicPr>
          <p:cNvPr id="9" name="Picture 8">
            <a:extLst>
              <a:ext uri="{FF2B5EF4-FFF2-40B4-BE49-F238E27FC236}">
                <a16:creationId xmlns:a16="http://schemas.microsoft.com/office/drawing/2014/main" id="{AC44D6EC-B43A-9BD6-BE56-71D4F87BD931}"/>
              </a:ext>
            </a:extLst>
          </p:cNvPr>
          <p:cNvPicPr>
            <a:picLocks noChangeAspect="1"/>
          </p:cNvPicPr>
          <p:nvPr/>
        </p:nvPicPr>
        <p:blipFill>
          <a:blip r:embed="rId6"/>
          <a:stretch>
            <a:fillRect/>
          </a:stretch>
        </p:blipFill>
        <p:spPr>
          <a:xfrm>
            <a:off x="588263" y="1893660"/>
            <a:ext cx="8112825" cy="4520003"/>
          </a:xfrm>
          <a:prstGeom prst="rect">
            <a:avLst/>
          </a:prstGeom>
          <a:ln w="28575">
            <a:solidFill>
              <a:schemeClr val="tx1"/>
            </a:solidFill>
          </a:ln>
        </p:spPr>
      </p:pic>
      <p:sp>
        <p:nvSpPr>
          <p:cNvPr id="3" name="Rounded Rectangle 4">
            <a:extLst>
              <a:ext uri="{FF2B5EF4-FFF2-40B4-BE49-F238E27FC236}">
                <a16:creationId xmlns:a16="http://schemas.microsoft.com/office/drawing/2014/main" id="{4E95496C-575A-7C6F-6585-843A0372D2B0}"/>
              </a:ext>
            </a:extLst>
          </p:cNvPr>
          <p:cNvSpPr/>
          <p:nvPr/>
        </p:nvSpPr>
        <p:spPr>
          <a:xfrm>
            <a:off x="588263" y="1215880"/>
            <a:ext cx="11238928" cy="537437"/>
          </a:xfrm>
          <a:prstGeom prst="snip2Diag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algn="ctr"/>
            <a:r>
              <a:rPr lang="en-US" sz="1600" b="1" dirty="0">
                <a:solidFill>
                  <a:schemeClr val="tx1"/>
                </a:solidFill>
                <a:latin typeface="+mj-lt"/>
              </a:rPr>
              <a:t>Access the AMD knowledge base via a web portal: </a:t>
            </a:r>
            <a:r>
              <a:rPr lang="en-US" sz="1600" b="1" dirty="0">
                <a:solidFill>
                  <a:schemeClr val="accent6">
                    <a:lumMod val="50000"/>
                  </a:schemeClr>
                </a:solidFill>
                <a:latin typeface="+mj-lt"/>
                <a:hlinkClick r:id="rId7">
                  <a:extLst>
                    <a:ext uri="{A12FA001-AC4F-418D-AE19-62706E023703}">
                      <ahyp:hlinkClr xmlns:ahyp="http://schemas.microsoft.com/office/drawing/2018/hyperlinkcolor" val="tx"/>
                    </a:ext>
                  </a:extLst>
                </a:hlinkClick>
              </a:rPr>
              <a:t>vivado.amd.com/chat</a:t>
            </a:r>
            <a:endParaRPr lang="en-US" sz="1600" b="1" dirty="0">
              <a:solidFill>
                <a:schemeClr val="accent6">
                  <a:lumMod val="50000"/>
                </a:schemeClr>
              </a:solidFill>
              <a:latin typeface="+mj-lt"/>
            </a:endParaRPr>
          </a:p>
        </p:txBody>
      </p:sp>
      <p:sp>
        <p:nvSpPr>
          <p:cNvPr id="4" name="Rounded Rectangle 4">
            <a:extLst>
              <a:ext uri="{FF2B5EF4-FFF2-40B4-BE49-F238E27FC236}">
                <a16:creationId xmlns:a16="http://schemas.microsoft.com/office/drawing/2014/main" id="{A9CA2939-5696-232E-DB2D-35B73C248A6A}"/>
              </a:ext>
            </a:extLst>
          </p:cNvPr>
          <p:cNvSpPr/>
          <p:nvPr/>
        </p:nvSpPr>
        <p:spPr>
          <a:xfrm>
            <a:off x="8701088" y="2960893"/>
            <a:ext cx="3126102" cy="2552700"/>
          </a:xfrm>
          <a:prstGeom prst="snip2DiagRect">
            <a:avLst>
              <a:gd name="adj1" fmla="val 0"/>
              <a:gd name="adj2" fmla="val 0"/>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wrap="square" lIns="108000" tIns="108000" rIns="108000" bIns="108000" rtlCol="0" anchor="ctr"/>
          <a:lstStyle/>
          <a:p>
            <a:pPr marL="285750" indent="-285750">
              <a:buFont typeface="Arial" panose="020B0604020202020204" pitchFamily="34" charset="0"/>
              <a:buChar char="•"/>
            </a:pPr>
            <a:r>
              <a:rPr lang="en-US" sz="1600" dirty="0">
                <a:solidFill>
                  <a:schemeClr val="tx1"/>
                </a:solidFill>
                <a:latin typeface="+mj-lt"/>
              </a:rPr>
              <a:t>Connects to the same AMD network-hosted documentation database</a:t>
            </a:r>
          </a:p>
          <a:p>
            <a:pPr marL="285750" indent="-285750">
              <a:buFont typeface="Arial" panose="020B0604020202020204" pitchFamily="34" charset="0"/>
              <a:buChar char="•"/>
            </a:pPr>
            <a:endParaRPr lang="en-US" sz="1600" dirty="0">
              <a:solidFill>
                <a:schemeClr val="tx1"/>
              </a:solidFill>
              <a:latin typeface="+mj-lt"/>
            </a:endParaRPr>
          </a:p>
          <a:p>
            <a:pPr marL="285750" indent="-285750">
              <a:buFont typeface="Arial" panose="020B0604020202020204" pitchFamily="34" charset="0"/>
              <a:buChar char="•"/>
            </a:pPr>
            <a:r>
              <a:rPr lang="en-US" sz="1600" dirty="0">
                <a:solidFill>
                  <a:schemeClr val="tx1"/>
                </a:solidFill>
                <a:latin typeface="+mj-lt"/>
              </a:rPr>
              <a:t>Delivers retrieval-augmented generation (RAG) powered, citation-backed outputs</a:t>
            </a:r>
          </a:p>
        </p:txBody>
      </p:sp>
    </p:spTree>
    <p:extLst>
      <p:ext uri="{BB962C8B-B14F-4D97-AF65-F5344CB8AC3E}">
        <p14:creationId xmlns:p14="http://schemas.microsoft.com/office/powerpoint/2010/main" val="1562140762"/>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43C9C-F994-BC8D-DB54-5CEAE4D7DCAA}"/>
              </a:ext>
            </a:extLst>
          </p:cNvPr>
          <p:cNvSpPr/>
          <p:nvPr/>
        </p:nvSpPr>
        <p:spPr bwMode="auto">
          <a:xfrm>
            <a:off x="0" y="5071925"/>
            <a:ext cx="12192000" cy="1193937"/>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dirty="0">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37" name="think-cell data - do not delete" hidden="1">
            <a:extLst>
              <a:ext uri="{FF2B5EF4-FFF2-40B4-BE49-F238E27FC236}">
                <a16:creationId xmlns:a16="http://schemas.microsoft.com/office/drawing/2014/main" id="{52AA403B-1047-1CD7-A45F-DEFCDAA34F9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37" name="think-cell data - do not delete" hidden="1">
                        <a:extLst>
                          <a:ext uri="{FF2B5EF4-FFF2-40B4-BE49-F238E27FC236}">
                            <a16:creationId xmlns:a16="http://schemas.microsoft.com/office/drawing/2014/main" id="{52AA403B-1047-1CD7-A45F-DEFCDAA34F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09" name="Rectangle 208">
            <a:extLst>
              <a:ext uri="{FF2B5EF4-FFF2-40B4-BE49-F238E27FC236}">
                <a16:creationId xmlns:a16="http://schemas.microsoft.com/office/drawing/2014/main" id="{92D2FBD6-D8E4-8771-7CC4-C1446BFA8F4F}"/>
              </a:ext>
            </a:extLst>
          </p:cNvPr>
          <p:cNvSpPr/>
          <p:nvPr/>
        </p:nvSpPr>
        <p:spPr bwMode="auto">
          <a:xfrm>
            <a:off x="0" y="1301832"/>
            <a:ext cx="12192000" cy="1338998"/>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75A38779-5531-C08E-7C29-551F69E3F2BB}"/>
              </a:ext>
            </a:extLst>
          </p:cNvPr>
          <p:cNvSpPr>
            <a:spLocks noGrp="1"/>
          </p:cNvSpPr>
          <p:nvPr>
            <p:ph type="title"/>
          </p:nvPr>
        </p:nvSpPr>
        <p:spPr>
          <a:xfrm>
            <a:off x="588963" y="592138"/>
            <a:ext cx="11017250" cy="430212"/>
          </a:xfrm>
        </p:spPr>
        <p:txBody>
          <a:bodyPr vert="horz" rIns="0">
            <a:spAutoFit/>
          </a:bodyPr>
          <a:lstStyle/>
          <a:p>
            <a:r>
              <a:rPr lang="en-ID" dirty="0">
                <a:latin typeface="Arial Bold" panose="020B0704020202020204" pitchFamily="34" charset="0"/>
              </a:rPr>
              <a:t>Get Started Today</a:t>
            </a:r>
          </a:p>
        </p:txBody>
      </p:sp>
      <p:sp>
        <p:nvSpPr>
          <p:cNvPr id="169" name="TextBox 168">
            <a:extLst>
              <a:ext uri="{FF2B5EF4-FFF2-40B4-BE49-F238E27FC236}">
                <a16:creationId xmlns:a16="http://schemas.microsoft.com/office/drawing/2014/main" id="{F8C0AA2E-8041-4646-907D-57C4D9D3C291}"/>
              </a:ext>
            </a:extLst>
          </p:cNvPr>
          <p:cNvSpPr txBox="1"/>
          <p:nvPr/>
        </p:nvSpPr>
        <p:spPr>
          <a:xfrm>
            <a:off x="2667000" y="1604104"/>
            <a:ext cx="6858000" cy="307777"/>
          </a:xfrm>
          <a:prstGeom prst="rect">
            <a:avLst/>
          </a:prstGeom>
          <a:noFill/>
        </p:spPr>
        <p:txBody>
          <a:bodyPr wrap="square" lIns="0" tIns="0" rIns="0" bIns="0">
            <a:spAutoFit/>
          </a:bodyPr>
          <a:lstStyle/>
          <a:p>
            <a:pPr algn="ctr"/>
            <a:r>
              <a:rPr sz="2000" b="1" dirty="0">
                <a:latin typeface="Arial Bold" panose="020B0704020202020204" pitchFamily="34" charset="0"/>
              </a:rPr>
              <a:t>Request Access to the EA </a:t>
            </a:r>
            <a:r>
              <a:rPr lang="en-US" sz="2000" b="1" dirty="0">
                <a:latin typeface="Arial Bold" panose="020B0704020202020204" pitchFamily="34" charset="0"/>
              </a:rPr>
              <a:t>Secure Site</a:t>
            </a:r>
            <a:endParaRPr sz="2000" b="1" dirty="0">
              <a:latin typeface="Arial Bold" panose="020B0704020202020204" pitchFamily="34" charset="0"/>
            </a:endParaRPr>
          </a:p>
        </p:txBody>
      </p:sp>
      <p:grpSp>
        <p:nvGrpSpPr>
          <p:cNvPr id="3" name="Group 2">
            <a:extLst>
              <a:ext uri="{FF2B5EF4-FFF2-40B4-BE49-F238E27FC236}">
                <a16:creationId xmlns:a16="http://schemas.microsoft.com/office/drawing/2014/main" id="{F34F733A-A8A6-2AD8-AA8B-7A3A7E8AD1FA}"/>
              </a:ext>
            </a:extLst>
          </p:cNvPr>
          <p:cNvGrpSpPr/>
          <p:nvPr/>
        </p:nvGrpSpPr>
        <p:grpSpPr>
          <a:xfrm>
            <a:off x="407771" y="2217670"/>
            <a:ext cx="11376460" cy="2701711"/>
            <a:chOff x="588963" y="2585222"/>
            <a:chExt cx="7248525" cy="1721398"/>
          </a:xfrm>
        </p:grpSpPr>
        <p:sp>
          <p:nvSpPr>
            <p:cNvPr id="172" name="TextBox 171">
              <a:extLst>
                <a:ext uri="{FF2B5EF4-FFF2-40B4-BE49-F238E27FC236}">
                  <a16:creationId xmlns:a16="http://schemas.microsoft.com/office/drawing/2014/main" id="{266B2692-75DE-D132-AB2C-72F0D97E141E}"/>
                </a:ext>
              </a:extLst>
            </p:cNvPr>
            <p:cNvSpPr txBox="1"/>
            <p:nvPr/>
          </p:nvSpPr>
          <p:spPr>
            <a:xfrm>
              <a:off x="588963" y="3365339"/>
              <a:ext cx="1591626" cy="941281"/>
            </a:xfrm>
            <a:prstGeom prst="rect">
              <a:avLst/>
            </a:prstGeom>
            <a:noFill/>
          </p:spPr>
          <p:txBody>
            <a:bodyPr wrap="square" lIns="0" tIns="0" rIns="0" bIns="0">
              <a:spAutoFit/>
            </a:bodyPr>
            <a:lstStyle/>
            <a:p>
              <a:pPr algn="l"/>
              <a:r>
                <a:rPr lang="en-US" sz="1600" b="1" dirty="0">
                  <a:latin typeface="+mj-lt"/>
                </a:rPr>
                <a:t>AMD Vivado™ Adaptive SoC &amp; FPGA Tools</a:t>
              </a:r>
              <a:r>
                <a:rPr sz="1600" b="1" dirty="0">
                  <a:latin typeface="+mj-lt"/>
                </a:rPr>
                <a:t> MCP Server</a:t>
              </a:r>
            </a:p>
            <a:p>
              <a:pPr algn="l"/>
              <a:r>
                <a:rPr sz="1600" dirty="0">
                  <a:latin typeface="+mj-lt"/>
                </a:rPr>
                <a:t>Install on Windows</a:t>
              </a:r>
              <a:r>
                <a:rPr lang="en-US" sz="1600" dirty="0">
                  <a:latin typeface="+mj-lt"/>
                </a:rPr>
                <a:t>®</a:t>
              </a:r>
              <a:r>
                <a:rPr sz="1600" dirty="0">
                  <a:latin typeface="+mj-lt"/>
                </a:rPr>
                <a:t> &amp; Linux</a:t>
              </a:r>
              <a:r>
                <a:rPr lang="en-US" sz="1600" dirty="0">
                  <a:latin typeface="+mj-lt"/>
                </a:rPr>
                <a:t>®</a:t>
              </a:r>
              <a:r>
                <a:rPr sz="1600" dirty="0">
                  <a:latin typeface="+mj-lt"/>
                </a:rPr>
                <a:t>—works with any MCP-capable IDE or CLI</a:t>
              </a:r>
            </a:p>
          </p:txBody>
        </p:sp>
        <p:sp>
          <p:nvSpPr>
            <p:cNvPr id="189" name="TextBox 188">
              <a:extLst>
                <a:ext uri="{FF2B5EF4-FFF2-40B4-BE49-F238E27FC236}">
                  <a16:creationId xmlns:a16="http://schemas.microsoft.com/office/drawing/2014/main" id="{203144E9-E823-B71C-103E-C59895A0730A}"/>
                </a:ext>
              </a:extLst>
            </p:cNvPr>
            <p:cNvSpPr txBox="1"/>
            <p:nvPr/>
          </p:nvSpPr>
          <p:spPr>
            <a:xfrm>
              <a:off x="2474596" y="3365339"/>
              <a:ext cx="1215123" cy="784400"/>
            </a:xfrm>
            <a:prstGeom prst="rect">
              <a:avLst/>
            </a:prstGeom>
            <a:noFill/>
          </p:spPr>
          <p:txBody>
            <a:bodyPr wrap="square" lIns="0" tIns="0" rIns="0" bIns="0">
              <a:spAutoFit/>
            </a:bodyPr>
            <a:lstStyle/>
            <a:p>
              <a:pPr algn="l"/>
              <a:r>
                <a:rPr sz="1600" b="1">
                  <a:latin typeface="+mj-lt"/>
                </a:rPr>
                <a:t>Agent Skills</a:t>
              </a:r>
            </a:p>
            <a:p>
              <a:r>
                <a:rPr sz="1600">
                  <a:latin typeface="+mj-lt"/>
                </a:rPr>
                <a:t>Pre-built AMD skills for common FPGA workflows—ready to use out of the box</a:t>
              </a:r>
            </a:p>
          </p:txBody>
        </p:sp>
        <p:sp>
          <p:nvSpPr>
            <p:cNvPr id="192" name="TextBox 191">
              <a:extLst>
                <a:ext uri="{FF2B5EF4-FFF2-40B4-BE49-F238E27FC236}">
                  <a16:creationId xmlns:a16="http://schemas.microsoft.com/office/drawing/2014/main" id="{58AB8BA6-C8B2-D014-146A-F0F8EAB1BE67}"/>
                </a:ext>
              </a:extLst>
            </p:cNvPr>
            <p:cNvSpPr txBox="1"/>
            <p:nvPr/>
          </p:nvSpPr>
          <p:spPr>
            <a:xfrm>
              <a:off x="4360229" y="3365339"/>
              <a:ext cx="1153317" cy="784400"/>
            </a:xfrm>
            <a:prstGeom prst="rect">
              <a:avLst/>
            </a:prstGeom>
            <a:noFill/>
          </p:spPr>
          <p:txBody>
            <a:bodyPr wrap="square" lIns="0" tIns="0" rIns="0" bIns="0">
              <a:spAutoFit/>
            </a:bodyPr>
            <a:lstStyle/>
            <a:p>
              <a:pPr algn="l"/>
              <a:r>
                <a:rPr sz="1600" b="1">
                  <a:latin typeface="+mj-lt"/>
                </a:rPr>
                <a:t>Example Designs</a:t>
              </a:r>
            </a:p>
            <a:p>
              <a:r>
                <a:rPr sz="1600">
                  <a:latin typeface="+mj-lt"/>
                </a:rPr>
                <a:t>Reference projects to run and validate your agentic AI setup end-to-end</a:t>
              </a:r>
            </a:p>
          </p:txBody>
        </p:sp>
        <p:sp>
          <p:nvSpPr>
            <p:cNvPr id="195" name="TextBox 194">
              <a:extLst>
                <a:ext uri="{FF2B5EF4-FFF2-40B4-BE49-F238E27FC236}">
                  <a16:creationId xmlns:a16="http://schemas.microsoft.com/office/drawing/2014/main" id="{7DC73810-0253-8DE2-B38E-E7B1A97BE54D}"/>
                </a:ext>
              </a:extLst>
            </p:cNvPr>
            <p:cNvSpPr txBox="1"/>
            <p:nvPr/>
          </p:nvSpPr>
          <p:spPr>
            <a:xfrm>
              <a:off x="6245862" y="3365339"/>
              <a:ext cx="1591626" cy="784400"/>
            </a:xfrm>
            <a:prstGeom prst="rect">
              <a:avLst/>
            </a:prstGeom>
            <a:noFill/>
          </p:spPr>
          <p:txBody>
            <a:bodyPr wrap="square" lIns="0" tIns="0" rIns="0" bIns="0">
              <a:spAutoFit/>
            </a:bodyPr>
            <a:lstStyle/>
            <a:p>
              <a:pPr algn="l"/>
              <a:r>
                <a:rPr sz="1600" b="1">
                  <a:latin typeface="+mj-lt"/>
                </a:rPr>
                <a:t>Dedicated AMD Engineering Support</a:t>
              </a:r>
            </a:p>
            <a:p>
              <a:r>
                <a:rPr sz="1600">
                  <a:latin typeface="+mj-lt"/>
                </a:rPr>
                <a:t>Direct access to AMD engineers for onboarding, debugging, and feedback</a:t>
              </a:r>
            </a:p>
          </p:txBody>
        </p:sp>
        <p:sp>
          <p:nvSpPr>
            <p:cNvPr id="212" name="Rectangle: Diagonal Corners Snipped 211">
              <a:extLst>
                <a:ext uri="{FF2B5EF4-FFF2-40B4-BE49-F238E27FC236}">
                  <a16:creationId xmlns:a16="http://schemas.microsoft.com/office/drawing/2014/main" id="{4174997C-984C-4233-36D2-CC787C541086}"/>
                </a:ext>
              </a:extLst>
            </p:cNvPr>
            <p:cNvSpPr/>
            <p:nvPr/>
          </p:nvSpPr>
          <p:spPr bwMode="auto">
            <a:xfrm>
              <a:off x="588963" y="2585222"/>
              <a:ext cx="526042" cy="526042"/>
            </a:xfrm>
            <a:prstGeom prst="snip2Diag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err="1">
                <a:gradFill>
                  <a:gsLst>
                    <a:gs pos="0">
                      <a:srgbClr val="FFFFFF"/>
                    </a:gs>
                    <a:gs pos="100000">
                      <a:srgbClr val="FFFFFF"/>
                    </a:gs>
                  </a:gsLst>
                  <a:lin ang="5400000" scaled="0"/>
                </a:gradFill>
                <a:ea typeface="Segoe UI" pitchFamily="34" charset="0"/>
                <a:cs typeface="Segoe UI" pitchFamily="34" charset="0"/>
              </a:endParaRPr>
            </a:p>
          </p:txBody>
        </p:sp>
        <p:sp>
          <p:nvSpPr>
            <p:cNvPr id="213" name="Rectangle: Diagonal Corners Snipped 212">
              <a:extLst>
                <a:ext uri="{FF2B5EF4-FFF2-40B4-BE49-F238E27FC236}">
                  <a16:creationId xmlns:a16="http://schemas.microsoft.com/office/drawing/2014/main" id="{ED2FEB5D-F162-63DB-EFB6-E4B7CA14D667}"/>
                </a:ext>
              </a:extLst>
            </p:cNvPr>
            <p:cNvSpPr/>
            <p:nvPr/>
          </p:nvSpPr>
          <p:spPr bwMode="auto">
            <a:xfrm>
              <a:off x="2474596" y="2585222"/>
              <a:ext cx="526042" cy="526042"/>
            </a:xfrm>
            <a:prstGeom prst="snip2Diag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err="1">
                <a:gradFill>
                  <a:gsLst>
                    <a:gs pos="0">
                      <a:srgbClr val="FFFFFF"/>
                    </a:gs>
                    <a:gs pos="100000">
                      <a:srgbClr val="FFFFFF"/>
                    </a:gs>
                  </a:gsLst>
                  <a:lin ang="5400000" scaled="0"/>
                </a:gradFill>
                <a:ea typeface="Segoe UI" pitchFamily="34" charset="0"/>
                <a:cs typeface="Segoe UI" pitchFamily="34" charset="0"/>
              </a:endParaRPr>
            </a:p>
          </p:txBody>
        </p:sp>
        <p:sp>
          <p:nvSpPr>
            <p:cNvPr id="214" name="Rectangle: Diagonal Corners Snipped 213">
              <a:extLst>
                <a:ext uri="{FF2B5EF4-FFF2-40B4-BE49-F238E27FC236}">
                  <a16:creationId xmlns:a16="http://schemas.microsoft.com/office/drawing/2014/main" id="{8E37B6E8-70E7-B7EE-1A3B-B2B615DD3919}"/>
                </a:ext>
              </a:extLst>
            </p:cNvPr>
            <p:cNvSpPr/>
            <p:nvPr/>
          </p:nvSpPr>
          <p:spPr bwMode="auto">
            <a:xfrm>
              <a:off x="4360229" y="2585222"/>
              <a:ext cx="526042" cy="526042"/>
            </a:xfrm>
            <a:prstGeom prst="snip2Diag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err="1">
                <a:gradFill>
                  <a:gsLst>
                    <a:gs pos="0">
                      <a:srgbClr val="FFFFFF"/>
                    </a:gs>
                    <a:gs pos="100000">
                      <a:srgbClr val="FFFFFF"/>
                    </a:gs>
                  </a:gsLst>
                  <a:lin ang="5400000" scaled="0"/>
                </a:gradFill>
                <a:ea typeface="Segoe UI" pitchFamily="34" charset="0"/>
                <a:cs typeface="Segoe UI" pitchFamily="34" charset="0"/>
              </a:endParaRPr>
            </a:p>
          </p:txBody>
        </p:sp>
        <p:sp>
          <p:nvSpPr>
            <p:cNvPr id="215" name="Rectangle: Diagonal Corners Snipped 214">
              <a:extLst>
                <a:ext uri="{FF2B5EF4-FFF2-40B4-BE49-F238E27FC236}">
                  <a16:creationId xmlns:a16="http://schemas.microsoft.com/office/drawing/2014/main" id="{3C7D3C79-1C4D-6EE3-9383-5360D62FE757}"/>
                </a:ext>
              </a:extLst>
            </p:cNvPr>
            <p:cNvSpPr/>
            <p:nvPr/>
          </p:nvSpPr>
          <p:spPr bwMode="auto">
            <a:xfrm>
              <a:off x="6245862" y="2585222"/>
              <a:ext cx="526042" cy="526042"/>
            </a:xfrm>
            <a:prstGeom prst="snip2DiagRect">
              <a:avLst/>
            </a:prstGeom>
            <a:solidFill>
              <a:schemeClr val="accent6">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ID" sz="1800" err="1">
                <a:gradFill>
                  <a:gsLst>
                    <a:gs pos="0">
                      <a:srgbClr val="FFFFFF"/>
                    </a:gs>
                    <a:gs pos="100000">
                      <a:srgbClr val="FFFFFF"/>
                    </a:gs>
                  </a:gsLst>
                  <a:lin ang="5400000" scaled="0"/>
                </a:gradFill>
                <a:ea typeface="Segoe UI" pitchFamily="34" charset="0"/>
                <a:cs typeface="Segoe UI" pitchFamily="34" charset="0"/>
              </a:endParaRPr>
            </a:p>
          </p:txBody>
        </p:sp>
        <p:pic>
          <p:nvPicPr>
            <p:cNvPr id="216" name="Graphic 215">
              <a:extLst>
                <a:ext uri="{FF2B5EF4-FFF2-40B4-BE49-F238E27FC236}">
                  <a16:creationId xmlns:a16="http://schemas.microsoft.com/office/drawing/2014/main" id="{562F6174-A9C8-742C-CCF5-D388A5881C9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20672" y="2716932"/>
              <a:ext cx="262626" cy="262624"/>
            </a:xfrm>
            <a:prstGeom prst="rect">
              <a:avLst/>
            </a:prstGeom>
          </p:spPr>
        </p:pic>
        <p:pic>
          <p:nvPicPr>
            <p:cNvPr id="217" name="Graphic 216">
              <a:extLst>
                <a:ext uri="{FF2B5EF4-FFF2-40B4-BE49-F238E27FC236}">
                  <a16:creationId xmlns:a16="http://schemas.microsoft.com/office/drawing/2014/main" id="{F98504DE-33BC-214B-7286-52B0208AC81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606305" y="2716932"/>
              <a:ext cx="262626" cy="262624"/>
            </a:xfrm>
            <a:prstGeom prst="rect">
              <a:avLst/>
            </a:prstGeom>
          </p:spPr>
        </p:pic>
        <p:pic>
          <p:nvPicPr>
            <p:cNvPr id="218" name="Graphic 217">
              <a:extLst>
                <a:ext uri="{FF2B5EF4-FFF2-40B4-BE49-F238E27FC236}">
                  <a16:creationId xmlns:a16="http://schemas.microsoft.com/office/drawing/2014/main" id="{D7E2D3EA-0741-BE9A-19CE-A914A0BE720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91938" y="2716932"/>
              <a:ext cx="262626" cy="262624"/>
            </a:xfrm>
            <a:prstGeom prst="rect">
              <a:avLst/>
            </a:prstGeom>
          </p:spPr>
        </p:pic>
        <p:pic>
          <p:nvPicPr>
            <p:cNvPr id="219" name="Graphic 218">
              <a:extLst>
                <a:ext uri="{FF2B5EF4-FFF2-40B4-BE49-F238E27FC236}">
                  <a16:creationId xmlns:a16="http://schemas.microsoft.com/office/drawing/2014/main" id="{223C0851-E137-8DDF-E0E0-E65E7179857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77571" y="2716932"/>
              <a:ext cx="262626" cy="262624"/>
            </a:xfrm>
            <a:prstGeom prst="rect">
              <a:avLst/>
            </a:prstGeom>
          </p:spPr>
        </p:pic>
      </p:grpSp>
      <p:grpSp>
        <p:nvGrpSpPr>
          <p:cNvPr id="7" name="Group 6">
            <a:extLst>
              <a:ext uri="{FF2B5EF4-FFF2-40B4-BE49-F238E27FC236}">
                <a16:creationId xmlns:a16="http://schemas.microsoft.com/office/drawing/2014/main" id="{93E47299-18E8-A4E8-14E6-B4BE1772DCA2}"/>
              </a:ext>
            </a:extLst>
          </p:cNvPr>
          <p:cNvGrpSpPr/>
          <p:nvPr/>
        </p:nvGrpSpPr>
        <p:grpSpPr>
          <a:xfrm>
            <a:off x="1457740" y="5095917"/>
            <a:ext cx="9276521" cy="1078249"/>
            <a:chOff x="1457740" y="5253896"/>
            <a:chExt cx="9276521" cy="869952"/>
          </a:xfrm>
        </p:grpSpPr>
        <p:grpSp>
          <p:nvGrpSpPr>
            <p:cNvPr id="6" name="Group 5">
              <a:extLst>
                <a:ext uri="{FF2B5EF4-FFF2-40B4-BE49-F238E27FC236}">
                  <a16:creationId xmlns:a16="http://schemas.microsoft.com/office/drawing/2014/main" id="{ABAA6857-FB1C-C8D0-AD23-9AAAB2C26A8A}"/>
                </a:ext>
              </a:extLst>
            </p:cNvPr>
            <p:cNvGrpSpPr/>
            <p:nvPr/>
          </p:nvGrpSpPr>
          <p:grpSpPr>
            <a:xfrm>
              <a:off x="2306355" y="5716189"/>
              <a:ext cx="6916789" cy="407659"/>
              <a:chOff x="2122825" y="5708863"/>
              <a:chExt cx="8076555" cy="476013"/>
            </a:xfrm>
          </p:grpSpPr>
          <p:pic>
            <p:nvPicPr>
              <p:cNvPr id="205" name="Graphic 204">
                <a:extLst>
                  <a:ext uri="{FF2B5EF4-FFF2-40B4-BE49-F238E27FC236}">
                    <a16:creationId xmlns:a16="http://schemas.microsoft.com/office/drawing/2014/main" id="{CEE04C99-0CD7-205E-DE5D-DECFE7A7A7A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122825" y="5736311"/>
                <a:ext cx="421116" cy="421116"/>
              </a:xfrm>
              <a:prstGeom prst="rect">
                <a:avLst/>
              </a:prstGeom>
            </p:spPr>
          </p:pic>
          <p:sp>
            <p:nvSpPr>
              <p:cNvPr id="206" name="TextBox 205">
                <a:extLst>
                  <a:ext uri="{FF2B5EF4-FFF2-40B4-BE49-F238E27FC236}">
                    <a16:creationId xmlns:a16="http://schemas.microsoft.com/office/drawing/2014/main" id="{69E5B4FE-E242-CE51-3525-B1F3C1CEF460}"/>
                  </a:ext>
                </a:extLst>
              </p:cNvPr>
              <p:cNvSpPr txBox="1"/>
              <p:nvPr/>
            </p:nvSpPr>
            <p:spPr>
              <a:xfrm>
                <a:off x="2896411" y="5708863"/>
                <a:ext cx="7302969" cy="476013"/>
              </a:xfrm>
              <a:prstGeom prst="rect">
                <a:avLst/>
              </a:prstGeom>
              <a:noFill/>
            </p:spPr>
            <p:txBody>
              <a:bodyPr wrap="square" lIns="0" tIns="0" rIns="0" bIns="0">
                <a:spAutoFit/>
              </a:bodyPr>
              <a:lstStyle/>
              <a:p>
                <a:pPr>
                  <a:spcAft>
                    <a:spcPts val="100"/>
                  </a:spcAft>
                </a:pPr>
                <a:r>
                  <a:rPr lang="en-US" sz="1600" dirty="0">
                    <a:latin typeface="Arial" panose="020B0604020202020204" pitchFamily="34" charset="0"/>
                  </a:rPr>
                  <a:t>Access Request Link: </a:t>
                </a:r>
                <a:r>
                  <a:rPr lang="en-US" sz="1600" dirty="0" err="1">
                    <a:solidFill>
                      <a:srgbClr val="0070C0"/>
                    </a:solidFill>
                    <a:hlinkClick r:id="rId11">
                      <a:extLst>
                        <a:ext uri="{A12FA001-AC4F-418D-AE19-62706E023703}">
                          <ahyp:hlinkClr xmlns:ahyp="http://schemas.microsoft.com/office/drawing/2018/hyperlinkcolor" val="tx"/>
                        </a:ext>
                      </a:extLst>
                    </a:hlinkClick>
                  </a:rPr>
                  <a:t>Vivado</a:t>
                </a:r>
                <a:r>
                  <a:rPr lang="en-US" sz="1600" dirty="0">
                    <a:solidFill>
                      <a:srgbClr val="0070C0"/>
                    </a:solidFill>
                    <a:hlinkClick r:id="rId11">
                      <a:extLst>
                        <a:ext uri="{A12FA001-AC4F-418D-AE19-62706E023703}">
                          <ahyp:hlinkClr xmlns:ahyp="http://schemas.microsoft.com/office/drawing/2018/hyperlinkcolor" val="tx"/>
                        </a:ext>
                      </a:extLst>
                    </a:hlinkClick>
                  </a:rPr>
                  <a:t> AI Assistant Early Access Secure Site</a:t>
                </a:r>
                <a:endParaRPr lang="en-US" sz="1600" dirty="0">
                  <a:solidFill>
                    <a:srgbClr val="0070C0"/>
                  </a:solidFill>
                </a:endParaRPr>
              </a:p>
              <a:p>
                <a:pPr>
                  <a:spcAft>
                    <a:spcPts val="100"/>
                  </a:spcAft>
                </a:pPr>
                <a:r>
                  <a:rPr lang="en-US" sz="1600" dirty="0">
                    <a:latin typeface="Arial" panose="020B0604020202020204" pitchFamily="34" charset="0"/>
                  </a:rPr>
                  <a:t>Access is limited to Early Access (EA) customers</a:t>
                </a:r>
                <a:endParaRPr lang="en-US" sz="1600" dirty="0">
                  <a:solidFill>
                    <a:srgbClr val="0070C0"/>
                  </a:solidFill>
                  <a:latin typeface="Arial" panose="020B0604020202020204" pitchFamily="34" charset="0"/>
                </a:endParaRPr>
              </a:p>
            </p:txBody>
          </p:sp>
        </p:grpSp>
        <p:sp>
          <p:nvSpPr>
            <p:cNvPr id="4" name="Rectangle 3">
              <a:extLst>
                <a:ext uri="{FF2B5EF4-FFF2-40B4-BE49-F238E27FC236}">
                  <a16:creationId xmlns:a16="http://schemas.microsoft.com/office/drawing/2014/main" id="{EA337FDA-842F-4266-F6D2-D722E607C228}"/>
                </a:ext>
              </a:extLst>
            </p:cNvPr>
            <p:cNvSpPr/>
            <p:nvPr/>
          </p:nvSpPr>
          <p:spPr>
            <a:xfrm>
              <a:off x="1457740" y="5253896"/>
              <a:ext cx="9276521" cy="482017"/>
            </a:xfrm>
            <a:prstGeom prst="rect">
              <a:avLst/>
            </a:prstGeom>
            <a:noFill/>
            <a:ln w="9525" cap="flat" cmpd="sng" algn="ctr">
              <a:noFill/>
              <a:prstDash val="solid"/>
            </a:ln>
            <a:effectLst/>
          </p:spPr>
          <p:txBody>
            <a:bodyPr rot="0" spcFirstLastPara="0" vertOverflow="overflow" horzOverflow="overflow" vert="horz" wrap="square" lIns="91440" tIns="59906" rIns="0" bIns="59906" numCol="1" spcCol="0" rtlCol="0" fromWordArt="0" anchor="ctr" anchorCtr="0" forceAA="0" compatLnSpc="1">
              <a:prstTxWarp prst="textNoShape">
                <a:avLst/>
              </a:prstTxWarp>
              <a:noAutofit/>
            </a:bodyPr>
            <a:lstStyle/>
            <a:p>
              <a:pPr algn="ctr" defTabSz="1198029">
                <a:lnSpc>
                  <a:spcPct val="85000"/>
                </a:lnSpc>
                <a:defRPr/>
              </a:pPr>
              <a:r>
                <a:rPr lang="en-US" sz="2000" b="1" dirty="0">
                  <a:latin typeface="+mj-lt"/>
                </a:rPr>
                <a:t>Contact Your FAE to Participate in Early Access Program</a:t>
              </a:r>
            </a:p>
          </p:txBody>
        </p:sp>
      </p:grpSp>
    </p:spTree>
    <p:extLst>
      <p:ext uri="{BB962C8B-B14F-4D97-AF65-F5344CB8AC3E}">
        <p14:creationId xmlns:p14="http://schemas.microsoft.com/office/powerpoint/2010/main" val="134493262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51C9292-62CB-0346-7421-1C6C953407ED}"/>
              </a:ext>
            </a:extLst>
          </p:cNvPr>
          <p:cNvSpPr/>
          <p:nvPr/>
        </p:nvSpPr>
        <p:spPr bwMode="auto">
          <a:xfrm>
            <a:off x="2551113" y="1816988"/>
            <a:ext cx="7930799" cy="1401882"/>
          </a:xfrm>
          <a:prstGeom prst="rect">
            <a:avLst/>
          </a:prstGeom>
          <a:solidFill>
            <a:schemeClr val="accent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AA2D5148-EC9E-2F9A-4E74-D9450D0E763B}"/>
              </a:ext>
            </a:extLst>
          </p:cNvPr>
          <p:cNvSpPr>
            <a:spLocks noGrp="1"/>
          </p:cNvSpPr>
          <p:nvPr>
            <p:ph type="title"/>
          </p:nvPr>
        </p:nvSpPr>
        <p:spPr/>
        <p:txBody>
          <a:bodyPr/>
          <a:lstStyle/>
          <a:p>
            <a:r>
              <a:rPr lang="en-US"/>
              <a:t>Next Steps and Additional Resources</a:t>
            </a:r>
          </a:p>
        </p:txBody>
      </p:sp>
      <p:sp>
        <p:nvSpPr>
          <p:cNvPr id="3" name="Content Placeholder 2">
            <a:extLst>
              <a:ext uri="{FF2B5EF4-FFF2-40B4-BE49-F238E27FC236}">
                <a16:creationId xmlns:a16="http://schemas.microsoft.com/office/drawing/2014/main" id="{285EB644-1B1D-8E6B-E3CB-C8C179BF6301}"/>
              </a:ext>
            </a:extLst>
          </p:cNvPr>
          <p:cNvSpPr>
            <a:spLocks noGrp="1"/>
          </p:cNvSpPr>
          <p:nvPr>
            <p:ph sz="quarter" idx="10"/>
          </p:nvPr>
        </p:nvSpPr>
        <p:spPr>
          <a:xfrm>
            <a:off x="3006657" y="1910919"/>
            <a:ext cx="7340600" cy="976128"/>
          </a:xfrm>
        </p:spPr>
        <p:txBody>
          <a:bodyPr/>
          <a:lstStyle/>
          <a:p>
            <a:pPr marL="0" indent="0">
              <a:spcAft>
                <a:spcPts val="600"/>
              </a:spcAft>
              <a:buNone/>
            </a:pPr>
            <a:r>
              <a:rPr lang="en-US" b="1" dirty="0"/>
              <a:t>Request direct access to lounge:</a:t>
            </a:r>
          </a:p>
          <a:p>
            <a:pPr>
              <a:spcAft>
                <a:spcPts val="600"/>
              </a:spcAft>
              <a:buClr>
                <a:schemeClr val="tx1"/>
              </a:buClr>
            </a:pPr>
            <a:r>
              <a:rPr lang="en-US" dirty="0">
                <a:hlinkClick r:id="rId3">
                  <a:extLst>
                    <a:ext uri="{A12FA001-AC4F-418D-AE19-62706E023703}">
                      <ahyp:hlinkClr xmlns:ahyp="http://schemas.microsoft.com/office/drawing/2018/hyperlinkcolor" val="tx"/>
                    </a:ext>
                  </a:extLst>
                </a:hlinkClick>
              </a:rPr>
              <a:t>https://account.amd.com/en/member/vivado-ai-assistant-ea.html</a:t>
            </a:r>
            <a:endParaRPr lang="en-US" dirty="0"/>
          </a:p>
          <a:p>
            <a:pPr>
              <a:spcAft>
                <a:spcPts val="600"/>
              </a:spcAft>
              <a:buClr>
                <a:schemeClr val="tx1"/>
              </a:buClr>
            </a:pPr>
            <a:r>
              <a:rPr lang="en-US" dirty="0"/>
              <a:t>Follow instructions to access private forum</a:t>
            </a:r>
          </a:p>
        </p:txBody>
      </p:sp>
      <p:sp>
        <p:nvSpPr>
          <p:cNvPr id="6" name="Content Placeholder 2">
            <a:extLst>
              <a:ext uri="{FF2B5EF4-FFF2-40B4-BE49-F238E27FC236}">
                <a16:creationId xmlns:a16="http://schemas.microsoft.com/office/drawing/2014/main" id="{81F8DB91-AFD7-1E8A-0DBD-F8672EC56553}"/>
              </a:ext>
            </a:extLst>
          </p:cNvPr>
          <p:cNvSpPr txBox="1">
            <a:spLocks/>
          </p:cNvSpPr>
          <p:nvPr/>
        </p:nvSpPr>
        <p:spPr>
          <a:xfrm>
            <a:off x="1218303" y="1488330"/>
            <a:ext cx="1560582" cy="1663763"/>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ts val="600"/>
              </a:spcBef>
              <a:spcAft>
                <a:spcPts val="0"/>
              </a:spcAft>
              <a:buClr>
                <a:schemeClr val="accent1"/>
              </a:buClr>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600"/>
              </a:spcAft>
              <a:buFont typeface="Arial" panose="020B0604020202020204" pitchFamily="34" charset="0"/>
              <a:buNone/>
            </a:pPr>
            <a:r>
              <a:rPr lang="en-US" sz="13800" dirty="0">
                <a:solidFill>
                  <a:schemeClr val="accent6"/>
                </a:solidFill>
              </a:rPr>
              <a:t>1</a:t>
            </a:r>
          </a:p>
        </p:txBody>
      </p:sp>
      <p:cxnSp>
        <p:nvCxnSpPr>
          <p:cNvPr id="8" name="Straight Connector 7">
            <a:extLst>
              <a:ext uri="{FF2B5EF4-FFF2-40B4-BE49-F238E27FC236}">
                <a16:creationId xmlns:a16="http://schemas.microsoft.com/office/drawing/2014/main" id="{BFAC1C0D-4C65-27C9-A5EB-A8BBE9C37284}"/>
              </a:ext>
            </a:extLst>
          </p:cNvPr>
          <p:cNvCxnSpPr/>
          <p:nvPr/>
        </p:nvCxnSpPr>
        <p:spPr>
          <a:xfrm>
            <a:off x="1196276" y="3182257"/>
            <a:ext cx="2014133" cy="0"/>
          </a:xfrm>
          <a:prstGeom prst="line">
            <a:avLst/>
          </a:prstGeom>
          <a:ln w="57150">
            <a:solidFill>
              <a:schemeClr val="accent6"/>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35B93703-255E-99FD-EE74-6F0C38560769}"/>
              </a:ext>
            </a:extLst>
          </p:cNvPr>
          <p:cNvGrpSpPr/>
          <p:nvPr/>
        </p:nvGrpSpPr>
        <p:grpSpPr>
          <a:xfrm>
            <a:off x="1196276" y="3757919"/>
            <a:ext cx="9285636" cy="1663763"/>
            <a:chOff x="1196276" y="3294366"/>
            <a:chExt cx="9285636" cy="1663763"/>
          </a:xfrm>
        </p:grpSpPr>
        <p:sp>
          <p:nvSpPr>
            <p:cNvPr id="9" name="Rectangle 8">
              <a:extLst>
                <a:ext uri="{FF2B5EF4-FFF2-40B4-BE49-F238E27FC236}">
                  <a16:creationId xmlns:a16="http://schemas.microsoft.com/office/drawing/2014/main" id="{A1825849-9CB6-0FC1-30C6-DA28FAC0C49B}"/>
                </a:ext>
              </a:extLst>
            </p:cNvPr>
            <p:cNvSpPr/>
            <p:nvPr/>
          </p:nvSpPr>
          <p:spPr bwMode="auto">
            <a:xfrm>
              <a:off x="2551113" y="3355327"/>
              <a:ext cx="7930799" cy="1401882"/>
            </a:xfrm>
            <a:prstGeom prst="rect">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18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Content Placeholder 2">
              <a:extLst>
                <a:ext uri="{FF2B5EF4-FFF2-40B4-BE49-F238E27FC236}">
                  <a16:creationId xmlns:a16="http://schemas.microsoft.com/office/drawing/2014/main" id="{4FF13779-DC20-28BF-8862-93C8AD0B4D2E}"/>
                </a:ext>
              </a:extLst>
            </p:cNvPr>
            <p:cNvSpPr txBox="1">
              <a:spLocks/>
            </p:cNvSpPr>
            <p:nvPr/>
          </p:nvSpPr>
          <p:spPr>
            <a:xfrm>
              <a:off x="3006657" y="3611040"/>
              <a:ext cx="7340600" cy="814346"/>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ts val="600"/>
                </a:spcBef>
                <a:spcAft>
                  <a:spcPts val="0"/>
                </a:spcAft>
                <a:buClr>
                  <a:schemeClr val="accent1"/>
                </a:buClr>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600"/>
                </a:spcAft>
                <a:buFont typeface="Arial" panose="020B0604020202020204" pitchFamily="34" charset="0"/>
                <a:buNone/>
              </a:pPr>
              <a:r>
                <a:rPr lang="en-US" b="1" dirty="0">
                  <a:solidFill>
                    <a:schemeClr val="bg1"/>
                  </a:solidFill>
                </a:rPr>
                <a:t>To share your feedback use:</a:t>
              </a:r>
            </a:p>
            <a:p>
              <a:pPr>
                <a:spcAft>
                  <a:spcPts val="600"/>
                </a:spcAft>
                <a:buClr>
                  <a:schemeClr val="bg1"/>
                </a:buClr>
              </a:pPr>
              <a:r>
                <a:rPr lang="en-US" u="sng" dirty="0">
                  <a:hlinkClick r:id="rId4"/>
                </a:rPr>
                <a:t>EA Forum</a:t>
              </a:r>
              <a:r>
                <a:rPr lang="en-US" dirty="0"/>
                <a:t> </a:t>
              </a:r>
              <a:r>
                <a:rPr lang="en-US" dirty="0">
                  <a:solidFill>
                    <a:schemeClr val="bg1"/>
                  </a:solidFill>
                </a:rPr>
                <a:t>or email </a:t>
              </a:r>
              <a:r>
                <a:rPr lang="en-US" u="sng" dirty="0">
                  <a:hlinkClick r:id="rId5"/>
                </a:rPr>
                <a:t>vivado_ai_assistant@amd.com</a:t>
              </a:r>
              <a:r>
                <a:rPr lang="en-US" dirty="0"/>
                <a:t>.</a:t>
              </a:r>
              <a:br>
                <a:rPr lang="en-US" dirty="0"/>
              </a:br>
              <a:endParaRPr lang="en-US" sz="1800" dirty="0">
                <a:solidFill>
                  <a:schemeClr val="bg1"/>
                </a:solidFill>
              </a:endParaRPr>
            </a:p>
          </p:txBody>
        </p:sp>
        <p:cxnSp>
          <p:nvCxnSpPr>
            <p:cNvPr id="11" name="Straight Connector 10">
              <a:extLst>
                <a:ext uri="{FF2B5EF4-FFF2-40B4-BE49-F238E27FC236}">
                  <a16:creationId xmlns:a16="http://schemas.microsoft.com/office/drawing/2014/main" id="{EBEB043B-C000-7491-F857-180F35707D76}"/>
                </a:ext>
              </a:extLst>
            </p:cNvPr>
            <p:cNvCxnSpPr/>
            <p:nvPr/>
          </p:nvCxnSpPr>
          <p:spPr>
            <a:xfrm>
              <a:off x="1196276" y="4720596"/>
              <a:ext cx="2014133" cy="0"/>
            </a:xfrm>
            <a:prstGeom prst="line">
              <a:avLst/>
            </a:prstGeom>
            <a:ln w="57150">
              <a:solidFill>
                <a:schemeClr val="accent6">
                  <a:lumMod val="5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05A66FFA-CAD4-A9E5-4D50-1417E80077F5}"/>
                </a:ext>
              </a:extLst>
            </p:cNvPr>
            <p:cNvSpPr txBox="1">
              <a:spLocks/>
            </p:cNvSpPr>
            <p:nvPr/>
          </p:nvSpPr>
          <p:spPr>
            <a:xfrm>
              <a:off x="1311420" y="3294366"/>
              <a:ext cx="1560582" cy="1663763"/>
            </a:xfrm>
            <a:prstGeom prst="rect">
              <a:avLst/>
            </a:prstGeom>
          </p:spPr>
          <p:txBody>
            <a:bodyPr vert="horz" wrap="square" lIns="0" tIns="0" rIns="0" bIns="0" rtlCol="0">
              <a:noAutofit/>
            </a:bodyPr>
            <a:lstStyle>
              <a:lvl1pPr marL="228600" marR="0" indent="-228600" algn="l" defTabSz="932742" rtl="0" eaLnBrk="1" fontAlgn="auto" latinLnBrk="0" hangingPunct="1">
                <a:lnSpc>
                  <a:spcPct val="100000"/>
                </a:lnSpc>
                <a:spcBef>
                  <a:spcPts val="600"/>
                </a:spcBef>
                <a:spcAft>
                  <a:spcPts val="0"/>
                </a:spcAft>
                <a:buClr>
                  <a:schemeClr val="accent1"/>
                </a:buClr>
                <a:buSzPct val="9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9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Aft>
                  <a:spcPts val="600"/>
                </a:spcAft>
                <a:buFont typeface="Arial" panose="020B0604020202020204" pitchFamily="34" charset="0"/>
                <a:buNone/>
              </a:pPr>
              <a:r>
                <a:rPr lang="en-US" sz="11500" dirty="0">
                  <a:solidFill>
                    <a:schemeClr val="accent6">
                      <a:lumMod val="50000"/>
                    </a:schemeClr>
                  </a:solidFill>
                </a:rPr>
                <a:t>2</a:t>
              </a:r>
            </a:p>
          </p:txBody>
        </p:sp>
      </p:grpSp>
    </p:spTree>
    <p:extLst>
      <p:ext uri="{BB962C8B-B14F-4D97-AF65-F5344CB8AC3E}">
        <p14:creationId xmlns:p14="http://schemas.microsoft.com/office/powerpoint/2010/main" val="332895167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02DB7-2AF7-4C0A-9D56-40CDAA663B05}"/>
              </a:ext>
            </a:extLst>
          </p:cNvPr>
          <p:cNvSpPr>
            <a:spLocks noGrp="1"/>
          </p:cNvSpPr>
          <p:nvPr>
            <p:ph type="title"/>
          </p:nvPr>
        </p:nvSpPr>
        <p:spPr/>
        <p:txBody>
          <a:bodyPr/>
          <a:lstStyle/>
          <a:p>
            <a:r>
              <a:rPr lang="en-US" dirty="0"/>
              <a:t>Summary</a:t>
            </a:r>
          </a:p>
        </p:txBody>
      </p:sp>
      <p:pic>
        <p:nvPicPr>
          <p:cNvPr id="9" name="Picture 8">
            <a:extLst>
              <a:ext uri="{FF2B5EF4-FFF2-40B4-BE49-F238E27FC236}">
                <a16:creationId xmlns:a16="http://schemas.microsoft.com/office/drawing/2014/main" id="{7B3A1A01-8671-C1EB-A2AF-7E35293FDF36}"/>
              </a:ext>
            </a:extLst>
          </p:cNvPr>
          <p:cNvPicPr>
            <a:picLocks noChangeAspect="1"/>
          </p:cNvPicPr>
          <p:nvPr/>
        </p:nvPicPr>
        <p:blipFill>
          <a:blip r:embed="rId3"/>
          <a:stretch/>
        </p:blipFill>
        <p:spPr>
          <a:xfrm>
            <a:off x="1019399" y="2958625"/>
            <a:ext cx="10410602" cy="731995"/>
          </a:xfrm>
          <a:prstGeom prst="rect">
            <a:avLst/>
          </a:prstGeom>
        </p:spPr>
      </p:pic>
      <p:sp>
        <p:nvSpPr>
          <p:cNvPr id="10" name="Rectangle 9">
            <a:extLst>
              <a:ext uri="{FF2B5EF4-FFF2-40B4-BE49-F238E27FC236}">
                <a16:creationId xmlns:a16="http://schemas.microsoft.com/office/drawing/2014/main" id="{33E20D6F-C1BE-7554-65FA-0EB76874EFAD}"/>
              </a:ext>
            </a:extLst>
          </p:cNvPr>
          <p:cNvSpPr/>
          <p:nvPr/>
        </p:nvSpPr>
        <p:spPr bwMode="auto">
          <a:xfrm>
            <a:off x="657225" y="1324332"/>
            <a:ext cx="561975" cy="676657"/>
          </a:xfrm>
          <a:prstGeom prst="rect">
            <a:avLst/>
          </a:prstGeom>
          <a:solidFill>
            <a:schemeClr val="accent5"/>
          </a:solidFill>
          <a:ln>
            <a:solidFill>
              <a:schemeClr val="accent5"/>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2000" b="1" dirty="0">
                <a:gradFill>
                  <a:gsLst>
                    <a:gs pos="0">
                      <a:srgbClr val="FFFFFF"/>
                    </a:gs>
                    <a:gs pos="100000">
                      <a:srgbClr val="FFFFFF"/>
                    </a:gs>
                  </a:gsLst>
                  <a:lin ang="5400000" scaled="0"/>
                </a:gradFill>
                <a:ea typeface="Segoe UI" pitchFamily="34" charset="0"/>
                <a:cs typeface="Segoe UI" pitchFamily="34" charset="0"/>
              </a:rPr>
              <a:t>01</a:t>
            </a:r>
          </a:p>
        </p:txBody>
      </p:sp>
      <p:sp>
        <p:nvSpPr>
          <p:cNvPr id="11" name="Rectangle 10">
            <a:extLst>
              <a:ext uri="{FF2B5EF4-FFF2-40B4-BE49-F238E27FC236}">
                <a16:creationId xmlns:a16="http://schemas.microsoft.com/office/drawing/2014/main" id="{4E764DFD-4BCD-0C42-A469-C2CF287DA36C}"/>
              </a:ext>
            </a:extLst>
          </p:cNvPr>
          <p:cNvSpPr/>
          <p:nvPr/>
        </p:nvSpPr>
        <p:spPr bwMode="auto">
          <a:xfrm>
            <a:off x="1219200" y="1324332"/>
            <a:ext cx="10210800" cy="2006697"/>
          </a:xfrm>
          <a:prstGeom prst="rect">
            <a:avLst/>
          </a:prstGeom>
          <a:solidFill>
            <a:schemeClr val="bg1">
              <a:lumMod val="95000"/>
            </a:schemeClr>
          </a:solidFill>
          <a:ln>
            <a:solidFill>
              <a:srgbClr val="000000"/>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0" rIns="0" bIns="0" numCol="1" spcCol="0" rtlCol="0" fromWordArt="0" anchor="ctr" anchorCtr="0" forceAA="0" compatLnSpc="1">
            <a:prstTxWarp prst="textNoShape">
              <a:avLst/>
            </a:prstTxWarp>
            <a:noAutofit/>
          </a:bodyPr>
          <a:lstStyle/>
          <a:p>
            <a:pPr fontAlgn="t">
              <a:spcAft>
                <a:spcPts val="600"/>
              </a:spcAft>
            </a:pPr>
            <a:r>
              <a:rPr lang="en-US" sz="1600" b="1" dirty="0">
                <a:solidFill>
                  <a:schemeClr val="tx1"/>
                </a:solidFill>
                <a:latin typeface="Arial" panose="020B0604020202020204" pitchFamily="34" charset="0"/>
                <a:cs typeface="Arial" panose="020B0604020202020204" pitchFamily="34" charset="0"/>
              </a:rPr>
              <a:t>AMD </a:t>
            </a:r>
            <a:r>
              <a:rPr lang="en-US" sz="1600" b="1" dirty="0" err="1">
                <a:solidFill>
                  <a:schemeClr val="tx1"/>
                </a:solidFill>
                <a:latin typeface="Arial" panose="020B0604020202020204" pitchFamily="34" charset="0"/>
                <a:cs typeface="Arial" panose="020B0604020202020204" pitchFamily="34" charset="0"/>
              </a:rPr>
              <a:t>Vivado</a:t>
            </a:r>
            <a:r>
              <a:rPr lang="en-US" sz="1600" b="1" dirty="0">
                <a:solidFill>
                  <a:schemeClr val="tx1"/>
                </a:solidFill>
                <a:latin typeface="Arial" panose="020B0604020202020204" pitchFamily="34" charset="0"/>
                <a:cs typeface="Arial" panose="020B0604020202020204" pitchFamily="34" charset="0"/>
              </a:rPr>
              <a:t>™ AI Assistant boosts design productivity through:</a:t>
            </a:r>
          </a:p>
          <a:p>
            <a:pPr marL="285750" indent="-285750" fontAlgn="t">
              <a:spcAft>
                <a:spcPts val="6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Automated, agent-driven workflows for error detection, fixing, and validation</a:t>
            </a:r>
          </a:p>
          <a:p>
            <a:pPr marL="285750" indent="-285750" fontAlgn="t">
              <a:spcAft>
                <a:spcPts val="6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Scalable, repeatable FPGA design via Agent Skills</a:t>
            </a:r>
          </a:p>
          <a:p>
            <a:pPr marL="285750" indent="-285750" fontAlgn="t">
              <a:spcAft>
                <a:spcPts val="6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Flexible deployment (local, cloud, air-gapped)</a:t>
            </a:r>
          </a:p>
          <a:p>
            <a:pPr marL="285750" indent="-285750" fontAlgn="t">
              <a:spcAft>
                <a:spcPts val="6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Seamless integration with </a:t>
            </a:r>
            <a:r>
              <a:rPr lang="en-US" sz="1600" dirty="0" err="1">
                <a:solidFill>
                  <a:schemeClr val="tx1"/>
                </a:solidFill>
                <a:latin typeface="Arial" panose="020B0604020202020204" pitchFamily="34" charset="0"/>
                <a:cs typeface="Arial" panose="020B0604020202020204" pitchFamily="34" charset="0"/>
              </a:rPr>
              <a:t>Vivado</a:t>
            </a:r>
            <a:r>
              <a:rPr lang="en-US" sz="1600" dirty="0">
                <a:solidFill>
                  <a:schemeClr val="tx1"/>
                </a:solidFill>
                <a:latin typeface="Arial" panose="020B0604020202020204" pitchFamily="34" charset="0"/>
                <a:cs typeface="Arial" panose="020B0604020202020204" pitchFamily="34" charset="0"/>
              </a:rPr>
              <a:t> tools</a:t>
            </a:r>
          </a:p>
          <a:p>
            <a:pPr marL="285750" indent="-285750" fontAlgn="t">
              <a:spcAft>
                <a:spcPts val="600"/>
              </a:spcAft>
              <a:buFont typeface="Arial" panose="020B0604020202020204" pitchFamily="34" charset="0"/>
              <a:buChar char="•"/>
            </a:pPr>
            <a:r>
              <a:rPr lang="en-US" sz="1600" dirty="0">
                <a:solidFill>
                  <a:schemeClr val="tx1"/>
                </a:solidFill>
                <a:latin typeface="Arial" panose="020B0604020202020204" pitchFamily="34" charset="0"/>
                <a:cs typeface="Arial" panose="020B0604020202020204" pitchFamily="34" charset="0"/>
              </a:rPr>
              <a:t>Real-time, context-aware insights for faster debugging and optimization</a:t>
            </a:r>
          </a:p>
        </p:txBody>
      </p:sp>
    </p:spTree>
    <p:extLst>
      <p:ext uri="{BB962C8B-B14F-4D97-AF65-F5344CB8AC3E}">
        <p14:creationId xmlns:p14="http://schemas.microsoft.com/office/powerpoint/2010/main" val="51255937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C7648-4ED6-13D2-2D03-0AA6E5FC6A50}"/>
              </a:ext>
            </a:extLst>
          </p:cNvPr>
          <p:cNvSpPr>
            <a:spLocks noGrp="1"/>
          </p:cNvSpPr>
          <p:nvPr>
            <p:ph type="title"/>
          </p:nvPr>
        </p:nvSpPr>
        <p:spPr/>
        <p:txBody>
          <a:bodyPr/>
          <a:lstStyle/>
          <a:p>
            <a:r>
              <a:rPr lang="en-US">
                <a:cs typeface="Arial"/>
              </a:rPr>
              <a:t>Disclaimer and Attributions</a:t>
            </a:r>
            <a:endParaRPr lang="en-US"/>
          </a:p>
        </p:txBody>
      </p:sp>
      <p:sp>
        <p:nvSpPr>
          <p:cNvPr id="3" name="Text Placeholder 2">
            <a:extLst>
              <a:ext uri="{FF2B5EF4-FFF2-40B4-BE49-F238E27FC236}">
                <a16:creationId xmlns:a16="http://schemas.microsoft.com/office/drawing/2014/main" id="{9D1E77A6-1AD4-DAC6-AD9E-E08DD3D8647E}"/>
              </a:ext>
            </a:extLst>
          </p:cNvPr>
          <p:cNvSpPr>
            <a:spLocks noGrp="1"/>
          </p:cNvSpPr>
          <p:nvPr>
            <p:ph type="body" sz="quarter" idx="10"/>
          </p:nvPr>
        </p:nvSpPr>
        <p:spPr/>
        <p:txBody>
          <a:bodyPr/>
          <a:lstStyle/>
          <a:p>
            <a:pPr>
              <a:spcBef>
                <a:spcPts val="0"/>
              </a:spcBef>
            </a:pPr>
            <a:r>
              <a:rPr lang="en-US" sz="1400" dirty="0">
                <a:ea typeface="Times New Roman" panose="02020603050405020304" pitchFamily="18" charset="0"/>
                <a:cs typeface="Times New Roman" panose="02020603050405020304" pitchFamily="18" charset="0"/>
              </a:rPr>
              <a:t>The information contained herein is for informational purposes only and is subject to change without notice. While every precaution has been taken in the preparation of this document, it may contain technical inaccuracies, omissions and typographical errors, and AMD is under no obligation to update or otherwise correct this information. Advanced Micro Devices, Inc. makes no representations or warranties with respect to the accuracy or completeness of the contents of this document, and assumes no liability of any kind, including the implied warranties of noninfringement, merchantability or fitness for particular purposes, with respect to the operation or use of AMD hardware, software or other products described herein. No license, including implied or arising by estoppel, to any intellectual property rights is granted by this document. Terms and limitations applicable to the purchase or use of AMD products are as set forth in a signed agreement between the parties or in AMD's Standard Terms and Conditions of Sale. GD-18u</a:t>
            </a:r>
            <a:br>
              <a:rPr lang="en-US" sz="1400" dirty="0">
                <a:ea typeface="Times New Roman" panose="02020603050405020304" pitchFamily="18" charset="0"/>
                <a:cs typeface="Times New Roman" panose="02020603050405020304" pitchFamily="18" charset="0"/>
              </a:rPr>
            </a:br>
            <a:br>
              <a:rPr lang="en-US" sz="1400" dirty="0">
                <a:ea typeface="Times New Roman" panose="02020603050405020304" pitchFamily="18" charset="0"/>
                <a:cs typeface="Times New Roman" panose="02020603050405020304" pitchFamily="18" charset="0"/>
              </a:rPr>
            </a:br>
            <a:r>
              <a:rPr lang="en-US" sz="1400" dirty="0">
                <a:ea typeface="Times New Roman" panose="02020603050405020304" pitchFamily="18" charset="0"/>
                <a:cs typeface="Times New Roman" panose="02020603050405020304" pitchFamily="18" charset="0"/>
              </a:rPr>
              <a:t>© 2026 Advanced Micro Devices, Inc. All rights reserved. AMD, the AMD Arrow logo, Spartan, </a:t>
            </a:r>
            <a:r>
              <a:rPr lang="en-US" sz="1400" dirty="0"/>
              <a:t>UltraScale+, Versal, Vitis, Vivado,</a:t>
            </a:r>
            <a:r>
              <a:rPr lang="en-US" sz="1400" dirty="0">
                <a:ea typeface="Times New Roman" panose="02020603050405020304" pitchFamily="18" charset="0"/>
                <a:cs typeface="Times New Roman" panose="02020603050405020304" pitchFamily="18" charset="0"/>
              </a:rPr>
              <a:t> Zynq, and combinations thereof are trademarks of Advanced Micro Devices, Inc. Docker and the Docker logo are trademarks or registered trademarks of Docker, Inc. Linux is the registered trademark of Linus Torvalds in the U.S. and other countries. PCIe is a registered trademark of PCI-SIG Corporation. Windows is a registered trademark of Microsoft Corporation in the US and/or other countries. Other product names used in this publication are for identification purposes only and may be trademarks of their respective owners. Certain AMD technologies may require third-party enablement or activation. Supported features may vary by operating system. Please confirm with the system manufacturer for specific features. No technology or product can be completely secure. </a:t>
            </a:r>
            <a:endParaRPr lang="en-US" sz="1400" dirty="0">
              <a:ea typeface="Aptos" panose="020B0004020202020204" pitchFamily="34" charset="0"/>
              <a:cs typeface="Times New Roman" panose="02020603050405020304" pitchFamily="18" charset="0"/>
            </a:endParaRPr>
          </a:p>
          <a:p>
            <a:endParaRPr lang="en-US" sz="1400" dirty="0"/>
          </a:p>
        </p:txBody>
      </p:sp>
    </p:spTree>
    <p:extLst>
      <p:ext uri="{BB962C8B-B14F-4D97-AF65-F5344CB8AC3E}">
        <p14:creationId xmlns:p14="http://schemas.microsoft.com/office/powerpoint/2010/main" val="25008112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897248901"/>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err="1" smtClean="0"/>
        </a:defPPr>
      </a:lstStyle>
    </a:txDef>
  </a:objectDefaults>
  <a:extraClrSchemeLst/>
  <a:extLst>
    <a:ext uri="{05A4C25C-085E-4340-85A3-A5531E510DB2}">
      <thm15:themeFamily xmlns:thm15="http://schemas.microsoft.com/office/thememl/2012/main" name="Presentation7" id="{94DDD171-3649-784B-8DFF-0523AEB0E1C6}" vid="{59C6D40F-03E9-B54A-84C3-8AA2035591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TemplafySlideFormConfiguration><![CDATA[{"formFields":[],"formDataEntries":[]}]]></TemplafySlideFormConfiguration>
</file>

<file path=customXml/item2.xml><?xml version="1.0" encoding="utf-8"?>
<TemplafySlideTemplateConfiguration><![CDATA[{"slideVersion":1,"isValidatorEnabled":false,"isLocked":false,"elementsMetadata":[],"slideId":"637629098472095892","enableDocumentContentUpdater":true,"version":"2.0"}]]></TemplafySlideTemplateConfiguratio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36AB24958BB2594FBE2365E3FFE7E47E" ma:contentTypeVersion="18" ma:contentTypeDescription="Create a new document." ma:contentTypeScope="" ma:versionID="feed1b49632c9d801a22b709da76dbb9">
  <xsd:schema xmlns:xsd="http://www.w3.org/2001/XMLSchema" xmlns:xs="http://www.w3.org/2001/XMLSchema" xmlns:p="http://schemas.microsoft.com/office/2006/metadata/properties" xmlns:ns2="65f10eed-92af-4f01-8be5-9666ba0c38c7" xmlns:ns3="c23e47a3-fb9f-4274-9574-10107a22eccc" targetNamespace="http://schemas.microsoft.com/office/2006/metadata/properties" ma:root="true" ma:fieldsID="6a679be6a77f0db1907c3a00eeac795e" ns2:_="" ns3:_="">
    <xsd:import namespace="65f10eed-92af-4f01-8be5-9666ba0c38c7"/>
    <xsd:import namespace="c23e47a3-fb9f-4274-9574-10107a22ec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LengthInSecond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ObjectDetectorVersions" minOccurs="0"/>
                <xsd:element ref="ns3:MediaServiceLocation" minOccurs="0"/>
                <xsd:element ref="ns3:_Flow_SignoffStatus" minOccurs="0"/>
                <xsd:element ref="ns3:MediaServiceSearchProperties" minOccurs="0"/>
                <xsd:element ref="ns3:MediaServiceBillingMetadata" minOccurs="0"/>
                <xsd:element ref="ns3:Comme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f10eed-92af-4f01-8be5-9666ba0c38c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ada993dc-22eb-41e2-948f-b68d961cf7d1}" ma:internalName="TaxCatchAll" ma:showField="CatchAllData" ma:web="65f10eed-92af-4f01-8be5-9666ba0c38c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23e47a3-fb9f-4274-9574-10107a22ec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LengthInSeconds" ma:index="12" nillable="true" ma:displayName="MediaLengthInSeconds" ma:hidden="true" ma:internalName="MediaLengthInSeconds" ma:readOnly="true">
      <xsd:simpleType>
        <xsd:restriction base="dms:Unknown"/>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4acc8d3-66d8-4f7f-ac2f-7fccaf6b6ed8"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_Flow_SignoffStatus" ma:index="22" nillable="true" ma:displayName="Sign-off status" ma:internalName="Sign_x002d_off_x0020_status">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Comments" ma:index="25" nillable="true" ma:displayName="Comments" ma:format="Dropdown" ma:internalName="Comment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TemplafySlideFormConfiguration><![CDATA[{"formFields":[],"formDataEntries":[]}]]></TemplafySlideFormConfiguration>
</file>

<file path=customXml/item6.xml><?xml version="1.0" encoding="utf-8"?>
<p:properties xmlns:p="http://schemas.microsoft.com/office/2006/metadata/properties" xmlns:xsi="http://www.w3.org/2001/XMLSchema-instance" xmlns:pc="http://schemas.microsoft.com/office/infopath/2007/PartnerControls">
  <documentManagement>
    <lcf76f155ced4ddcb4097134ff3c332f xmlns="c23e47a3-fb9f-4274-9574-10107a22eccc">
      <Terms xmlns="http://schemas.microsoft.com/office/infopath/2007/PartnerControls"/>
    </lcf76f155ced4ddcb4097134ff3c332f>
    <_Flow_SignoffStatus xmlns="c23e47a3-fb9f-4274-9574-10107a22eccc" xsi:nil="true"/>
    <Comments xmlns="c23e47a3-fb9f-4274-9574-10107a22eccc" xsi:nil="true"/>
    <TaxCatchAll xmlns="65f10eed-92af-4f01-8be5-9666ba0c38c7" xsi:nil="true"/>
  </documentManagement>
</p:properties>
</file>

<file path=customXml/item7.xml><?xml version="1.0" encoding="utf-8"?>
<TemplafySlideTemplateConfiguration><![CDATA[{"slideVersion":1,"isValidatorEnabled":false,"isLocked":false,"elementsMetadata":[],"slideId":"637629098472306593","enableDocumentContentUpdater":true,"version":"2.0"}]]></TemplafySlideTemplateConfiguration>
</file>

<file path=customXml/item8.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9.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10.xml><?xml version="1.0" encoding="utf-8"?>
<TemplafySlideFormConfiguration><![CDATA[{"formFields":[],"formDataEntries":[]}]]></TemplafySlideFormConfiguration>
</file>

<file path=customXml/item11.xml><?xml version="1.0" encoding="utf-8"?>
<TemplafySlideTemplateConfiguration><![CDATA[{"slideVersion":1,"isValidatorEnabled":false,"isLocked":false,"elementsMetadata":[],"slideId":"637629098472211994","enableDocumentContentUpdater":true,"version":"2.0"}]]></TemplafySlideTemplateConfiguration>
</file>

<file path=customXml/itemProps1.xml><?xml version="1.0" encoding="utf-8"?>
<ds:datastoreItem xmlns:ds="http://schemas.openxmlformats.org/officeDocument/2006/customXml" ds:itemID="{3F8E02AC-FDB5-4D5E-86CE-40FD3E2ACE94}">
  <ds:schemaRefs/>
</ds:datastoreItem>
</file>

<file path=customXml/itemProps2.xml><?xml version="1.0" encoding="utf-8"?>
<ds:datastoreItem xmlns:ds="http://schemas.openxmlformats.org/officeDocument/2006/customXml" ds:itemID="{F91A0867-35A7-4CBF-94F6-D7FB298BEB8C}">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4.xml><?xml version="1.0" encoding="utf-8"?>
<ds:datastoreItem xmlns:ds="http://schemas.openxmlformats.org/officeDocument/2006/customXml" ds:itemID="{6E5A0386-9FFA-44CD-913F-8FDFD3B53E5D}">
  <ds:schemaRefs>
    <ds:schemaRef ds:uri="65f10eed-92af-4f01-8be5-9666ba0c38c7"/>
    <ds:schemaRef ds:uri="c23e47a3-fb9f-4274-9574-10107a22ecc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5.xml><?xml version="1.0" encoding="utf-8"?>
<ds:datastoreItem xmlns:ds="http://schemas.openxmlformats.org/officeDocument/2006/customXml" ds:itemID="{009FB66F-7FA3-454F-BDF2-BE625C6C074B}">
  <ds:schemaRefs/>
</ds:datastoreItem>
</file>

<file path=customXml/itemProps6.xml><?xml version="1.0" encoding="utf-8"?>
<ds:datastoreItem xmlns:ds="http://schemas.openxmlformats.org/officeDocument/2006/customXml" ds:itemID="{F990F116-B58F-4255-B05B-DA3808E0E5C6}">
  <ds:schemaRefs>
    <ds:schemaRef ds:uri="http://purl.org/dc/elements/1.1/"/>
    <ds:schemaRef ds:uri="c23e47a3-fb9f-4274-9574-10107a22eccc"/>
    <ds:schemaRef ds:uri="http://schemas.openxmlformats.org/package/2006/metadata/core-properties"/>
    <ds:schemaRef ds:uri="http://schemas.microsoft.com/office/2006/documentManagement/types"/>
    <ds:schemaRef ds:uri="http://purl.org/dc/dcmitype/"/>
    <ds:schemaRef ds:uri="http://schemas.microsoft.com/office/2006/metadata/properties"/>
    <ds:schemaRef ds:uri="65f10eed-92af-4f01-8be5-9666ba0c38c7"/>
    <ds:schemaRef ds:uri="http://purl.org/dc/terms/"/>
    <ds:schemaRef ds:uri="http://schemas.microsoft.com/office/infopath/2007/PartnerControls"/>
    <ds:schemaRef ds:uri="http://www.w3.org/XML/1998/namespace"/>
  </ds:schemaRefs>
</ds:datastoreItem>
</file>

<file path=customXml/itemProps7.xml><?xml version="1.0" encoding="utf-8"?>
<ds:datastoreItem xmlns:ds="http://schemas.openxmlformats.org/officeDocument/2006/customXml" ds:itemID="{78C916E8-212D-4866-B8ED-29D7FE89AEE7}">
  <ds:schemaRefs/>
</ds:datastoreItem>
</file>

<file path=customXml/itemProps8.xml><?xml version="1.0" encoding="utf-8"?>
<ds:datastoreItem xmlns:ds="http://schemas.openxmlformats.org/officeDocument/2006/customXml" ds:itemID="{43BC5722-1D5B-4915-8247-E6D5F513E549}">
  <ds:schemaRefs/>
</ds:datastoreItem>
</file>

<file path=customXml/itemProps9.xml><?xml version="1.0" encoding="utf-8"?>
<ds:datastoreItem xmlns:ds="http://schemas.openxmlformats.org/officeDocument/2006/customXml" ds:itemID="{6291F803-2EF0-4E47-96D6-4796950CE6BD}">
  <ds:schemaRefs/>
</ds:datastoreItem>
</file>

<file path=customXml/itemProps10.xml><?xml version="1.0" encoding="utf-8"?>
<ds:datastoreItem xmlns:ds="http://schemas.openxmlformats.org/officeDocument/2006/customXml" ds:itemID="{8F397F8F-7EDC-994F-A696-92B6C094C93E}">
  <ds:schemaRefs/>
</ds:datastoreItem>
</file>

<file path=customXml/itemProps11.xml><?xml version="1.0" encoding="utf-8"?>
<ds:datastoreItem xmlns:ds="http://schemas.openxmlformats.org/officeDocument/2006/customXml" ds:itemID="{58020A67-392C-5041-AE76-684CB4F51378}">
  <ds:schemaRefs/>
</ds:datastoreItem>
</file>

<file path=docMetadata/LabelInfo.xml><?xml version="1.0" encoding="utf-8"?>
<clbl:labelList xmlns:clbl="http://schemas.microsoft.com/office/2020/mipLabelMetadata">
  <clbl:label id="{2d0b1989-8fc8-4a69-bcac-d46889461ba5}"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
  <TotalTime>521</TotalTime>
  <Words>3850</Words>
  <Application>Microsoft Office PowerPoint</Application>
  <PresentationFormat>Widescreen</PresentationFormat>
  <Paragraphs>336</Paragraphs>
  <Slides>17</Slides>
  <Notes>17</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5" baseType="lpstr">
      <vt:lpstr>Aptos</vt:lpstr>
      <vt:lpstr>Arial</vt:lpstr>
      <vt:lpstr>Arial Bold</vt:lpstr>
      <vt:lpstr>Consolas</vt:lpstr>
      <vt:lpstr>Segoe UI</vt:lpstr>
      <vt:lpstr>Times New Roman</vt:lpstr>
      <vt:lpstr>AMD Corporate Template_Dark</vt:lpstr>
      <vt:lpstr>think-cell Slide</vt:lpstr>
      <vt:lpstr>Agentic AI Workflows for Advanced Adaptive SoC Design</vt:lpstr>
      <vt:lpstr>Agenda</vt:lpstr>
      <vt:lpstr>Agenda</vt:lpstr>
      <vt:lpstr>Closed-Loop Value: From Error to Resolution</vt:lpstr>
      <vt:lpstr>AMD Vivado MCP: Drives Vivado IDE in Batch or GUI Mode</vt:lpstr>
      <vt:lpstr>Leveraging Agent Skills to Create Reliable Vivado IDE Workflow</vt:lpstr>
      <vt:lpstr>AMD Vivado IDE Agent Skills—Continued Support</vt:lpstr>
      <vt:lpstr>Agenda</vt:lpstr>
      <vt:lpstr>Recognizing the Importance of Reducing OPEX</vt:lpstr>
      <vt:lpstr>Setting Expectations: Local LLM vs. Frontier Models</vt:lpstr>
      <vt:lpstr>AMD Vivado Design Suite Extension for VS Code Vivado™ Tool Experience Inside Your IDE</vt:lpstr>
      <vt:lpstr>A One-Stop Shop for AMD Vivado IDE Queries</vt:lpstr>
      <vt:lpstr>Get Started Today</vt:lpstr>
      <vt:lpstr>Next Steps and Additional Resources</vt:lpstr>
      <vt:lpstr>Summary</vt:lpstr>
      <vt:lpstr>Disclaimer and Attributions</vt:lpstr>
      <vt:lpstr>PowerPoint Presentation</vt:lpstr>
    </vt:vector>
  </TitlesOfParts>
  <Manager>&lt;Comms manager name here&gt;</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AMD Corporate Powerpoint Template</dc:subject>
  <dc:creator>Federico Gasquet</dc:creator>
  <cp:keywords>AMD Corporate Powerpoint Template</cp:keywords>
  <dc:description/>
  <cp:lastModifiedBy>Pasha, Sabia</cp:lastModifiedBy>
  <cp:revision>15</cp:revision>
  <cp:lastPrinted>2020-04-30T18:59:47Z</cp:lastPrinted>
  <dcterms:created xsi:type="dcterms:W3CDTF">2021-04-19T14:31:00Z</dcterms:created>
  <dcterms:modified xsi:type="dcterms:W3CDTF">2026-06-26T12:03:26Z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2021-07-26T15:24:07</vt:lpwstr>
  </property>
  <property fmtid="{D5CDD505-2E9C-101B-9397-08002B2CF9AE}" pid="6" name="MSIP_Label_4342314e-0df4-4b58-84bf-38bed6170a0f_Enabled">
    <vt:lpwstr>true</vt:lpwstr>
  </property>
  <property fmtid="{D5CDD505-2E9C-101B-9397-08002B2CF9AE}" pid="7" name="MSIP_Label_4342314e-0df4-4b58-84bf-38bed6170a0f_SetDate">
    <vt:lpwstr>2024-04-03T19:29:53Z</vt:lpwstr>
  </property>
  <property fmtid="{D5CDD505-2E9C-101B-9397-08002B2CF9AE}" pid="8" name="MSIP_Label_4342314e-0df4-4b58-84bf-38bed6170a0f_Method">
    <vt:lpwstr>Standard</vt:lpwstr>
  </property>
  <property fmtid="{D5CDD505-2E9C-101B-9397-08002B2CF9AE}" pid="9" name="MSIP_Label_4342314e-0df4-4b58-84bf-38bed6170a0f_Name">
    <vt:lpwstr>General</vt:lpwstr>
  </property>
  <property fmtid="{D5CDD505-2E9C-101B-9397-08002B2CF9AE}" pid="10" name="MSIP_Label_4342314e-0df4-4b58-84bf-38bed6170a0f_SiteId">
    <vt:lpwstr>3dd8961f-e488-4e60-8e11-a82d994e183d</vt:lpwstr>
  </property>
  <property fmtid="{D5CDD505-2E9C-101B-9397-08002B2CF9AE}" pid="11" name="MSIP_Label_4342314e-0df4-4b58-84bf-38bed6170a0f_ActionId">
    <vt:lpwstr>35a70717-8365-47db-b5e1-414ae0f16de3</vt:lpwstr>
  </property>
  <property fmtid="{D5CDD505-2E9C-101B-9397-08002B2CF9AE}" pid="12" name="MSIP_Label_4342314e-0df4-4b58-84bf-38bed6170a0f_ContentBits">
    <vt:lpwstr>1</vt:lpwstr>
  </property>
  <property fmtid="{D5CDD505-2E9C-101B-9397-08002B2CF9AE}" pid="13" name="MediaServiceImageTags">
    <vt:lpwstr/>
  </property>
  <property fmtid="{D5CDD505-2E9C-101B-9397-08002B2CF9AE}" pid="14" name="ContentTypeId">
    <vt:lpwstr>0x01010036AB24958BB2594FBE2365E3FFE7E47E</vt:lpwstr>
  </property>
  <property fmtid="{D5CDD505-2E9C-101B-9397-08002B2CF9AE}" pid="15" name="ClassificationContentMarkingHeaderLocations">
    <vt:lpwstr>AMD Corporate Template_Dark:6</vt:lpwstr>
  </property>
  <property fmtid="{D5CDD505-2E9C-101B-9397-08002B2CF9AE}" pid="16" name="ClassificationContentMarkingHeaderText">
    <vt:lpwstr>Public</vt:lpwstr>
  </property>
</Properties>
</file>